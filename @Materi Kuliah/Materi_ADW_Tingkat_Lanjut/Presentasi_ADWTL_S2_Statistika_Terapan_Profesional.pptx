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679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adwtl_illustration.png"/>
          <p:cNvPicPr>
            <a:picLocks noChangeAspect="1"/>
          </p:cNvPicPr>
          <p:nvPr/>
        </p:nvPicPr>
        <p:blipFill>
          <a:blip r:embed="rId3">
            <a:alphaModFix amt="97000"/>
          </a:blip>
          <a:stretch>
            <a:fillRect/>
          </a:stretch>
        </p:blipFill>
        <p:spPr>
          <a:xfrm>
            <a:off x="7635240" y="1188720"/>
            <a:ext cx="4206240" cy="1572768"/>
          </a:xfrm>
          <a:prstGeom prst="rect">
            <a:avLst/>
          </a:prstGeom>
        </p:spPr>
      </p:pic>
      <p:pic>
        <p:nvPicPr>
          <p:cNvPr id="5" name="Image 1" descr="/mnt/data/unpad_logo_adwt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676656"/>
            <a:ext cx="713232" cy="7132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81328" y="850392"/>
            <a:ext cx="5623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58368" y="1828800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Analisis Deret Waktu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Tingkat Lanjut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704088" y="3337560"/>
            <a:ext cx="6675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pembelajaran profesional berbasis materi R Markdown HTML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04088" y="3822192"/>
            <a:ext cx="313639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13232" y="4736592"/>
            <a:ext cx="768096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Penulis materi: Dr. Gumgum Darmawan, M.Si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Dosen pengampu: Dr. Gumgum Darmawan, M.Si &amp; Prof. Dr. Budi Nurani Ruchjana, M.S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Januari 2025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887968" y="4663440"/>
            <a:ext cx="1143000" cy="292608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942832" y="4732020"/>
            <a:ext cx="103327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Series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10195560" y="4663440"/>
            <a:ext cx="1143000" cy="292608"/>
          </a:xfrm>
          <a:prstGeom prst="round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0250424" y="4732020"/>
            <a:ext cx="103327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11064240" y="6355080"/>
            <a:ext cx="548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Posisi Mata Kuliah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Orientasi kemampuan: dari pola temporal hingga solusi multivariat dan spasial-temporal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02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21792" y="1965960"/>
            <a:ext cx="5212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Mata kuliah ini membangun kemampuan analisis deret waktu tingkat lanjut secara bertahap.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" y="2651760"/>
            <a:ext cx="521208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Mengidentifikasi pola temporal, tren, musiman, siklus, dan noise.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Mengevaluasi model klasik dan lanjutan: ARIMA, ARFIMA, SSA, spektral.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Mengintegrasikan machine learning, neural network, VAR, transfer function, dan GSTAR.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Menghasilkan analisis yang reproducible dan dapat dipresentasikan secara ilmiah.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537960" y="1965960"/>
            <a:ext cx="4526280" cy="292608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1228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Aplikasi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12280" y="2788920"/>
            <a:ext cx="1664208" cy="292608"/>
          </a:xfrm>
          <a:prstGeom prst="roundRect">
            <a:avLst/>
          </a:prstGeom>
          <a:solidFill>
            <a:srgbClr val="2364AA"/>
          </a:solidFill>
          <a:ln w="12700">
            <a:solidFill>
              <a:srgbClr val="236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67144" y="2857500"/>
            <a:ext cx="1554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Bisnis &amp; industri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8778240" y="2788920"/>
            <a:ext cx="1664208" cy="292608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833104" y="2857500"/>
            <a:ext cx="1554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Sosial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6812280" y="3410712"/>
            <a:ext cx="1664208" cy="292608"/>
          </a:xfrm>
          <a:prstGeom prst="round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67144" y="3479292"/>
            <a:ext cx="1554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Aktuaria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8778240" y="3410712"/>
            <a:ext cx="1664208" cy="292608"/>
          </a:xfrm>
          <a:prstGeom prst="roundRect">
            <a:avLst/>
          </a:prstGeom>
          <a:solidFill>
            <a:srgbClr val="006B3F"/>
          </a:solidFill>
          <a:ln w="12700">
            <a:solidFill>
              <a:srgbClr val="006B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833104" y="3479292"/>
            <a:ext cx="1554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Biostatistik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6812280" y="4032504"/>
            <a:ext cx="1664208" cy="292608"/>
          </a:xfrm>
          <a:prstGeom prst="roundRect">
            <a:avLst/>
          </a:prstGeom>
          <a:solidFill>
            <a:srgbClr val="C8452D"/>
          </a:solidFill>
          <a:ln w="12700">
            <a:solidFill>
              <a:srgbClr val="C84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67144" y="4101084"/>
            <a:ext cx="1554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Sains data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8778240" y="4032504"/>
            <a:ext cx="1664208" cy="292608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833104" y="4101084"/>
            <a:ext cx="1554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Interdisipliner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Storyline 16 Pertemuan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kompetensi dari eksplorasi menuju keputusan berbasis model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1097280" y="3182112"/>
            <a:ext cx="9144000" cy="0"/>
          </a:xfrm>
          <a:prstGeom prst="line">
            <a:avLst/>
          </a:prstGeom>
          <a:noFill/>
          <a:ln w="38100">
            <a:solidFill>
              <a:srgbClr val="B7C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2423160"/>
            <a:ext cx="1005840" cy="1005840"/>
          </a:xfrm>
          <a:prstGeom prst="ellipse">
            <a:avLst/>
          </a:prstGeom>
          <a:solidFill>
            <a:srgbClr val="2364AA"/>
          </a:solidFill>
          <a:ln w="127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1208" y="3703320"/>
            <a:ext cx="1325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Fondasi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423160" y="2423160"/>
            <a:ext cx="1005840" cy="10058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1460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5–7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258568" y="3703320"/>
            <a:ext cx="1325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Klasik-Lanjut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60520" y="2423160"/>
            <a:ext cx="1005840" cy="1005840"/>
          </a:xfrm>
          <a:prstGeom prst="ellipse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5196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995928" y="3703320"/>
            <a:ext cx="1325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97880" y="2423160"/>
            <a:ext cx="1005840" cy="100584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8932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733288" y="3703320"/>
            <a:ext cx="1325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Kasus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635240" y="2423160"/>
            <a:ext cx="1005840" cy="1005840"/>
          </a:xfrm>
          <a:prstGeom prst="ellipse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72668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70648" y="3703320"/>
            <a:ext cx="1325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372600" y="2423160"/>
            <a:ext cx="1005840" cy="100584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46404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13–16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208008" y="3703320"/>
            <a:ext cx="1325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Multivariat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Final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4919472"/>
            <a:ext cx="10424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Logika pedagogik: mahasiswa belajar membaca struktur data → memilih model → melakukan validasi temporal → menerjemahkan hasil menjadi rekomendasi.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Capaian Pembelajaran Mata Kuliah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Lima CPMK sebagai tulang punggung evaluasi kemampuan analitis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04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804672" y="1965960"/>
            <a:ext cx="502920" cy="502920"/>
          </a:xfrm>
          <a:prstGeom prst="ellipse">
            <a:avLst/>
          </a:prstGeom>
          <a:solidFill>
            <a:srgbClr val="2364AA"/>
          </a:solidFill>
          <a:ln w="127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463040" y="2029968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CPMK1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42032" y="2011680"/>
            <a:ext cx="7178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karakteristik dan pola deret waktu secara kritis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4672" y="271576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463040" y="2779776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CPMK2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42032" y="2761488"/>
            <a:ext cx="7178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keunggulan dan keterbatasan model klasik-lanjut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04672" y="3465576"/>
            <a:ext cx="502920" cy="502920"/>
          </a:xfrm>
          <a:prstGeom prst="ellipse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463040" y="3529584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CPMK3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542032" y="3511296"/>
            <a:ext cx="7178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Perancangan pengumpulan dan pengelolaan data efisien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04672" y="4215384"/>
            <a:ext cx="502920" cy="50292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463040" y="4279392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CPMK4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542032" y="4261104"/>
            <a:ext cx="7178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Pengembangan model ML dan neural network untuk deret waktu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04672" y="4965192"/>
            <a:ext cx="502920" cy="502920"/>
          </a:xfrm>
          <a:prstGeom prst="ellipse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463040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CPMK5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542032" y="5010912"/>
            <a:ext cx="7178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Solusi inovatif multivariat dan spasial-temporal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829800" y="1975104"/>
            <a:ext cx="1325880" cy="352044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076688" y="2267712"/>
            <a:ext cx="868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003536" y="2852928"/>
            <a:ext cx="987552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Laporan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ilmiah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presentasi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Analisis Deret Waktu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pertanyaan substantif sampai model yang dapat dipertanggungjawabkan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05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1536192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49808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808" y="3227832"/>
            <a:ext cx="131673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Definisi masalah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2157984" y="3310128"/>
            <a:ext cx="146304" cy="0"/>
          </a:xfrm>
          <a:prstGeom prst="line">
            <a:avLst/>
          </a:prstGeom>
          <a:noFill/>
          <a:ln w="15240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267712" y="2788920"/>
            <a:ext cx="1536192" cy="10515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37744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377440" y="3227832"/>
            <a:ext cx="131673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data temporal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3785616" y="3310128"/>
            <a:ext cx="146304" cy="0"/>
          </a:xfrm>
          <a:prstGeom prst="line">
            <a:avLst/>
          </a:prstGeom>
          <a:noFill/>
          <a:ln w="15240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895344" y="2788920"/>
            <a:ext cx="1536192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005072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005072" y="3227832"/>
            <a:ext cx="131673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Eksplorasi &amp; dekomposisi</a:t>
            </a:r>
            <a:endParaRPr lang="en-US" sz="1160" dirty="0"/>
          </a:p>
        </p:txBody>
      </p:sp>
      <p:sp>
        <p:nvSpPr>
          <p:cNvPr id="22" name="Shape 19"/>
          <p:cNvSpPr/>
          <p:nvPr/>
        </p:nvSpPr>
        <p:spPr>
          <a:xfrm>
            <a:off x="5413248" y="3310128"/>
            <a:ext cx="146304" cy="0"/>
          </a:xfrm>
          <a:prstGeom prst="line">
            <a:avLst/>
          </a:prstGeom>
          <a:noFill/>
          <a:ln w="15240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522976" y="2788920"/>
            <a:ext cx="1536192" cy="10515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632704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632704" y="3227832"/>
            <a:ext cx="131673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Uji stasioneritas</a:t>
            </a:r>
            <a:endParaRPr lang="en-US" sz="1160" dirty="0"/>
          </a:p>
        </p:txBody>
      </p:sp>
      <p:sp>
        <p:nvSpPr>
          <p:cNvPr id="26" name="Shape 23"/>
          <p:cNvSpPr/>
          <p:nvPr/>
        </p:nvSpPr>
        <p:spPr>
          <a:xfrm>
            <a:off x="7040880" y="3310128"/>
            <a:ext cx="146304" cy="0"/>
          </a:xfrm>
          <a:prstGeom prst="line">
            <a:avLst/>
          </a:prstGeom>
          <a:noFill/>
          <a:ln w="15240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150608" y="2788920"/>
            <a:ext cx="1536192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60336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260336" y="3227832"/>
            <a:ext cx="131673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Pemodelan kandidat</a:t>
            </a:r>
            <a:endParaRPr lang="en-US" sz="1160" dirty="0"/>
          </a:p>
        </p:txBody>
      </p:sp>
      <p:sp>
        <p:nvSpPr>
          <p:cNvPr id="30" name="Shape 27"/>
          <p:cNvSpPr/>
          <p:nvPr/>
        </p:nvSpPr>
        <p:spPr>
          <a:xfrm>
            <a:off x="8668512" y="3310128"/>
            <a:ext cx="146304" cy="0"/>
          </a:xfrm>
          <a:prstGeom prst="line">
            <a:avLst/>
          </a:prstGeom>
          <a:noFill/>
          <a:ln w="15240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778240" y="2788920"/>
            <a:ext cx="1536192" cy="10515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887968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887968" y="3227832"/>
            <a:ext cx="131673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temporal</a:t>
            </a:r>
            <a:endParaRPr lang="en-US" sz="1160" dirty="0"/>
          </a:p>
        </p:txBody>
      </p:sp>
      <p:sp>
        <p:nvSpPr>
          <p:cNvPr id="34" name="Shape 31"/>
          <p:cNvSpPr/>
          <p:nvPr/>
        </p:nvSpPr>
        <p:spPr>
          <a:xfrm>
            <a:off x="10296144" y="3310128"/>
            <a:ext cx="146304" cy="0"/>
          </a:xfrm>
          <a:prstGeom prst="line">
            <a:avLst/>
          </a:prstGeom>
          <a:noFill/>
          <a:ln w="15240">
            <a:solidFill>
              <a:srgbClr val="536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405872" y="2788920"/>
            <a:ext cx="1536192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051560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0515600" y="3227832"/>
            <a:ext cx="131673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&amp; rekomendasi</a:t>
            </a:r>
            <a:endParaRPr lang="en-US" sz="1160" dirty="0"/>
          </a:p>
        </p:txBody>
      </p:sp>
      <p:sp>
        <p:nvSpPr>
          <p:cNvPr id="38" name="Shape 35"/>
          <p:cNvSpPr/>
          <p:nvPr/>
        </p:nvSpPr>
        <p:spPr>
          <a:xfrm>
            <a:off x="1188720" y="4800600"/>
            <a:ext cx="9784080" cy="68580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325880" y="4937760"/>
            <a:ext cx="950976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Prinsip kunci: urutan waktu bukan label administratif, tetapi bagian dari struktur data.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400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1–4 | SubCPMK1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377440"/>
            <a:ext cx="87782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Fondasi Deret Waktu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611880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Fondasi: Membaca Struktur Temporal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Komponen, stasioneritas, dekomposisi, long memory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07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31520" y="2057400"/>
            <a:ext cx="585216" cy="585216"/>
          </a:xfrm>
          <a:prstGeom prst="ellipse">
            <a:avLst/>
          </a:prstGeom>
          <a:solidFill>
            <a:srgbClr val="2364AA"/>
          </a:solidFill>
          <a:ln w="127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05256" y="2212848"/>
            <a:ext cx="2560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0876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Pengantar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508760" y="2441448"/>
            <a:ext cx="43891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Indeks waktu, frekuensi observasi, perbedaan cross-section, panel, dan time series.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6080760" y="2057400"/>
            <a:ext cx="585216" cy="58521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54496" y="2212848"/>
            <a:ext cx="2560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Stasioneritas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858000" y="2441448"/>
            <a:ext cx="43891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ADF, KPSS, transformasi log/Box-Cox, differencing, ACF/PACF.</a:t>
            </a:r>
            <a:endParaRPr lang="en-US" sz="1270" dirty="0"/>
          </a:p>
        </p:txBody>
      </p:sp>
      <p:sp>
        <p:nvSpPr>
          <p:cNvPr id="19" name="Shape 16"/>
          <p:cNvSpPr/>
          <p:nvPr/>
        </p:nvSpPr>
        <p:spPr>
          <a:xfrm>
            <a:off x="731520" y="3566160"/>
            <a:ext cx="585216" cy="58521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5256" y="3721608"/>
            <a:ext cx="2560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0876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Dekomposisi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508760" y="3950208"/>
            <a:ext cx="43891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Tren, musiman, siklus, noise; dekomposisi klasik, STL, smoother.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6080760" y="3566160"/>
            <a:ext cx="585216" cy="585216"/>
          </a:xfrm>
          <a:prstGeom prst="ellipse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54496" y="3721608"/>
            <a:ext cx="25603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memory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858000" y="3950208"/>
            <a:ext cx="43891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Peluruhan lambat ACF, fractional dependence, Hurst exponent, ARFIMA.</a:t>
            </a:r>
            <a:endParaRPr lang="en-US" sz="1270" dirty="0"/>
          </a:p>
        </p:txBody>
      </p:sp>
      <p:sp>
        <p:nvSpPr>
          <p:cNvPr id="27" name="Shape 24"/>
          <p:cNvSpPr/>
          <p:nvPr/>
        </p:nvSpPr>
        <p:spPr>
          <a:xfrm>
            <a:off x="3383280" y="5321808"/>
            <a:ext cx="5394960" cy="512064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520440" y="5458968"/>
            <a:ext cx="5120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y_t = T_t + S_t + C_t + e_t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99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400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5–7 | SubCPMK2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377440"/>
            <a:ext cx="87782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Klasik &amp; Lanjutan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611880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Klasik–Lanjut: Dari ARIMA ke Spektral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pada identifikasi, estimasi, diagnostik, dan interpretasi performa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09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960120" y="1984248"/>
            <a:ext cx="1920240" cy="502920"/>
          </a:xfrm>
          <a:prstGeom prst="roundRect">
            <a:avLst/>
          </a:prstGeom>
          <a:solidFill>
            <a:srgbClr val="2364A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210312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ARIMA/SARIMA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246120" y="2039112"/>
            <a:ext cx="6949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ACF/PACF, likelihood, residual diagnostic, forecasting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1920240" y="2514600"/>
            <a:ext cx="0" cy="256032"/>
          </a:xfrm>
          <a:prstGeom prst="line">
            <a:avLst/>
          </a:prstGeom>
          <a:noFill/>
          <a:ln w="17780">
            <a:solidFill>
              <a:srgbClr val="B7C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60120" y="2825496"/>
            <a:ext cx="1920240" cy="502920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97280" y="2944368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ARFIMA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246120" y="2880360"/>
            <a:ext cx="6949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Fractional differencing, persistensi jangka panjang, Whittle likelihood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1920240" y="3355848"/>
            <a:ext cx="0" cy="256032"/>
          </a:xfrm>
          <a:prstGeom prst="line">
            <a:avLst/>
          </a:prstGeom>
          <a:noFill/>
          <a:ln w="17780">
            <a:solidFill>
              <a:srgbClr val="B7C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60120" y="3666744"/>
            <a:ext cx="1920240" cy="502920"/>
          </a:xfrm>
          <a:prstGeom prst="round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97280" y="3785616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246120" y="3721608"/>
            <a:ext cx="6949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Embedding, SVD, grouping, reconstruction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1920240" y="4197096"/>
            <a:ext cx="0" cy="256032"/>
          </a:xfrm>
          <a:prstGeom prst="line">
            <a:avLst/>
          </a:prstGeom>
          <a:noFill/>
          <a:ln w="17780">
            <a:solidFill>
              <a:srgbClr val="B7C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60120" y="4507992"/>
            <a:ext cx="1920240" cy="502920"/>
          </a:xfrm>
          <a:prstGeom prst="roundRect">
            <a:avLst/>
          </a:prstGeom>
          <a:solidFill>
            <a:srgbClr val="00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9728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Spektral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246120" y="4562856"/>
            <a:ext cx="6949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Periodogram, spectral density, frekuensi dominan</a:t>
            </a:r>
            <a:endParaRPr lang="en-US" sz="1320" dirty="0"/>
          </a:p>
        </p:txBody>
      </p:sp>
      <p:sp>
        <p:nvSpPr>
          <p:cNvPr id="26" name="Shape 23"/>
          <p:cNvSpPr/>
          <p:nvPr/>
        </p:nvSpPr>
        <p:spPr>
          <a:xfrm>
            <a:off x="2011680" y="5486400"/>
            <a:ext cx="8138160" cy="50292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148840" y="5623560"/>
            <a:ext cx="78638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ARFIMA: φ(B)(1−B)^d y_t = θ(B)ε_t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Pertemuan 9: UTS Berbasis Kasus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Integrasi SubCPMK1–3 melalui diagnosis data dan argumentasi model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7772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evaluasi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2487168"/>
            <a:ext cx="429768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Eksplorasi data deret waktu nyata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stasioneritas dan pola musiman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Pemilihan model berbasis karakteristik data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hasil dan keterbatasan model</a:t>
            </a:r>
            <a:endParaRPr lang="en-US" sz="1330" dirty="0"/>
          </a:p>
        </p:txBody>
      </p:sp>
      <p:sp>
        <p:nvSpPr>
          <p:cNvPr id="13" name="Shape 10"/>
          <p:cNvSpPr/>
          <p:nvPr/>
        </p:nvSpPr>
        <p:spPr>
          <a:xfrm>
            <a:off x="5897880" y="1901952"/>
            <a:ext cx="4572000" cy="24688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9D4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7220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Rubrik inti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17920" y="2606040"/>
            <a:ext cx="374904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Kejelasan masalah dan data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Ketepatan metode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residual dan validasi temporal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substantif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</a:t>
            </a:r>
            <a:endParaRPr lang="en-US" sz="1270" dirty="0"/>
          </a:p>
        </p:txBody>
      </p:sp>
      <p:sp>
        <p:nvSpPr>
          <p:cNvPr id="16" name="Shape 13"/>
          <p:cNvSpPr/>
          <p:nvPr/>
        </p:nvSpPr>
        <p:spPr>
          <a:xfrm>
            <a:off x="1188720" y="5138928"/>
            <a:ext cx="9784080" cy="68580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25880" y="5276088"/>
            <a:ext cx="950976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Jawaban kuat = asumsi jelas + diagnostik lengkap + rekomendasi tidak berlebihan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8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400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10–12 | SubCPMK4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377440"/>
            <a:ext cx="87782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III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&amp; Neural Network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611880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ML/NN untuk Peramalan Deret Waktu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Kekuatan prediktif harus dikontrol dengan validasi temporal yang benar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12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77240" y="2057400"/>
            <a:ext cx="3154680" cy="212140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78408" y="2304288"/>
            <a:ext cx="502920" cy="502920"/>
          </a:xfrm>
          <a:prstGeom prst="ellipse">
            <a:avLst/>
          </a:prstGeom>
          <a:solidFill>
            <a:srgbClr val="2364AA"/>
          </a:solidFill>
          <a:ln w="127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618488" y="2313432"/>
            <a:ext cx="2103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2907792"/>
            <a:ext cx="2542032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features, rolling statistics, calendar effects, feature importance, risiko leakage.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26280" y="2057400"/>
            <a:ext cx="3154680" cy="2121408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27448" y="2304288"/>
            <a:ext cx="502920" cy="50292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67528" y="2313432"/>
            <a:ext cx="2103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46320" y="2907792"/>
            <a:ext cx="2542032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Boosting, objective function, regularisasi, hyperparameter tuning, time series CV.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75320" y="2057400"/>
            <a:ext cx="3154680" cy="212140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476488" y="2304288"/>
            <a:ext cx="502920" cy="502920"/>
          </a:xfrm>
          <a:prstGeom prst="ellipse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16568" y="2313432"/>
            <a:ext cx="2103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&amp; LSTM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95360" y="2907792"/>
            <a:ext cx="2542032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Windowing, scaling, sequence learning, early stopping, evaluasi deep learning.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188720" y="4937760"/>
            <a:ext cx="9692640" cy="0"/>
          </a:xfrm>
          <a:prstGeom prst="line">
            <a:avLst/>
          </a:prstGeom>
          <a:noFill/>
          <a:ln w="1524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88720" y="5257800"/>
            <a:ext cx="96926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Peringatan metodologis: validasi acak biasa dapat menciptakan informasi bocor. Gunakan train-test temporal, rolling origin, atau walk-forward 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400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13–16 | SubCPMK5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377440"/>
            <a:ext cx="87782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IV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Multivariat &amp; Spasial-Temporal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611880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Multivariat dan Spasial-Temporal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Menghubungkan variabel, wilayah, dan waktu dalam satu kerangka analitis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14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914400" y="2121408"/>
            <a:ext cx="3017520" cy="187452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43000" y="2377440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07008" y="2898648"/>
            <a:ext cx="242316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Granger causality, IRF, FEVD, stabilitas</a:t>
            </a:r>
            <a:endParaRPr lang="en-US" sz="1270" dirty="0"/>
          </a:p>
        </p:txBody>
      </p:sp>
      <p:sp>
        <p:nvSpPr>
          <p:cNvPr id="14" name="Shape 11"/>
          <p:cNvSpPr/>
          <p:nvPr/>
        </p:nvSpPr>
        <p:spPr>
          <a:xfrm>
            <a:off x="4572000" y="2121408"/>
            <a:ext cx="3017520" cy="18745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00600" y="2377440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Function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64608" y="2898648"/>
            <a:ext cx="242316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Input-output temporal, prewhitening, distributed lag</a:t>
            </a:r>
            <a:endParaRPr lang="en-US" sz="1270" dirty="0"/>
          </a:p>
        </p:txBody>
      </p:sp>
      <p:sp>
        <p:nvSpPr>
          <p:cNvPr id="17" name="Shape 14"/>
          <p:cNvSpPr/>
          <p:nvPr/>
        </p:nvSpPr>
        <p:spPr>
          <a:xfrm>
            <a:off x="8229600" y="2121408"/>
            <a:ext cx="3017520" cy="1874520"/>
          </a:xfrm>
          <a:prstGeom prst="roundRect">
            <a:avLst/>
          </a:prstGeom>
          <a:solidFill>
            <a:srgbClr val="EEF7ED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58200" y="2377440"/>
            <a:ext cx="2468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GSTAR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522208" y="2898648"/>
            <a:ext cx="242316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Matriks bobot spasial, spillover, forecasting regional</a:t>
            </a:r>
            <a:endParaRPr lang="en-US" sz="1270" dirty="0"/>
          </a:p>
        </p:txBody>
      </p:sp>
      <p:sp>
        <p:nvSpPr>
          <p:cNvPr id="20" name="Shape 17"/>
          <p:cNvSpPr/>
          <p:nvPr/>
        </p:nvSpPr>
        <p:spPr>
          <a:xfrm>
            <a:off x="1005840" y="4800600"/>
            <a:ext cx="493776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43000" y="4937760"/>
            <a:ext cx="466344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VAR(p): x_t = A₁x_{t−1}+…+Aₚx_{t−p}+ε_t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263640" y="4800600"/>
            <a:ext cx="4800600" cy="5943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0" y="4937760"/>
            <a:ext cx="452628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GSTAR: temporal lag + spatial weight matrix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Panduan Praktikum Terintegrasi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kerja yang memudahkan replikasi dan penilaian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15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96012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/data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304288" y="2020824"/>
            <a:ext cx="36576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raw, clean, metadata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14400" y="2450592"/>
            <a:ext cx="49377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0120" y="2761488"/>
            <a:ext cx="1234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04288" y="2770632"/>
            <a:ext cx="36576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fungsi dan analisis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3200400"/>
            <a:ext cx="49377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60120" y="3511296"/>
            <a:ext cx="1234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/output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304288" y="3520440"/>
            <a:ext cx="36576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gambar, tabel, model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14400" y="3950208"/>
            <a:ext cx="49377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60120" y="4261104"/>
            <a:ext cx="1234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/report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304288" y="4270248"/>
            <a:ext cx="365760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Rmd/Quarto, slide, pdf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14400" y="4700016"/>
            <a:ext cx="49377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446520" y="2057400"/>
            <a:ext cx="4251960" cy="288036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784848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minimal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812280" y="2788920"/>
            <a:ext cx="3474720" cy="1664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&amp; audit data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Visualisasi pola dan missing values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temporal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kandidat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dan diagnostik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output &amp; seed</a:t>
            </a:r>
            <a:endParaRPr lang="en-US" sz="12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Validasi, Metrik, dan Diagnostik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 model tidak cukup dilihat dari akurasi; residual dan desain evaluasi tetap krusial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16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822960" y="1920240"/>
            <a:ext cx="2788920" cy="420624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87552" y="2011680"/>
            <a:ext cx="246888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Train-test temporal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3977640" y="2011680"/>
            <a:ext cx="6217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Menghindari leakage dari masa depan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2596896"/>
            <a:ext cx="2788920" cy="420624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87552" y="2688336"/>
            <a:ext cx="246888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Walk-forward validation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3977640" y="2688336"/>
            <a:ext cx="6217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Mensimulasikan proses forecasting berulang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3273552"/>
            <a:ext cx="2788920" cy="420624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87552" y="3364992"/>
            <a:ext cx="246888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 error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3977640" y="3364992"/>
            <a:ext cx="6217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MAE, RMSE, MAPE/sMAPE sesuai konteks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3950208"/>
            <a:ext cx="2788920" cy="420624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87552" y="4041648"/>
            <a:ext cx="246888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diagnostic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3977640" y="4041648"/>
            <a:ext cx="6217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Autokorelasi, heteroskedastisitas, pola tersisa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22960" y="4626864"/>
            <a:ext cx="2788920" cy="420624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87552" y="4718304"/>
            <a:ext cx="2468880" cy="192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comparison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3977640" y="4718304"/>
            <a:ext cx="6217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Kinerja + interpretabilitas + stabilitas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1234440" y="5577840"/>
            <a:ext cx="9509760" cy="54864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371600" y="5715000"/>
            <a:ext cx="9235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 validasi: model yang “bagus” hari ini tetap masuk akal ketika digunakan untuk periode berikutnya.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Rubrik Proyek Akhir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Bobot penilaian menekankan relevansi, ketepatan metode, diagnostik, dan reproducibility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17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914400" y="1920240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Relevansi masalah &amp; data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3931920" y="1874520"/>
            <a:ext cx="2331720" cy="256032"/>
          </a:xfrm>
          <a:prstGeom prst="roundRect">
            <a:avLst/>
          </a:prstGeom>
          <a:solidFill>
            <a:srgbClr val="2364AA"/>
          </a:solidFill>
          <a:ln w="12700">
            <a:solidFill>
              <a:srgbClr val="236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0" y="1892808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Eksplorasi &amp; preprocessing</a:t>
            </a:r>
            <a:endParaRPr lang="en-US" sz="1170" dirty="0"/>
          </a:p>
        </p:txBody>
      </p:sp>
      <p:sp>
        <p:nvSpPr>
          <p:cNvPr id="15" name="Shape 12"/>
          <p:cNvSpPr/>
          <p:nvPr/>
        </p:nvSpPr>
        <p:spPr>
          <a:xfrm>
            <a:off x="3931920" y="2441448"/>
            <a:ext cx="2331720" cy="256032"/>
          </a:xfrm>
          <a:prstGeom prst="roundRect">
            <a:avLst/>
          </a:prstGeom>
          <a:solidFill>
            <a:srgbClr val="1B998B"/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0" y="2459736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14400" y="3054096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Ketepatan metode</a:t>
            </a:r>
            <a:endParaRPr lang="en-US" sz="1170" dirty="0"/>
          </a:p>
        </p:txBody>
      </p:sp>
      <p:sp>
        <p:nvSpPr>
          <p:cNvPr id="18" name="Shape 15"/>
          <p:cNvSpPr/>
          <p:nvPr/>
        </p:nvSpPr>
        <p:spPr>
          <a:xfrm>
            <a:off x="3931920" y="3008376"/>
            <a:ext cx="3108960" cy="256032"/>
          </a:xfrm>
          <a:prstGeom prst="round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0" y="3026664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14400" y="3621024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&amp; diagnostik</a:t>
            </a:r>
            <a:endParaRPr lang="en-US" sz="1170" dirty="0"/>
          </a:p>
        </p:txBody>
      </p:sp>
      <p:sp>
        <p:nvSpPr>
          <p:cNvPr id="21" name="Shape 18"/>
          <p:cNvSpPr/>
          <p:nvPr/>
        </p:nvSpPr>
        <p:spPr>
          <a:xfrm>
            <a:off x="3931920" y="3575304"/>
            <a:ext cx="3108960" cy="256032"/>
          </a:xfrm>
          <a:prstGeom prst="round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315200" y="3593592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4400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&amp; rekomendasi</a:t>
            </a:r>
            <a:endParaRPr lang="en-US" sz="1170" dirty="0"/>
          </a:p>
        </p:txBody>
      </p:sp>
      <p:sp>
        <p:nvSpPr>
          <p:cNvPr id="24" name="Shape 21"/>
          <p:cNvSpPr/>
          <p:nvPr/>
        </p:nvSpPr>
        <p:spPr>
          <a:xfrm>
            <a:off x="3931920" y="4142232"/>
            <a:ext cx="2331720" cy="256032"/>
          </a:xfrm>
          <a:prstGeom prst="roundRect">
            <a:avLst/>
          </a:prstGeom>
          <a:solidFill>
            <a:srgbClr val="006B3F"/>
          </a:solidFill>
          <a:ln w="12700">
            <a:solidFill>
              <a:srgbClr val="006B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15200" y="4160520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14400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</a:t>
            </a:r>
            <a:endParaRPr lang="en-US" sz="1170" dirty="0"/>
          </a:p>
        </p:txBody>
      </p:sp>
      <p:sp>
        <p:nvSpPr>
          <p:cNvPr id="27" name="Shape 24"/>
          <p:cNvSpPr/>
          <p:nvPr/>
        </p:nvSpPr>
        <p:spPr>
          <a:xfrm>
            <a:off x="3931920" y="4709160"/>
            <a:ext cx="1554480" cy="256032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315200" y="4727448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14400" y="5321808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Presentasi</a:t>
            </a:r>
            <a:endParaRPr lang="en-US" sz="1170" dirty="0"/>
          </a:p>
        </p:txBody>
      </p:sp>
      <p:sp>
        <p:nvSpPr>
          <p:cNvPr id="30" name="Shape 27"/>
          <p:cNvSpPr/>
          <p:nvPr/>
        </p:nvSpPr>
        <p:spPr>
          <a:xfrm>
            <a:off x="3931920" y="5276088"/>
            <a:ext cx="777240" cy="256032"/>
          </a:xfrm>
          <a:prstGeom prst="roundRect">
            <a:avLst/>
          </a:prstGeom>
          <a:solidFill>
            <a:srgbClr val="C8452D"/>
          </a:solidFill>
          <a:ln w="12700">
            <a:solidFill>
              <a:srgbClr val="C84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315200" y="5294376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58200" y="2130552"/>
            <a:ext cx="2331720" cy="24231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77824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Pesan utama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732520" y="2971800"/>
            <a:ext cx="17830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Proyek akhir menilai kualitas argumentasi statistik, bukan sekadar model dengan error terkecil.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Kerangka Laporan Ilmiah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ringkas untuk mengubah praktikum menjadi produk akademik yang rapi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18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13232" y="2011680"/>
            <a:ext cx="2286000" cy="80467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0392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16152" y="2157984"/>
            <a:ext cx="16002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Pendahuluan &amp; tujuan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3502152" y="2011680"/>
            <a:ext cx="2286000" cy="80467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39312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005072" y="2157984"/>
            <a:ext cx="16002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desain observasi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6291072" y="2011680"/>
            <a:ext cx="2286000" cy="80467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28232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793992" y="2157984"/>
            <a:ext cx="16002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Eksplorasi temporal</a:t>
            </a:r>
            <a:endParaRPr lang="en-US" sz="1230" dirty="0"/>
          </a:p>
        </p:txBody>
      </p:sp>
      <p:sp>
        <p:nvSpPr>
          <p:cNvPr id="20" name="Shape 17"/>
          <p:cNvSpPr/>
          <p:nvPr/>
        </p:nvSpPr>
        <p:spPr>
          <a:xfrm>
            <a:off x="9079992" y="2011680"/>
            <a:ext cx="2286000" cy="80467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217152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582912" y="2157984"/>
            <a:ext cx="16002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Metode &amp; asumsi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713232" y="3337560"/>
            <a:ext cx="2286000" cy="80467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50392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16152" y="3483864"/>
            <a:ext cx="16002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&amp; diagnostik</a:t>
            </a:r>
            <a:endParaRPr lang="en-US" sz="1230" dirty="0"/>
          </a:p>
        </p:txBody>
      </p:sp>
      <p:sp>
        <p:nvSpPr>
          <p:cNvPr id="26" name="Shape 23"/>
          <p:cNvSpPr/>
          <p:nvPr/>
        </p:nvSpPr>
        <p:spPr>
          <a:xfrm>
            <a:off x="3502152" y="3337560"/>
            <a:ext cx="2286000" cy="80467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639312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005072" y="3483864"/>
            <a:ext cx="16002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 &amp; rekomendasi</a:t>
            </a:r>
            <a:endParaRPr lang="en-US" sz="1230" dirty="0"/>
          </a:p>
        </p:txBody>
      </p:sp>
      <p:sp>
        <p:nvSpPr>
          <p:cNvPr id="29" name="Shape 26"/>
          <p:cNvSpPr/>
          <p:nvPr/>
        </p:nvSpPr>
        <p:spPr>
          <a:xfrm>
            <a:off x="6291072" y="3337560"/>
            <a:ext cx="2286000" cy="80467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428232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793992" y="3483864"/>
            <a:ext cx="160020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Lampiran reproducible</a:t>
            </a:r>
            <a:endParaRPr lang="en-US" sz="1230" dirty="0"/>
          </a:p>
        </p:txBody>
      </p:sp>
      <p:sp>
        <p:nvSpPr>
          <p:cNvPr id="32" name="Text 29"/>
          <p:cNvSpPr/>
          <p:nvPr/>
        </p:nvSpPr>
        <p:spPr>
          <a:xfrm>
            <a:off x="1005840" y="5321808"/>
            <a:ext cx="10149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narasi statistik dan narasi substantif secara seimbang: metode menjawab masalah, bukan sebaliknya.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Matriks Pemilihan Model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Panduan cepat untuk memilih pendekatan berdasarkan karakteristik data dan tujuan analisis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19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77240" y="1892808"/>
            <a:ext cx="3154680" cy="71323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32688" y="200253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 univariat stabil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32688" y="2276856"/>
            <a:ext cx="2560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ARIMA/SARIMA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480560" y="1892808"/>
            <a:ext cx="3154680" cy="71323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36008" y="200253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Persistensi jangka panjang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636008" y="2276856"/>
            <a:ext cx="2560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ARFIMA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83880" y="1892808"/>
            <a:ext cx="3154680" cy="71323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39328" y="200253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Sinyal kompleks/noisy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8339328" y="2276856"/>
            <a:ext cx="2560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SSA/Spektral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77240" y="2898648"/>
            <a:ext cx="3154680" cy="71323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32688" y="300837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Prediksi berbasis fitur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932688" y="3282696"/>
            <a:ext cx="2560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RF/XGBoost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480560" y="2898648"/>
            <a:ext cx="3154680" cy="71323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636008" y="300837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Dependensi sekuensial nonlinier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4636008" y="3282696"/>
            <a:ext cx="2560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183880" y="2898648"/>
            <a:ext cx="3154680" cy="713232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339328" y="300837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Beberapa variabel saling memengaruhi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8339328" y="3282696"/>
            <a:ext cx="2560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77240" y="3904488"/>
            <a:ext cx="3154680" cy="71323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32688" y="401421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Input-output temporal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932688" y="4288536"/>
            <a:ext cx="2560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Function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480560" y="3904488"/>
            <a:ext cx="3154680" cy="71323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636008" y="401421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Interaksi wilayah-waktu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4636008" y="4288536"/>
            <a:ext cx="2560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GSTAR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8183880" y="3904488"/>
            <a:ext cx="3154680" cy="713232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339328" y="4014216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pembelajaran</a:t>
            </a:r>
            <a:endParaRPr lang="en-US" sz="1080" dirty="0"/>
          </a:p>
        </p:txBody>
      </p:sp>
      <p:sp>
        <p:nvSpPr>
          <p:cNvPr id="37" name="Text 34"/>
          <p:cNvSpPr/>
          <p:nvPr/>
        </p:nvSpPr>
        <p:spPr>
          <a:xfrm>
            <a:off x="8339328" y="4288536"/>
            <a:ext cx="2560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Case-based UTS/UAS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Pertanyaan Diskusi Kelas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Mendorong mahasiswa menimbang asumsi, data, dan konsekuensi keputusan model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</a:rPr>
              <a:t>20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</a:rPr>
              <a:t>Materi ADWTL Jan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868680" y="1874520"/>
            <a:ext cx="384048" cy="384048"/>
          </a:xfrm>
          <a:prstGeom prst="ellipse">
            <a:avLst/>
          </a:prstGeom>
          <a:solidFill>
            <a:srgbClr val="2364AA"/>
          </a:solidFill>
          <a:ln w="127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1965960"/>
            <a:ext cx="38404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463040" y="1929384"/>
            <a:ext cx="80467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Kapan transformasi lebih masuk akal daripada differencing?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68680" y="2532888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2624328"/>
            <a:ext cx="38404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463040" y="2587752"/>
            <a:ext cx="80467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Apakah error terkecil selalu berarti model terbaik?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68680" y="3191256"/>
            <a:ext cx="384048" cy="384048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3282696"/>
            <a:ext cx="38404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463040" y="3246120"/>
            <a:ext cx="80467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membedakan long memory dari perubahan rezim?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68680" y="3849624"/>
            <a:ext cx="384048" cy="384048"/>
          </a:xfrm>
          <a:prstGeom prst="ellipse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" y="3941064"/>
            <a:ext cx="38404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463040" y="3904488"/>
            <a:ext cx="80467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risiko utama menggunakan random split pada data deret waktu?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68680" y="4507992"/>
            <a:ext cx="384048" cy="384048"/>
          </a:xfrm>
          <a:prstGeom prst="ellipse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68680" y="4599432"/>
            <a:ext cx="38404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463040" y="4562856"/>
            <a:ext cx="80467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menjelaskan hasil model kepada pengambil keputusan non-statistik?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857232" y="1965960"/>
            <a:ext cx="1143000" cy="292608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985248" y="2633472"/>
            <a:ext cx="9144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penalaran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85800"/>
            <a:ext cx="676656" cy="676656"/>
          </a:xfrm>
          <a:prstGeom prst="rect">
            <a:avLst/>
          </a:prstGeom>
        </p:spPr>
      </p:pic>
      <p:pic>
        <p:nvPicPr>
          <p:cNvPr id="5" name="Image 1" descr="/mnt/data/adwtl_illustration.png"/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8092440" y="1143000"/>
            <a:ext cx="3703320" cy="1389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Penutup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13232" y="2651760"/>
            <a:ext cx="7589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deret waktu tingkat lanjut bukan hanya persoalan memilih algoritma, tetapi membangun argumen temporal yang dapat diuji, direplikasi, dan diterjemahkan menjadi keputusan.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713232" y="3840480"/>
            <a:ext cx="3401568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13232" y="4800600"/>
            <a:ext cx="45720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FMIPA Universitas Padjadjaran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064240" y="6355080"/>
            <a:ext cx="548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1374</Words>
  <Application>Microsoft Macintosh PowerPoint</Application>
  <PresentationFormat>Widescreen</PresentationFormat>
  <Paragraphs>323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S2 Statistika Terapan FMIPA Universitas Padjadjaran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Deret Waktu Tingkat Lanjut</dc:title>
  <dc:subject>Materi Pembelajaran Analisis Deret Waktu Tingkat Lanjut</dc:subject>
  <dc:creator>OpenAI</dc:creator>
  <cp:lastModifiedBy>Mindra</cp:lastModifiedBy>
  <cp:revision>1</cp:revision>
  <dcterms:created xsi:type="dcterms:W3CDTF">2026-06-22T02:38:20Z</dcterms:created>
  <dcterms:modified xsi:type="dcterms:W3CDTF">2026-06-22T02:51:41Z</dcterms:modified>
</cp:coreProperties>
</file>