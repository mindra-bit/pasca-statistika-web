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3699ea9d02245d4" /><Relationship Type="http://schemas.openxmlformats.org/officeDocument/2006/relationships/extended-properties" Target="/docProps/app.xml" Id="R43b809d832e14f82" /><Relationship Type="http://schemas.openxmlformats.org/officeDocument/2006/relationships/officeDocument" Target="/ppt/presentation.xml" Id="R3661734e3fc541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37511843be45b1"/>
  </p:sldMasterIdLst>
  <p:notesMasterIdLst>
    <p:notesMasterId xmlns:r="http://schemas.openxmlformats.org/officeDocument/2006/relationships" r:id="Ra558f1382c7e42f1"/>
  </p:notesMasterIdLst>
  <p:sldIdLst>
    <p:sldId xmlns:r="http://schemas.openxmlformats.org/officeDocument/2006/relationships" id="256" r:id="Rec271569f81348bd"/>
    <p:sldId xmlns:r="http://schemas.openxmlformats.org/officeDocument/2006/relationships" id="257" r:id="R1e386660e9d44e1e"/>
    <p:sldId xmlns:r="http://schemas.openxmlformats.org/officeDocument/2006/relationships" id="258" r:id="Rafa2a74d37ca4a3c"/>
    <p:sldId xmlns:r="http://schemas.openxmlformats.org/officeDocument/2006/relationships" id="259" r:id="Rbdcc58f5a8ee4b44"/>
    <p:sldId xmlns:r="http://schemas.openxmlformats.org/officeDocument/2006/relationships" id="260" r:id="R4eb1fdd6004346cb"/>
    <p:sldId xmlns:r="http://schemas.openxmlformats.org/officeDocument/2006/relationships" id="261" r:id="Rc348286ce34b43cf"/>
    <p:sldId xmlns:r="http://schemas.openxmlformats.org/officeDocument/2006/relationships" id="262" r:id="R9b9f343259c3413c"/>
    <p:sldId xmlns:r="http://schemas.openxmlformats.org/officeDocument/2006/relationships" id="263" r:id="R071d67eecaab47a0"/>
    <p:sldId xmlns:r="http://schemas.openxmlformats.org/officeDocument/2006/relationships" id="264" r:id="Rcaaae6547d6447d0"/>
    <p:sldId xmlns:r="http://schemas.openxmlformats.org/officeDocument/2006/relationships" id="265" r:id="Rdcd24040050e498b"/>
    <p:sldId xmlns:r="http://schemas.openxmlformats.org/officeDocument/2006/relationships" id="266" r:id="R94874b89cb9a41b5"/>
    <p:sldId xmlns:r="http://schemas.openxmlformats.org/officeDocument/2006/relationships" id="267" r:id="R0b161d3d28724091"/>
    <p:sldId xmlns:r="http://schemas.openxmlformats.org/officeDocument/2006/relationships" id="268" r:id="R8e33450b170e4187"/>
    <p:sldId xmlns:r="http://schemas.openxmlformats.org/officeDocument/2006/relationships" id="269" r:id="R935e42b7976f45bd"/>
    <p:sldId xmlns:r="http://schemas.openxmlformats.org/officeDocument/2006/relationships" id="270" r:id="R4e577ea6a3394360"/>
    <p:sldId xmlns:r="http://schemas.openxmlformats.org/officeDocument/2006/relationships" id="271" r:id="R3974c358a3074505"/>
    <p:sldId xmlns:r="http://schemas.openxmlformats.org/officeDocument/2006/relationships" id="272" r:id="R18756eb332404cdf"/>
    <p:sldId xmlns:r="http://schemas.openxmlformats.org/officeDocument/2006/relationships" id="273" r:id="Race26d5cf8854d07"/>
    <p:sldId xmlns:r="http://schemas.openxmlformats.org/officeDocument/2006/relationships" id="274" r:id="R92d67de9b87a4723"/>
    <p:sldId xmlns:r="http://schemas.openxmlformats.org/officeDocument/2006/relationships" id="275" r:id="Rc7d090e851d34342"/>
    <p:sldId xmlns:r="http://schemas.openxmlformats.org/officeDocument/2006/relationships" id="276" r:id="Rb75c3d4bd8a04dd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64618c1db942a9" /><Relationship Type="http://schemas.openxmlformats.org/officeDocument/2006/relationships/slideMaster" Target="/ppt/slideMasters/slideMaster1.xml" Id="Rc637511843be45b1" /><Relationship Type="http://schemas.openxmlformats.org/officeDocument/2006/relationships/notesMaster" Target="/ppt/notesMasters/notesMaster1.xml" Id="Ra558f1382c7e42f1" /><Relationship Type="http://schemas.openxmlformats.org/officeDocument/2006/relationships/presProps" Target="/ppt/presProps.xml" Id="R37042cb7131745c1" /><Relationship Type="http://schemas.openxmlformats.org/officeDocument/2006/relationships/tableStyles" Target="/ppt/tableStyles.xml" Id="Raf6329b7c14d421b" /><Relationship Type="http://schemas.openxmlformats.org/officeDocument/2006/relationships/slide" Target="/ppt/slides/slide1.xml" Id="Rec271569f81348bd" /><Relationship Type="http://schemas.openxmlformats.org/officeDocument/2006/relationships/slide" Target="/ppt/slides/slide2.xml" Id="R1e386660e9d44e1e" /><Relationship Type="http://schemas.openxmlformats.org/officeDocument/2006/relationships/slide" Target="/ppt/slides/slide3.xml" Id="Rafa2a74d37ca4a3c" /><Relationship Type="http://schemas.openxmlformats.org/officeDocument/2006/relationships/slide" Target="/ppt/slides/slide4.xml" Id="Rbdcc58f5a8ee4b44" /><Relationship Type="http://schemas.openxmlformats.org/officeDocument/2006/relationships/slide" Target="/ppt/slides/slide5.xml" Id="R4eb1fdd6004346cb" /><Relationship Type="http://schemas.openxmlformats.org/officeDocument/2006/relationships/slide" Target="/ppt/slides/slide6.xml" Id="Rc348286ce34b43cf" /><Relationship Type="http://schemas.openxmlformats.org/officeDocument/2006/relationships/slide" Target="/ppt/slides/slide7.xml" Id="R9b9f343259c3413c" /><Relationship Type="http://schemas.openxmlformats.org/officeDocument/2006/relationships/slide" Target="/ppt/slides/slide8.xml" Id="R071d67eecaab47a0" /><Relationship Type="http://schemas.openxmlformats.org/officeDocument/2006/relationships/slide" Target="/ppt/slides/slide9.xml" Id="Rcaaae6547d6447d0" /><Relationship Type="http://schemas.openxmlformats.org/officeDocument/2006/relationships/slide" Target="/ppt/slides/slide10.xml" Id="Rdcd24040050e498b" /><Relationship Type="http://schemas.openxmlformats.org/officeDocument/2006/relationships/slide" Target="/ppt/slides/slide11.xml" Id="R94874b89cb9a41b5" /><Relationship Type="http://schemas.openxmlformats.org/officeDocument/2006/relationships/slide" Target="/ppt/slides/slide12.xml" Id="R0b161d3d28724091" /><Relationship Type="http://schemas.openxmlformats.org/officeDocument/2006/relationships/slide" Target="/ppt/slides/slide13.xml" Id="R8e33450b170e4187" /><Relationship Type="http://schemas.openxmlformats.org/officeDocument/2006/relationships/slide" Target="/ppt/slides/slide14.xml" Id="R935e42b7976f45bd" /><Relationship Type="http://schemas.openxmlformats.org/officeDocument/2006/relationships/slide" Target="/ppt/slides/slide15.xml" Id="R4e577ea6a3394360" /><Relationship Type="http://schemas.openxmlformats.org/officeDocument/2006/relationships/slide" Target="/ppt/slides/slide16.xml" Id="R3974c358a3074505" /><Relationship Type="http://schemas.openxmlformats.org/officeDocument/2006/relationships/slide" Target="/ppt/slides/slide17.xml" Id="R18756eb332404cdf" /><Relationship Type="http://schemas.openxmlformats.org/officeDocument/2006/relationships/slide" Target="/ppt/slides/slide18.xml" Id="Race26d5cf8854d07" /><Relationship Type="http://schemas.openxmlformats.org/officeDocument/2006/relationships/slide" Target="/ppt/slides/slide19.xml" Id="R92d67de9b87a4723" /><Relationship Type="http://schemas.openxmlformats.org/officeDocument/2006/relationships/slide" Target="/ppt/slides/slide20.xml" Id="Rc7d090e851d34342" /><Relationship Type="http://schemas.openxmlformats.org/officeDocument/2006/relationships/slide" Target="/ppt/slides/slide21.xml" Id="Rb75c3d4bd8a04dd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cc3204e18c48b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e614aee636f4514" /><Relationship Type="http://schemas.openxmlformats.org/officeDocument/2006/relationships/notesMaster" Target="/ppt/notesMasters/notesMaster1.xml" Id="Ree968d01ebfb4e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a28f0948c04ae5" /><Relationship Type="http://schemas.openxmlformats.org/officeDocument/2006/relationships/notesMaster" Target="/ppt/notesMasters/notesMaster1.xml" Id="Ra50044193c2b44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8d42d395464c6a" /><Relationship Type="http://schemas.openxmlformats.org/officeDocument/2006/relationships/notesMaster" Target="/ppt/notesMasters/notesMaster1.xml" Id="R25204f73f4ea4fc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cfd20709c70429f" /><Relationship Type="http://schemas.openxmlformats.org/officeDocument/2006/relationships/notesMaster" Target="/ppt/notesMasters/notesMaster1.xml" Id="Rd5d38772a93e469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4c0216af38459d" /><Relationship Type="http://schemas.openxmlformats.org/officeDocument/2006/relationships/notesMaster" Target="/ppt/notesMasters/notesMaster1.xml" Id="R2aa30ea7d4014f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e6720dc47114980" /><Relationship Type="http://schemas.openxmlformats.org/officeDocument/2006/relationships/notesMaster" Target="/ppt/notesMasters/notesMaster1.xml" Id="R992b16fcc7684a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dfb00f4a1440a9" /><Relationship Type="http://schemas.openxmlformats.org/officeDocument/2006/relationships/notesMaster" Target="/ppt/notesMasters/notesMaster1.xml" Id="Refa128336d1a49f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e0af1f3e9244138" /><Relationship Type="http://schemas.openxmlformats.org/officeDocument/2006/relationships/notesMaster" Target="/ppt/notesMasters/notesMaster1.xml" Id="R1059055aaf0744e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dbcd91def39457d" /><Relationship Type="http://schemas.openxmlformats.org/officeDocument/2006/relationships/notesMaster" Target="/ppt/notesMasters/notesMaster1.xml" Id="R8fe1aedffde2458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f8e84b34e446b0" /><Relationship Type="http://schemas.openxmlformats.org/officeDocument/2006/relationships/notesMaster" Target="/ppt/notesMasters/notesMaster1.xml" Id="Rbb48802ac48b475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27ad5241c914bcd" /><Relationship Type="http://schemas.openxmlformats.org/officeDocument/2006/relationships/notesMaster" Target="/ppt/notesMasters/notesMaster1.xml" Id="R862491965e344d9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f08e9e990c94279" /><Relationship Type="http://schemas.openxmlformats.org/officeDocument/2006/relationships/notesMaster" Target="/ppt/notesMasters/notesMaster1.xml" Id="Rcec929713955442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fdf5fa03f084a5b" /><Relationship Type="http://schemas.openxmlformats.org/officeDocument/2006/relationships/notesMaster" Target="/ppt/notesMasters/notesMaster1.xml" Id="R13d6e4616239499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19f1f9365244424" /><Relationship Type="http://schemas.openxmlformats.org/officeDocument/2006/relationships/notesMaster" Target="/ppt/notesMasters/notesMaster1.xml" Id="R45a7ad772deb4a4d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5d3dd7bc72c49ea" /><Relationship Type="http://schemas.openxmlformats.org/officeDocument/2006/relationships/notesMaster" Target="/ppt/notesMasters/notesMaster1.xml" Id="Ra09a24813af44e5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a149a4840534b88" /><Relationship Type="http://schemas.openxmlformats.org/officeDocument/2006/relationships/notesMaster" Target="/ppt/notesMasters/notesMaster1.xml" Id="R340dce25583b42b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762118c67e54ae4" /><Relationship Type="http://schemas.openxmlformats.org/officeDocument/2006/relationships/notesMaster" Target="/ppt/notesMasters/notesMaster1.xml" Id="R9bcfe9b18312434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182c683bf5e4d01" /><Relationship Type="http://schemas.openxmlformats.org/officeDocument/2006/relationships/notesMaster" Target="/ppt/notesMasters/notesMaster1.xml" Id="Rfd6711b4cc72426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9604c632f2341da" /><Relationship Type="http://schemas.openxmlformats.org/officeDocument/2006/relationships/notesMaster" Target="/ppt/notesMasters/notesMaster1.xml" Id="R388542e8f13b4e2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e29e4cca3e04559" /><Relationship Type="http://schemas.openxmlformats.org/officeDocument/2006/relationships/notesMaster" Target="/ppt/notesMasters/notesMaster1.xml" Id="Raaadd7be7f93418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2d9c667eb02419f" /><Relationship Type="http://schemas.openxmlformats.org/officeDocument/2006/relationships/notesMaster" Target="/ppt/notesMasters/notesMaster1.xml" Id="Rfd16bec1b9c941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RPS mata kuliah Revisi AI 2026, Program Studi S2 Statistika Terapan FMIPA Universitas Padjadjaran.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>Penutup: CPL tetap. AI adalah akselerator ketercapaian CPMK/Sub-CPMK, bukan pengganti penalaran statistika. Tekankan kewajiban prompt log ringkas, sumber, kode/notebook reproducible, validasi, dan audit trail.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34e1ce4f485422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a8181c8c33458f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abec5cc866447c" /><Relationship Type="http://schemas.openxmlformats.org/officeDocument/2006/relationships/slideLayout" Target="/ppt/slideLayouts/slideLayout1.xml" Id="R9ec1b63345c64615" /><Relationship Type="http://schemas.openxmlformats.org/officeDocument/2006/relationships/slideLayout" Target="/ppt/slideLayouts/slideLayout2.xml" Id="Ra9694a9753e74c3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c1b63345c64615"/>
    <p:sldLayoutId xmlns:r="http://schemas.openxmlformats.org/officeDocument/2006/relationships" id="2147483650" r:id="Ra9694a9753e74c39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b02c5e2716e4289" /><Relationship Type="http://schemas.openxmlformats.org/officeDocument/2006/relationships/image" Target="/ppt/media/image.png" Id="Rbf92686667a84efa" /><Relationship Type="http://schemas.openxmlformats.org/officeDocument/2006/relationships/image" Target="/ppt/media/image2.png" Id="Ra14b3c2cb38943ca" /><Relationship Type="http://schemas.openxmlformats.org/officeDocument/2006/relationships/notesSlide" Target="/ppt/notesSlides/notesSlide1.xml" Id="R1c5046971d2a414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ff7697e4fe4d64" /><Relationship Type="http://schemas.openxmlformats.org/officeDocument/2006/relationships/image" Target="/ppt/media/image2.png" Id="Rcba782f552cf46e1" /><Relationship Type="http://schemas.openxmlformats.org/officeDocument/2006/relationships/notesSlide" Target="/ppt/notesSlides/notesSlide2.xml" Id="R9229bc1596f04f1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6c2e9c915d4095" /><Relationship Type="http://schemas.openxmlformats.org/officeDocument/2006/relationships/image" Target="/ppt/media/image2.png" Id="Ref61045c345441f5" /><Relationship Type="http://schemas.openxmlformats.org/officeDocument/2006/relationships/notesSlide" Target="/ppt/notesSlides/notesSlide3.xml" Id="Rc4cafb5eb1084f8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2fa5f03492946b3" /><Relationship Type="http://schemas.openxmlformats.org/officeDocument/2006/relationships/image" Target="/ppt/media/image2.png" Id="Rdf2921da64e14084" /><Relationship Type="http://schemas.openxmlformats.org/officeDocument/2006/relationships/notesSlide" Target="/ppt/notesSlides/notesSlide4.xml" Id="Radf70bb645c7444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f8590ea89e549fe" /><Relationship Type="http://schemas.openxmlformats.org/officeDocument/2006/relationships/image" Target="/ppt/media/image2.png" Id="R40c0a712136b446a" /><Relationship Type="http://schemas.openxmlformats.org/officeDocument/2006/relationships/notesSlide" Target="/ppt/notesSlides/notesSlide5.xml" Id="R17b9d057ea6941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fb4feafccd0424e" /><Relationship Type="http://schemas.openxmlformats.org/officeDocument/2006/relationships/image" Target="/ppt/media/image2.png" Id="Raef396bdfa0f4873" /><Relationship Type="http://schemas.openxmlformats.org/officeDocument/2006/relationships/notesSlide" Target="/ppt/notesSlides/notesSlide6.xml" Id="Rf30d902f699e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2cb9dd91a9e4def" /><Relationship Type="http://schemas.openxmlformats.org/officeDocument/2006/relationships/image" Target="/ppt/media/image2.png" Id="R34c785da0eb74b07" /><Relationship Type="http://schemas.openxmlformats.org/officeDocument/2006/relationships/notesSlide" Target="/ppt/notesSlides/notesSlide7.xml" Id="Rc0a7cba2752347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a7a0aea936d4670" /><Relationship Type="http://schemas.openxmlformats.org/officeDocument/2006/relationships/image" Target="/ppt/media/image2.png" Id="R663b8f3d259240fd" /><Relationship Type="http://schemas.openxmlformats.org/officeDocument/2006/relationships/notesSlide" Target="/ppt/notesSlides/notesSlide8.xml" Id="R3c056490c1764a7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e3cd217cf8445d" /><Relationship Type="http://schemas.openxmlformats.org/officeDocument/2006/relationships/image" Target="/ppt/media/image2.png" Id="R812ad5941b8e462d" /><Relationship Type="http://schemas.openxmlformats.org/officeDocument/2006/relationships/notesSlide" Target="/ppt/notesSlides/notesSlide9.xml" Id="Rd8c5e28002ed41f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d7f8bd5a75441d3" /><Relationship Type="http://schemas.openxmlformats.org/officeDocument/2006/relationships/image" Target="/ppt/media/image2.png" Id="R389b87404a5a42f7" /><Relationship Type="http://schemas.openxmlformats.org/officeDocument/2006/relationships/notesSlide" Target="/ppt/notesSlides/notesSlide10.xml" Id="R76527bb1e08d4f8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8dac06c5334484" /><Relationship Type="http://schemas.openxmlformats.org/officeDocument/2006/relationships/image" Target="/ppt/media/image2.png" Id="R85092dfdcdb143aa" /><Relationship Type="http://schemas.openxmlformats.org/officeDocument/2006/relationships/notesSlide" Target="/ppt/notesSlides/notesSlide11.xml" Id="Rebdb17891ee54b4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951f6f2298045df" /><Relationship Type="http://schemas.openxmlformats.org/officeDocument/2006/relationships/image" Target="/ppt/media/image2.png" Id="Rea65dbda189f4db8" /><Relationship Type="http://schemas.openxmlformats.org/officeDocument/2006/relationships/notesSlide" Target="/ppt/notesSlides/notesSlide12.xml" Id="R343a5e621f7444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7755c32eedb4e1b" /><Relationship Type="http://schemas.openxmlformats.org/officeDocument/2006/relationships/image" Target="/ppt/media/image2.png" Id="Rb3118b009cb44f21" /><Relationship Type="http://schemas.openxmlformats.org/officeDocument/2006/relationships/notesSlide" Target="/ppt/notesSlides/notesSlide13.xml" Id="R4a00480df60343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080e03f80584c5f" /><Relationship Type="http://schemas.openxmlformats.org/officeDocument/2006/relationships/image" Target="/ppt/media/image2.png" Id="R150e1a0782b64891" /><Relationship Type="http://schemas.openxmlformats.org/officeDocument/2006/relationships/notesSlide" Target="/ppt/notesSlides/notesSlide14.xml" Id="Ra33d62de4188499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ce33e855563453b" /><Relationship Type="http://schemas.openxmlformats.org/officeDocument/2006/relationships/image" Target="/ppt/media/image2.png" Id="Rbc17e11522b84a6c" /><Relationship Type="http://schemas.openxmlformats.org/officeDocument/2006/relationships/notesSlide" Target="/ppt/notesSlides/notesSlide15.xml" Id="Rb066e662b8c2470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5c68f13b5404b4d" /><Relationship Type="http://schemas.openxmlformats.org/officeDocument/2006/relationships/image" Target="/ppt/media/image2.png" Id="R87a542b609324aa7" /><Relationship Type="http://schemas.openxmlformats.org/officeDocument/2006/relationships/notesSlide" Target="/ppt/notesSlides/notesSlide16.xml" Id="R8620fb4a612c44e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7b2083bdb54472" /><Relationship Type="http://schemas.openxmlformats.org/officeDocument/2006/relationships/image" Target="/ppt/media/image2.png" Id="R6b75888648ee4a9a" /><Relationship Type="http://schemas.openxmlformats.org/officeDocument/2006/relationships/notesSlide" Target="/ppt/notesSlides/notesSlide17.xml" Id="R40e57b7115c14d4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c6241d946ee4e3d" /><Relationship Type="http://schemas.openxmlformats.org/officeDocument/2006/relationships/image" Target="/ppt/media/image2.png" Id="R02b5388fb2804211" /><Relationship Type="http://schemas.openxmlformats.org/officeDocument/2006/relationships/notesSlide" Target="/ppt/notesSlides/notesSlide18.xml" Id="R13112a599164401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90482865d894807" /><Relationship Type="http://schemas.openxmlformats.org/officeDocument/2006/relationships/image" Target="/ppt/media/image2.png" Id="Re2bca4ad2fe24038" /><Relationship Type="http://schemas.openxmlformats.org/officeDocument/2006/relationships/notesSlide" Target="/ppt/notesSlides/notesSlide19.xml" Id="Ra780b188e70c434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5eab32fc2741b6" /><Relationship Type="http://schemas.openxmlformats.org/officeDocument/2006/relationships/image" Target="/ppt/media/image2.png" Id="R5bf56f44063b4a8f" /><Relationship Type="http://schemas.openxmlformats.org/officeDocument/2006/relationships/notesSlide" Target="/ppt/notesSlides/notesSlide20.xml" Id="R954cd93691794dc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36fad363ab94f38" /><Relationship Type="http://schemas.openxmlformats.org/officeDocument/2006/relationships/image" Target="/ppt/media/image.png" Id="R6765eeb0004f4821" /><Relationship Type="http://schemas.openxmlformats.org/officeDocument/2006/relationships/image" Target="/ppt/media/image2.png" Id="R1211d37debd2483f" /><Relationship Type="http://schemas.openxmlformats.org/officeDocument/2006/relationships/notesSlide" Target="/ppt/notesSlides/notesSlide21.xml" Id="R17899c12662f41d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2686667a84e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03CCFC52-29D0-4B2B-B0C6-702D3A97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8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082CB3EA-73F5-4734-9957-7FC337AE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7565DFE0-9A05-44D0-AC6A-307554BA3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2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4b3c2cb38943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92" y="676656"/>
            <a:ext cx="713232" cy="713232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E57244F0-7EDC-4115-8F15-93A0613DA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850392"/>
            <a:ext cx="56235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CCE5F019-A97F-4FC9-8A7F-0D5994611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74520"/>
            <a:ext cx="63093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28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Matematika</a:t>
            </a:r>
          </a:p>
          <a:p xmlns:a="http://schemas.openxmlformats.org/drawingml/2006/main">
            <a:pPr marL="0" indent="0" algn="l">
              <a:buNone/>
            </a:pPr>
            <a:r>
              <a:rPr sz="4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Aktuaria 2</a:t>
            </a:r>
          </a:p>
        </p:txBody>
      </p:sp>
      <p:sp>
        <p:nvSpPr>
          <p:cNvPr id="9" name="Text 5">
            <a:extLst xmlns:a="http://schemas.openxmlformats.org/drawingml/2006/main">
              <a:ext uri="{FF2B5EF4-FFF2-40B4-BE49-F238E27FC236}">
                <a16:creationId xmlns:a16="http://schemas.microsoft.com/office/drawing/2014/main" id="{D8253394-2F18-46A0-9DC3-02FE96C1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364992"/>
            <a:ext cx="64922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00">
                <a:solidFill>
                  <a:srgbClr val="D6E4EA"/>
                </a:solidFill>
                <a:latin typeface="Aptos"/>
                <a:ea typeface="Aptos"/>
                <a:cs typeface="Aptos"/>
              </a:rPr>
              <a:t>Deck pembelajaran profesional berbasis materi HTML mata kuliah</a:t>
            </a:r>
          </a:p>
        </p:txBody>
      </p:sp>
      <p:sp>
        <p:nvSpPr>
          <p:cNvPr id="10" name="Shape 6">
            <a:extLst xmlns:a="http://schemas.openxmlformats.org/drawingml/2006/main">
              <a:ext uri="{FF2B5EF4-FFF2-40B4-BE49-F238E27FC236}">
                <a16:creationId xmlns:a16="http://schemas.microsoft.com/office/drawing/2014/main" id="{95BC0897-9614-4ABE-843F-45659272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3840480"/>
            <a:ext cx="313639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22DC2D-7AD8-4EB4-B64B-DF3D7A8D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4645152"/>
            <a:ext cx="758952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Penulis materi: Dr. Lienda Noviyanti, M.Si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Program: S2 Statistika Terapan FMIPA UNPAD</a:t>
            </a:r>
          </a:p>
          <a:p xmlns:a="http://schemas.openxmlformats.org/drawingml/2006/main">
            <a:pPr marL="0" indent="0" algn="l">
              <a:buNone/>
            </a:pPr>
            <a:r>
              <a:rPr sz="1350">
                <a:solidFill>
                  <a:srgbClr val="EFF7FA"/>
                </a:solidFill>
                <a:latin typeface="Aptos"/>
                <a:ea typeface="Aptos"/>
                <a:cs typeface="Aptos"/>
              </a:rPr>
              <a:t>Sumber: materi HTML mata kuliah</a:t>
            </a:r>
          </a:p>
        </p:txBody>
      </p:sp>
      <p:sp>
        <p:nvSpPr>
          <p:cNvPr id="12" name="Shape 8">
            <a:extLst xmlns:a="http://schemas.openxmlformats.org/drawingml/2006/main">
              <a:ext uri="{FF2B5EF4-FFF2-40B4-BE49-F238E27FC236}">
                <a16:creationId xmlns:a16="http://schemas.microsoft.com/office/drawing/2014/main" id="{787180B1-BFE6-4902-BC9D-A5780F02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069EAD68-AB04-4A53-B3AD-33C930AC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344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Matematika</a:t>
            </a:r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A67990FB-7B51-4145-A6C2-944953BA4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0384" y="4709160"/>
            <a:ext cx="132588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1">
            <a:extLst xmlns:a="http://schemas.openxmlformats.org/drawingml/2006/main">
              <a:ext uri="{FF2B5EF4-FFF2-40B4-BE49-F238E27FC236}">
                <a16:creationId xmlns:a16="http://schemas.microsoft.com/office/drawing/2014/main" id="{5DCD49DE-10D0-4DC9-9FBF-E58EAD9AA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5248" y="4782312"/>
            <a:ext cx="1216152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Aktuaria</a:t>
            </a:r>
          </a:p>
        </p:txBody>
      </p:sp>
      <p:sp>
        <p:nvSpPr>
          <p:cNvPr id="16" name="Text 12">
            <a:extLst xmlns:a="http://schemas.openxmlformats.org/drawingml/2006/main">
              <a:ext uri="{FF2B5EF4-FFF2-40B4-BE49-F238E27FC236}">
                <a16:creationId xmlns:a16="http://schemas.microsoft.com/office/drawing/2014/main" id="{A6FBE0FA-08D3-4EA2-A730-21E2788D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50854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5179F762-93FE-4B75-9AEA-4EE71342C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AEC3692-6480-4202-8B8F-071A0FF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a782f552cf46e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ED73F2B-C950-4C94-A5AA-0DE879F0F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D79208EC-8DD8-4FAF-830D-BAAD08F9C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Mengapa Matematika Aktuaria 2 Penting?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371FF16D-61A3-40B8-93A7-21E6403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Peran mata kuliah dalam statistika terapan, komputasi, riset, dan pengambilan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1351A25-941C-49D5-AC28-B8757D86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40024BA-3953-40EA-81DB-A8A86CE4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600F534B-6ADE-46C8-9537-485107E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C5EC4388-2145-43EB-BC97-8CCBAA2A1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38528"/>
            <a:ext cx="55321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775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Mata kuliah Matematika Aktuaria 2 berada pada jembatan antara teori probabilitas, statistika kelangsungan hidup, komputasi aktuaria, dan penilaian produk asuransi.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84F6C0C-8306-48D8-8FB8-753B24CF2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944368"/>
            <a:ext cx="5394960" cy="2057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matematika aktuaria 2 dan pendahuluan multiple…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simple contingent function pada data dan persoalan…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  <a:p xmlns:a="http://schemas.openxmlformats.org/drawingml/2006/main">
            <a:pPr marL="190500" indent="-190500">
              <a:buChar char="•"/>
            </a:pPr>
            <a:r>
              <a:rPr sz="130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 model melalui asumsi, validasi, dan diagnostik yang…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F194D75A-7A64-4250-AA27-39E4796B7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93392"/>
            <a:ext cx="4343400" cy="2971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E1CCF099-E33B-421B-A556-3F7C44D9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712" y="2267712"/>
            <a:ext cx="32918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9537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8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Domain Aplikasi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05F494D5-93D0-4477-994D-9AC21F5B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635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FDA8B61-F616-4F05-AE5F-194A0E2C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Asuransi jiwa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E97AF0F-C4C9-40D2-8033-5D53E5E1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88920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635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020A9426-3FC1-4F55-855F-EC2A07F56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2862072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Pensiun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190EC18-869E-48BB-A688-E5DEFE3C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635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2E20AA35-48E0-486E-A8DA-744B70E7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Manajemen risiko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71104143-246D-4117-B001-40AF7CF7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410712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635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4C196DC8-8BD1-487B-A81E-543E9299D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3483864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Keuangan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35C21172-837B-4DE8-BF6D-B0811C25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B5FC7"/>
          </a:solidFill>
          <a:ln xmlns:a="http://schemas.openxmlformats.org/drawingml/2006/main" w="6350">
            <a:solidFill>
              <a:srgbClr val="5B5FC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23D0344-0E69-4B7A-B7C6-4E73E02CE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714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Mortalitas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6600F9C-7C0D-424F-9266-24B07DAD2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32504"/>
            <a:ext cx="1572768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635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3EE34E90-BAAD-4EAA-93BA-9CEDC119D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664" y="4105656"/>
            <a:ext cx="1463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Regulasi</a:t>
            </a:r>
          </a:p>
        </p:txBody>
      </p:sp>
    </p:spTree>
    <p:extLst>
      <p:ext uri="{BB962C8B-B14F-4D97-AF65-F5344CB8AC3E}">
        <p14:creationId xmlns:p14="http://schemas.microsoft.com/office/powerpoint/2010/main" val="7411711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D402F31-DBAB-409E-821D-AC3679BA4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DFEC572-1CF3-4AA8-B05D-C1EE799CD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61045c3454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29D243BE-D7A5-4D03-9E01-9B182EFC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12F5A01-6D6C-4B82-8493-3401171A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Capaian Pembelajaran Mata Kuliah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5533DB7E-F1AE-4225-B4EE-CD54BEF0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Empat capaian inti: fondasi, metode, validasi, dan komunikasi ilmiah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505FC8C-740F-4B25-AEE8-88DD24CD8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D9B8B6A4-A8CD-4742-9F6E-EE9976CD4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85E4A9C9-056F-4DF2-96D6-77F9A170C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0E8F7A14-21F8-4CF8-A271-0E117875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3DF1D5A-37AD-4118-BCC9-0A9D270B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825939A-F369-4B81-81F1-A2673B337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CPMK1</a:t>
            </a:r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8B7A8AC-8550-42E7-BEAE-C923B119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fondasi matematika aktuaria 2 dan pendahuluan multiple life secara kritis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65403F97-2708-4ADF-B9ED-23FD4DED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1984248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173A2BBD-B692-41CE-BB44-1FEEF3ED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2240280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BB51C7-33D0-42A9-805F-75CA0BE8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2432304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CPMK2</a:t>
            </a:r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B66C81E5-3240-4228-AE60-B0983408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2240280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Menerapkan simple contingent function pada data dan persoalan terapan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8267B242-D7AE-4A9F-8CB4-A6D115C8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3FD47383-90CA-480D-8731-CBA15C157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8E225BB-AD60-49A7-8D14-2362E29C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25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CPMK3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FAD08D18-37AA-48AB-9C2D-837BFAE5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Merancang pengelolaan data dan alur analisis yang dapat direplikasi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4B75CEA-5305-40EE-97A6-4C66A83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0488" y="3566160"/>
            <a:ext cx="4983480" cy="11155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9A68E61-1271-4AD6-83E0-BF60F0B46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656" y="3822192"/>
            <a:ext cx="594360" cy="5943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3BE008A4-E6D1-47FF-8D24-B27B0ACF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4014216"/>
            <a:ext cx="502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CPMK4</a:t>
            </a:r>
          </a:p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5ED4DBE-AF71-4FB6-92D6-1431DE10E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0608" y="3822192"/>
            <a:ext cx="37033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897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Mengevaluasi, menginterpretasi, dan mengomunikasikan hasil analisis secara bertanggung jawab.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37CD9FA5-C19E-462D-893E-B4D195DDC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5349240"/>
            <a:ext cx="105156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7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Kunci: mahasiswa bergerak dari memahami konsep menjadi menghasilkan keputusan berbasis data yang terukur dan dapat diuji.</a:t>
            </a:r>
          </a:p>
        </p:txBody>
      </p:sp>
    </p:spTree>
    <p:extLst>
      <p:ext uri="{BB962C8B-B14F-4D97-AF65-F5344CB8AC3E}">
        <p14:creationId xmlns:p14="http://schemas.microsoft.com/office/powerpoint/2010/main" val="9607487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4AAEAF5-CF6A-4CDE-B06F-3FFB5A7E8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81830B8-D15C-4023-A9FE-58398117D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2921da64e140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06F40EF-8B02-454A-A47B-9317CCBF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67F7229E-ADA2-45FA-9945-2D8BD29E2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Peta Sub-CPMK dan Pertemuan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1012076D-1A37-4793-97E6-0B077CF2D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16 pertemuan disusun spiral: fondasi → metode → evaluasi → integrasi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44D0DEF-4C8D-4FBA-B160-2E19071E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7C3AABB-3E12-49E8-8901-F101A4C6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1B01E9D-7953-4BB3-8E0B-E96C80E8D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94863CA9-07E8-44ED-8510-64DC4833C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1938528"/>
            <a:ext cx="14173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056DC82-1495-4E09-B3E9-C2FE5FE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093976"/>
            <a:ext cx="12710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Sub-CPMK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F7FAABF-8034-4274-85A4-4C6FCB680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1938528"/>
            <a:ext cx="96012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7796BCF-CC7A-4C41-8DD8-F2609F5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093976"/>
            <a:ext cx="81381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Pertemuan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34719CF-C94B-48A8-8730-C12A7E5F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1938528"/>
            <a:ext cx="315468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44B6A047-5861-40E7-B134-B722ECCCF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093976"/>
            <a:ext cx="3008376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Kemampuan Akhir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C2A302C6-99D3-483B-ACA8-1B6D8E3E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1938528"/>
            <a:ext cx="5413248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355B"/>
          </a:solidFill>
          <a:ln xmlns:a="http://schemas.openxmlformats.org/drawingml/2006/main" w="6350">
            <a:solidFill>
              <a:srgbClr val="1235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13AEEFC2-D3E2-448F-AA80-4FBDBF44A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093976"/>
            <a:ext cx="5266944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Fokus Pembelajaran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CE05CC1E-DBCD-418D-BBC3-4EB941A39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441448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1A8FFEAC-DFDB-4AA3-BD9B-52791D0A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560320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SubCPMK1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9BF8FCBD-4C3D-495C-890E-E4F0C863E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2441448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C9A7BA03-65C6-4664-B9E3-47FC3EE6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2560320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1–4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B4227B2-5CD3-4402-AAE2-E9D7178F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2441448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8DE6B03-D82D-4CD0-8A2F-74CF09283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560320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Fondasi &amp; struktur data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C69C786B-EC79-4DD6-AEF4-06C36F541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41448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B4C344A-12C9-44C2-9358-DA8CF1378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2560320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Pendahuluan, Joint, Probabilitas dan, Multiple Life pada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AF25F6D6-19EB-4996-97EE-A41B2978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27832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928691D-A840-4F5C-819A-A44CBB43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3346704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SubCPMK2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387B6D6-0B3E-4DD9-BF31-3328FAAF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3227832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80117A56-7928-46AE-BA80-C2F58FC09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3346704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5–8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4174A44-0A3F-43F7-9F9A-70F25AA7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227832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13ADCABB-5F8D-49DC-9A64-F586AB85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3346704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inti &amp; desain</a:t>
            </a:r>
          </a:p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F9B68B2A-F49D-45AF-AAFE-29205FE17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227832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FE62A589-DC97-455E-89A5-4895E466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3346704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Produk Asuransi, Anuitas Dua, Simple Contingent, UTS: Evaluasi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1EE8550F-58D5-4799-8E71-A4275505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014216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071E8E03-FC60-4265-AF2C-29788A7B4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33088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SubCPMK3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B0AEF522-9920-46B0-A73E-5E98E8994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014216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DB0FE1AD-2441-4333-AAB8-6584F889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133088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9–12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3052AC2-E36A-4AD1-8451-13CA1D6A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14216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F3DA6BDA-5090-466D-9620-DE796255B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133088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Pemodelan &amp; evaluasi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087378EC-09E3-473C-BCE0-40095FD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014216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2793BAEC-63F6-441A-9C31-1CC207EF9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133088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Multiple Decrement, Associated Single, Central Rates of, Konstruksi dan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96B7B3BF-2C14-4744-B728-63C9BC50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4800600"/>
            <a:ext cx="14173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DE628E54-BB81-442C-B610-DB56898AD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919472"/>
            <a:ext cx="12710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SubCPMK4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7636DDE-A546-4F57-B82A-E3F5279D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7672" y="4800600"/>
            <a:ext cx="96012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B3C7D3-2DD4-4E68-B991-C08F64F1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0824" y="4919472"/>
            <a:ext cx="81381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13–16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C93A2340-8474-4B3C-8A2D-143103ED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800600"/>
            <a:ext cx="3154680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56A1C456-58FB-42DC-B36D-889D9CDE0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4919472"/>
            <a:ext cx="3008376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Integrasi &amp; proyek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72B07C1B-F06C-45B3-A334-672C85A7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4800600"/>
            <a:ext cx="5413248" cy="7863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508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1B3E5F9E-A52A-4E5E-96B8-EA47C68B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5624" y="4919472"/>
            <a:ext cx="5266944" cy="6217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90">
                <a:solidFill>
                  <a:srgbClr val="1B263B"/>
                </a:solidFill>
                <a:latin typeface="Aptos"/>
                <a:ea typeface="Aptos"/>
                <a:cs typeface="Aptos"/>
              </a:rPr>
              <a:t>Insurance dan, Perhitungan, Perhitungan, UAS: Solusi</a:t>
            </a:r>
          </a:p>
        </p:txBody>
      </p:sp>
    </p:spTree>
    <p:extLst>
      <p:ext uri="{BB962C8B-B14F-4D97-AF65-F5344CB8AC3E}">
        <p14:creationId xmlns:p14="http://schemas.microsoft.com/office/powerpoint/2010/main" val="572040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965A7F5-FE1D-4862-8635-122B6D07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B21D301-E09B-4E63-9CC5-108F1F5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c0a712136b446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CEAF1377-D164-40A1-9D4A-6C68BF7A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CCCB39BE-623C-4241-8F2E-87B21352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Workflow Matematika Aktuaria 2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F6FA2BD5-829D-4167-8250-8DDE579B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Pipeline kerja: dari masalah dan data menuju model, validasi, dan keputusan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289377F-2A6B-4139-BBE5-6F084E360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3B82F4-203F-4876-AE9F-C86B61952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E212EA9D-9A69-4520-9B65-E21F6E79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C0F6E542-F11E-4A2D-A8BC-78AD4BAA3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A36278C-8F37-46D2-8062-4EC705B9D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38296A8-1EC0-46DA-8FF2-9533088AC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62DEC783-E245-4549-891F-54567953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31410071-DC0F-41FB-8947-21E88CC26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3960" y="297180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DE8174F4-DD84-40AD-9A48-D49C7AD8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5D9805B-4841-4831-922F-40155814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Masalah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&amp; tujuan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68A2B594-344E-49BF-9481-957451A7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E061D66E-F69C-453A-969E-F9885B426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Audit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&amp; kurasi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A93E0E2B-F1E9-451F-8FFC-AB93FB19D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0D06B2-85EF-4A18-BEDB-00125847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Eksplorasi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pola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73693F34-BDC3-450B-B568-22D38C393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19C9DB86-78A3-437B-A68D-88818CAC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kandidat</a:t>
            </a:r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5EEFC249-1BE2-4960-8DE9-6F0AC14C3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068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1D32E0C2-B4F8-4001-BDFA-7E4E5057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C4E2359-A6BC-46C7-B81F-F010E212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768" y="2450592"/>
            <a:ext cx="114300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4A8D3A8-C741-48DA-85A7-E98CEE02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6920" y="2532888"/>
            <a:ext cx="996696" cy="8869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</a:t>
            </a:r>
          </a:p>
          <a:p xmlns:a="http://schemas.openxmlformats.org/drawingml/2006/main">
            <a:pPr marL="0" indent="0" algn="ctr">
              <a:buNone/>
            </a:pPr>
            <a:r>
              <a:rPr sz="12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ilmiah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19DDF04A-AD7C-4C0E-9494-33EA5A5D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43400"/>
            <a:ext cx="102412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BCBB91E9-EB9D-4158-A661-7500F0D6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645152"/>
            <a:ext cx="96012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938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Prinsip kelas: rumuskan masalah → pahami data → pilih metode → uji asumsi → validasi hasil → jelaskan dampak.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A7A244F9-94A4-46FD-B139-454EE6D0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058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yang baik bukan hanya akurat, tetapi juga transparan, dapat direplikasi, dan masuk akal dalam konteks masalah.</a:t>
            </a:r>
          </a:p>
        </p:txBody>
      </p:sp>
    </p:spTree>
    <p:extLst>
      <p:ext uri="{BB962C8B-B14F-4D97-AF65-F5344CB8AC3E}">
        <p14:creationId xmlns:p14="http://schemas.microsoft.com/office/powerpoint/2010/main" val="5372749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355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AE544C64-F915-4C32-B129-0A31BE78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f396bdfa0f48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D1D45BAB-BEB3-47E5-8FA2-F0672404F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1–8 | Fondasi, struktur data, metode inti, dan evaluasi tengah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B72A252-C019-45C4-9EB6-A57111FF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Fondasi &amp; Metode Inti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82598C16-B45B-487B-BB27-D44029C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277864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CBF97D5-C77C-4627-AEB7-F7A9C033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6865C1A-325E-4E19-AE30-DA3A2492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c785da0eb74b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9DA6FB27-2B92-496A-AE51-3AAD791DD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66FD4-A804-4C3A-840C-3FBFF3C1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Fondasi dan Struktur Data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B031CC9-5C52-42FF-B48E-AE1A29B9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Pendahuluan, Joint, Probabilitas dan, Multiple Life pada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CCF86DF-3C3B-4DE3-B873-FF950840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6BCAD63-BED2-40B1-8A16-F173C14CC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2F7727E-A3BE-4F7B-A98D-5BE37399C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48813E68-C186-4D8B-917E-EB5528FA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901952"/>
            <a:ext cx="2761488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212B59EC-F263-4214-ADFA-8D422701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46CDE1AB-7F32-4358-B629-74189B161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0D0680B-5843-497D-9253-7F0AF0686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B27B427D-7214-4DA1-9308-4CCE3295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245CD9EF-DF2F-4A0B-B04A-FAD94EA9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0B274713-F900-48C2-9D05-2246F487F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6AADCA0-0EB6-4A38-8D90-2F9B18C89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18020D8E-27DC-4632-B27A-01DFF3CF9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D154125C-DE0B-461C-9451-0015C793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5B2896D2-BC8A-4001-88EA-B5B48949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66B9C99-E4FA-412D-83F6-8E9978F6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3E4B19F-6566-42B8-97A3-A42D3774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3B0DF8A0-0ED4-4C65-82F6-8562E5200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73BA9CD5-C12C-4823-8C63-A2673B56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3CC246D7-F75A-4AF7-8292-AE208A746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1056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C3BAB0F7-F47B-4FFE-8DBB-0005333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D2478FE1-40C2-41D3-B403-FD838F1FF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59983138-ABA2-4CD4-8BA1-198502B95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5AA8AFE9-D964-4838-8360-BB360683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079F62BD-83FC-41DC-BEA7-A6E88956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8528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88E1F10D-1853-46CD-B34D-B4E2CD5F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0">
            <a:extLst xmlns:a="http://schemas.openxmlformats.org/drawingml/2006/main">
              <a:ext uri="{FF2B5EF4-FFF2-40B4-BE49-F238E27FC236}">
                <a16:creationId xmlns:a16="http://schemas.microsoft.com/office/drawing/2014/main" id="{5F3CE931-768E-4D67-B899-3FCA1EB5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C29BA42F-36D5-400F-893A-B041F761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8A5FE1A2-696F-4E4F-9A2B-F4EF1A7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1867F12E-DB8D-4258-AB11-2E8696DB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1F97FD91-0422-47FD-82DC-739E81DE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139696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CA56582-DD69-48B9-9448-9272D2D8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487168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B7D2CFF7-4FDD-471F-A94B-5DFFB6C0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834640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C070C254-B99F-479D-82EB-3C88EE604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182112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10A8C250-AA0B-4D00-85F1-1641DA08A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3529584"/>
            <a:ext cx="31089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2540">
            <a:solidFill>
              <a:srgbClr val="FFFF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D96DD7C2-7EF2-4B08-91C6-1BF44413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407408"/>
            <a:ext cx="2057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Peta konsep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CA2F39ED-09EA-4BD8-82D3-F642013CE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993392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EDD8A7BE-1EC8-4DC6-828F-87A547A94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112264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Pendahuluan Multiple Life…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E81D7CF1-4453-4E92-B347-CE15BD20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880360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F738E7B2-C60B-4434-BB82-356E6AA4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2999232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Joint Distributions of Future…</a:t>
            </a:r>
          </a:p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17DC0F88-3951-4C41-BEAA-2A5D0D2F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767328"/>
            <a:ext cx="324612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Text 45">
            <a:extLst xmlns:a="http://schemas.openxmlformats.org/drawingml/2006/main">
              <a:ext uri="{FF2B5EF4-FFF2-40B4-BE49-F238E27FC236}">
                <a16:creationId xmlns:a16="http://schemas.microsoft.com/office/drawing/2014/main" id="{4EE7C42A-37D1-4B9A-9A6F-4B8BAB2A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3886200"/>
            <a:ext cx="297180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Probabilitas dan Ekspektasi Dua…</a:t>
            </a:r>
          </a:p>
        </p:txBody>
      </p:sp>
      <p:sp>
        <p:nvSpPr>
          <p:cNvPr id="49" name="Shape 46">
            <a:extLst xmlns:a="http://schemas.openxmlformats.org/drawingml/2006/main">
              <a:ext uri="{FF2B5EF4-FFF2-40B4-BE49-F238E27FC236}">
                <a16:creationId xmlns:a16="http://schemas.microsoft.com/office/drawing/2014/main" id="{28017A4B-8BF7-4D95-AA04-3BE64F5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965960"/>
            <a:ext cx="3063240" cy="2578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0" name="Text 47">
            <a:extLst xmlns:a="http://schemas.openxmlformats.org/drawingml/2006/main">
              <a:ext uri="{FF2B5EF4-FFF2-40B4-BE49-F238E27FC236}">
                <a16:creationId xmlns:a16="http://schemas.microsoft.com/office/drawing/2014/main" id="{F0E53656-4333-4C73-BFDE-1061AE2FA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1040" y="2267712"/>
            <a:ext cx="26060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Karakteristik Utama</a:t>
            </a:r>
          </a:p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76385269-C9F9-4CCA-B82B-9CA25342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743200"/>
            <a:ext cx="2514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100000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Pendahuluan Multiple Life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Joint Distributions of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Probabilitas dan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Multiple Life pada</a:t>
            </a:r>
          </a:p>
          <a:p xmlns:a="http://schemas.openxmlformats.org/drawingml/2006/main">
            <a:pPr marL="190500" indent="-190500">
              <a:buChar char="•"/>
            </a:pPr>
            <a:r>
              <a:rPr sz="1150">
                <a:solidFill>
                  <a:srgbClr val="1B263B"/>
                </a:solidFill>
                <a:latin typeface="Aptos"/>
                <a:ea typeface="Aptos"/>
                <a:cs typeface="Aptos"/>
              </a:rPr>
              <a:t>Produk Asuransi Dua</a:t>
            </a:r>
          </a:p>
        </p:txBody>
      </p:sp>
    </p:spTree>
    <p:extLst>
      <p:ext uri="{BB962C8B-B14F-4D97-AF65-F5344CB8AC3E}">
        <p14:creationId xmlns:p14="http://schemas.microsoft.com/office/powerpoint/2010/main" val="55371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66F773D-418D-4B70-BCDC-780039536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FC76109F-9712-4307-A6A5-CAB642FD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3b8f3d259240f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E10EA04-02B0-4905-917D-15FA6ED6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9D7DD101-333B-476A-95B0-78B9A4BF1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Operasi Dasar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AB82F97-72E8-4275-B517-95E2D1DB3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Probabilitas dan, Multiple Life pada, Produk Asuransi, Anuitas Dua, Simple Contingent, UTS…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C4469493-775C-4770-87C6-C748D79DE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1FCAFA59-1D82-4389-8C8E-BC4884CF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051F41D-03E8-4436-ADA1-2AB707D9C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DFD2717A-DF9E-4FA7-BBA5-02FA6090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22856E20-EBC1-47F7-9762-57837FAFD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620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Probabilitas dan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378217AE-C089-4886-AF4F-BB265C9E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14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dan menggunakan konsep peluang…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8353D6B-0626-474D-8A20-789F9FA1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85670B9-D39D-4763-8123-85527F7E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Multiple Life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3EA96809-3271-40CF-9AE5-FC32FB5E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01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dan menggunakan konsep narasi…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DB5A256D-1B0F-4C69-9EFB-E7098BAB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75104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12875EF-9FED-4331-9428-57BB9C5FF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112264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475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Produk Asuransi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3CCAD5E-5D90-4629-8DC6-3163FE63A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2139696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dan menggunakan konsep…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9619191-D9B9-416B-BF77-995CB961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73B4C43-E1F3-43E5-AD43-CBE5F7D4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67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Anuitas Dua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2D6641F6-7CAC-4B2C-91DF-7D2BC8E4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996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dan menggunakan konsep…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045C15A3-551D-4310-B333-067E152F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D2F7D79-EA26-4752-803D-6F763EE05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Simple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59B93416-39FE-4A0F-BFFC-2C922311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72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dan menggunakan konsep…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83D1EDF8-028F-4A1D-991C-76C20E9D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090672"/>
            <a:ext cx="3154680" cy="8046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4CA1A717-60D2-4314-88D9-CF23C1352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27832"/>
            <a:ext cx="11704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04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3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UTS: Evaluasi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D5A74799-B8E2-4EAD-A2BF-6432A8C7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3255264"/>
            <a:ext cx="1600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82462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Menjelaskan dan menggunakan konsep desain…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F55A8D25-1CAB-4945-BC77-EB10EEED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DFF81AFB-A857-423A-B3B7-798E458E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Multiple Life pada Asuransi Pasangan dan Keluarga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8C7E457C-BB22-4367-B29F-5C89F230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17720"/>
            <a:ext cx="48006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5FCFCFE-5F8B-486B-8669-2BE120307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736592"/>
            <a:ext cx="45262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02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Simple Contingent Function dan Asumsi Mortalitas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97B36D0-1400-44B5-BC76-C486F1B7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62356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dasar adalah grammar analisis: pahami asumsi dan tujuan sebelum menyusun model yang lebih kompleks.</a:t>
            </a:r>
          </a:p>
        </p:txBody>
      </p:sp>
    </p:spTree>
    <p:extLst>
      <p:ext uri="{BB962C8B-B14F-4D97-AF65-F5344CB8AC3E}">
        <p14:creationId xmlns:p14="http://schemas.microsoft.com/office/powerpoint/2010/main" val="15644548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34F11EF0-8E94-46E3-99E2-604C676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76D729B-A0CC-4F80-AA4F-F26E907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2ad5941b8e46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3D2A783-01C1-4783-86C7-1ED87C21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EE461EDD-C72F-40AA-9731-122F00C6B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Metode Inti dan Estimasi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DAF830D-3942-4BFE-AEB0-F45D409F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Formulasi, estimasi, komputasi, diagnostik, dan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FA6D8C6-FD21-4CC6-9CFE-B7C6CFAC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C8EC0585-75AE-4780-B4F6-97C438ED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84ABCD5-1CC0-4DE7-9A0D-BF9A62F6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DD03C6B-7591-4B16-8CA9-B96FC4AC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901952"/>
            <a:ext cx="516636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0436B718-EA5B-425E-A55C-7386F4F4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020824"/>
            <a:ext cx="4892040" cy="4937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Anuitas Dua Kehidupan dan Special Two-Life Annuities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5BF3A685-581D-4430-BBF1-889232718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DDD4BE42-1D2A-4863-8199-51D4A40C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ED08A3E5-EB02-4FCF-A04B-0EC81E417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746D3265-5459-4914-82EA-D92F62AB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81EBCD19-6799-46B1-B902-B4C0547D8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15468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BDE50F8-4A00-4641-9C23-E4FF5450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26440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8AF35A6-BD0E-4CFA-9384-2755B8D9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955E3F6B-20CE-4B27-A524-7DC4A046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02F5BB81-2E48-4D04-A3AC-C841F95C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6F78ACBF-E71C-4B4C-BAAD-A3D44EB0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CB0178F9-ADD5-432A-8728-763231CB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56616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32644E69-6B4C-435D-A757-6B7938598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367588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8E1DA85-9D5B-4181-B46E-DAB022FED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D7775253-3E0A-4873-BD91-253587C7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047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84B314B3-7B2D-4612-81BD-D3F89C968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C5570A2B-698B-4F35-AE68-F7CA13EB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95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E0D59396-683F-452E-9CA9-92556F799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3977640"/>
            <a:ext cx="384048" cy="38404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F5AED85F-33AB-4396-B1AA-E07986C1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432" y="4087368"/>
            <a:ext cx="265176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6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A366663A-9260-49C2-A875-18B4CBD4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4553712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Matriks struktur ilustratif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F18013C7-9190-46FE-AE2B-D7010CEB4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8DA09354-A1BD-41BA-974E-A9FB6974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Produk Asuransi Dua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Menjelaskan dan…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6CCDE9E5-3640-45B4-8EA3-E4996506D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1975104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2">
            <a:extLst xmlns:a="http://schemas.openxmlformats.org/drawingml/2006/main">
              <a:ext uri="{FF2B5EF4-FFF2-40B4-BE49-F238E27FC236}">
                <a16:creationId xmlns:a16="http://schemas.microsoft.com/office/drawing/2014/main" id="{B7732FBC-681F-422B-AA27-C1EEEA93A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057400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Anuitas Dua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Menjelaskan dan…</a:t>
            </a:r>
          </a:p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590EE8D1-A915-4281-ACD8-E9CDF80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Text 34">
            <a:extLst xmlns:a="http://schemas.openxmlformats.org/drawingml/2006/main">
              <a:ext uri="{FF2B5EF4-FFF2-40B4-BE49-F238E27FC236}">
                <a16:creationId xmlns:a16="http://schemas.microsoft.com/office/drawing/2014/main" id="{9098901A-D231-4589-8CFF-E84CD4A41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Simple Contingent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Menjelaskan dan…</a:t>
            </a:r>
          </a:p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FD2D0D8B-2DB5-4776-B88F-81835F0F6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926080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6">
            <a:extLst xmlns:a="http://schemas.openxmlformats.org/drawingml/2006/main">
              <a:ext uri="{FF2B5EF4-FFF2-40B4-BE49-F238E27FC236}">
                <a16:creationId xmlns:a16="http://schemas.microsoft.com/office/drawing/2014/main" id="{5A00D8B8-88FF-421C-A0C7-C0A713C8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008376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Evaluasi Produk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Menjelaskan dan…</a:t>
            </a:r>
          </a:p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A4279141-BC90-46E3-9C41-28AB91D6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877056"/>
            <a:ext cx="205740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6D3A6068-8A5C-4E0B-8A42-93311240D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959352"/>
            <a:ext cx="1911096" cy="5120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Multiple Decrement</a:t>
            </a:r>
          </a:p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Menjelaskan dan…</a:t>
            </a:r>
          </a:p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43EB3938-BB41-4FC9-8965-E1E672C75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9552"/>
            <a:ext cx="10469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i="1">
                <a:solidFill>
                  <a:srgbClr val="53657D"/>
                </a:solidFill>
                <a:latin typeface="Aptos"/>
                <a:ea typeface="Aptos"/>
                <a:cs typeface="Aptos"/>
              </a:rPr>
              <a:t>Catatan: model dipilih karena sesuai dengan struktur data dan tujuan analisis, bukan karena tampak paling kompleks.</a:t>
            </a:r>
          </a:p>
        </p:txBody>
      </p:sp>
    </p:spTree>
    <p:extLst>
      <p:ext uri="{BB962C8B-B14F-4D97-AF65-F5344CB8AC3E}">
        <p14:creationId xmlns:p14="http://schemas.microsoft.com/office/powerpoint/2010/main" val="6945848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0724B30-3C93-4E9D-90C7-1274F6E4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732AB50-10AE-40F9-81C6-600B777E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9b87404a5a42f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A2570206-816E-49B7-96E9-1418E9BE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87790376-BC46-4532-B68C-728DDC37E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Integrasi Model dan Diagnostik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EE67439B-3FFE-4EF7-B43C-C7D69531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Alur keputusan dari data, model, diagnostik, revisi, sampai interpretasi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233CDD49-9C3C-4177-908B-85C1E056E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BBBC516C-5F4E-4C25-94FC-5D5FA185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4FCA5D0B-C16C-46AA-91C9-CF63B63BB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D03937-3D67-4E2C-AFC3-D3E2D4F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2969764-E52B-449E-B968-9C06CB4A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D22B0E42-FEAB-4EC0-9569-7C3EE91EF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F0B554ED-4498-47AC-89D7-D4CE02F69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D1DDADEE-102D-4E6F-9250-D644DC30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34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D3BD445-DB99-47C5-9224-BC33DEBA9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31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5464CAC9-9C4A-44AA-96B6-0CE75D8C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FA144F18-305A-4DCF-86F1-5586672C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456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05208EE-C737-4488-8371-5B62A8B5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EB540AA7-5EB9-49DB-9116-B7C413490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A1953158-32B9-4063-B2AC-794C88DE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1332EED8-6BB8-494C-88D9-240F8A86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2F3263F-A8F5-4B82-8DA4-9897154A2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958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19AD185B-0F27-4DFE-BC3D-9CECAF93C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355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2D8F0B44-6023-428A-A940-E275251E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590123E3-6FCB-4E2A-B3B2-4DB7502DC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66C89EBE-BAAD-42AB-8D97-7AA9161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A8475DC-3A09-40CB-BC4A-C6CB84A3B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48D09D93-E682-484E-9DDD-FBFD08EB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Shape 27">
            <a:extLst xmlns:a="http://schemas.openxmlformats.org/drawingml/2006/main">
              <a:ext uri="{FF2B5EF4-FFF2-40B4-BE49-F238E27FC236}">
                <a16:creationId xmlns:a16="http://schemas.microsoft.com/office/drawing/2014/main" id="{4B973104-F20E-4E5B-B5AC-2E99546F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48A39AFA-2988-4545-8ABD-2F423D4B7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982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78F1EC64-B8EA-497F-B21B-05680011B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D520CA17-9C28-4693-BB46-6CC34BFA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Diagnostik</a:t>
            </a:r>
          </a:p>
        </p:txBody>
      </p:sp>
      <p:sp>
        <p:nvSpPr>
          <p:cNvPr id="34" name="Shape 31">
            <a:extLst xmlns:a="http://schemas.openxmlformats.org/drawingml/2006/main">
              <a:ext uri="{FF2B5EF4-FFF2-40B4-BE49-F238E27FC236}">
                <a16:creationId xmlns:a16="http://schemas.microsoft.com/office/drawing/2014/main" id="{5DA71E29-FA67-4154-95C9-BE6CC2583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EBC564CB-F08F-4A5E-9E0C-3458520B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Shape 33">
            <a:extLst xmlns:a="http://schemas.openxmlformats.org/drawingml/2006/main">
              <a:ext uri="{FF2B5EF4-FFF2-40B4-BE49-F238E27FC236}">
                <a16:creationId xmlns:a16="http://schemas.microsoft.com/office/drawing/2014/main" id="{F908229C-37E1-4397-B031-60318030B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62B09414-1473-4BF7-AEEC-BD3E2AF01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5">
            <a:extLst xmlns:a="http://schemas.openxmlformats.org/drawingml/2006/main">
              <a:ext uri="{FF2B5EF4-FFF2-40B4-BE49-F238E27FC236}">
                <a16:creationId xmlns:a16="http://schemas.microsoft.com/office/drawing/2014/main" id="{49D8F383-4C83-44E4-81C9-A7628E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ECB4E1C9-516E-4AA8-A10A-00B3E070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Shape 37">
            <a:extLst xmlns:a="http://schemas.openxmlformats.org/drawingml/2006/main">
              <a:ext uri="{FF2B5EF4-FFF2-40B4-BE49-F238E27FC236}">
                <a16:creationId xmlns:a16="http://schemas.microsoft.com/office/drawing/2014/main" id="{D840328B-0A3A-4449-82E1-10EEA3DB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B3F"/>
          </a:solidFill>
          <a:ln xmlns:a="http://schemas.openxmlformats.org/drawingml/2006/main" w="12700">
            <a:solidFill>
              <a:srgbClr val="006B3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Text 38">
            <a:extLst xmlns:a="http://schemas.openxmlformats.org/drawingml/2006/main">
              <a:ext uri="{FF2B5EF4-FFF2-40B4-BE49-F238E27FC236}">
                <a16:creationId xmlns:a16="http://schemas.microsoft.com/office/drawing/2014/main" id="{7E6F0301-1EFE-4E51-8445-DA8986DE9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Model II</a:t>
            </a:r>
          </a:p>
        </p:txBody>
      </p:sp>
      <p:sp>
        <p:nvSpPr>
          <p:cNvPr id="42" name="Shape 39">
            <a:extLst xmlns:a="http://schemas.openxmlformats.org/drawingml/2006/main">
              <a:ext uri="{FF2B5EF4-FFF2-40B4-BE49-F238E27FC236}">
                <a16:creationId xmlns:a16="http://schemas.microsoft.com/office/drawing/2014/main" id="{FD391D3E-7B58-45DD-8732-4FDE63A1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0" y="2834640"/>
            <a:ext cx="48463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78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D987536C-5743-4E54-A868-EAA3346F0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2423160"/>
            <a:ext cx="123444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Shape 41">
            <a:extLst xmlns:a="http://schemas.openxmlformats.org/drawingml/2006/main">
              <a:ext uri="{FF2B5EF4-FFF2-40B4-BE49-F238E27FC236}">
                <a16:creationId xmlns:a16="http://schemas.microsoft.com/office/drawing/2014/main" id="{D01A2A07-0AD6-4B06-B878-D012E025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54203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C005BE38-CBEC-4548-A570-63DE31097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Shape 43">
            <a:extLst xmlns:a="http://schemas.openxmlformats.org/drawingml/2006/main">
              <a:ext uri="{FF2B5EF4-FFF2-40B4-BE49-F238E27FC236}">
                <a16:creationId xmlns:a16="http://schemas.microsoft.com/office/drawing/2014/main" id="{E7466E75-F1E9-4FE7-A5B8-759FAC6A4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7" name="Shape 44">
            <a:extLst xmlns:a="http://schemas.openxmlformats.org/drawingml/2006/main">
              <a:ext uri="{FF2B5EF4-FFF2-40B4-BE49-F238E27FC236}">
                <a16:creationId xmlns:a16="http://schemas.microsoft.com/office/drawing/2014/main" id="{473324C2-E21C-48D5-B797-599E8A34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4" y="272491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8" name="Shape 45">
            <a:extLst xmlns:a="http://schemas.openxmlformats.org/drawingml/2006/main">
              <a:ext uri="{FF2B5EF4-FFF2-40B4-BE49-F238E27FC236}">
                <a16:creationId xmlns:a16="http://schemas.microsoft.com/office/drawing/2014/main" id="{8A72E411-72E7-42F9-9CBD-46F1518A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4272" y="2907792"/>
            <a:ext cx="182880" cy="12801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9" name="Text 46">
            <a:extLst xmlns:a="http://schemas.openxmlformats.org/drawingml/2006/main">
              <a:ext uri="{FF2B5EF4-FFF2-40B4-BE49-F238E27FC236}">
                <a16:creationId xmlns:a16="http://schemas.microsoft.com/office/drawing/2014/main" id="{2199BEFF-6789-4874-B37B-AE7C3FCF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35584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4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Keputusan</a:t>
            </a:r>
          </a:p>
        </p:txBody>
      </p:sp>
      <p:sp>
        <p:nvSpPr>
          <p:cNvPr id="50" name="Shape 47">
            <a:extLst xmlns:a="http://schemas.openxmlformats.org/drawingml/2006/main">
              <a:ext uri="{FF2B5EF4-FFF2-40B4-BE49-F238E27FC236}">
                <a16:creationId xmlns:a16="http://schemas.microsoft.com/office/drawing/2014/main" id="{D90C557F-1AB8-46BB-9959-F3B0EC9C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160520"/>
            <a:ext cx="9738360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1" name="Text 48">
            <a:extLst xmlns:a="http://schemas.openxmlformats.org/drawingml/2006/main">
              <a:ext uri="{FF2B5EF4-FFF2-40B4-BE49-F238E27FC236}">
                <a16:creationId xmlns:a16="http://schemas.microsoft.com/office/drawing/2014/main" id="{AD609B40-C9E4-48FF-9670-D6D64B06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407408"/>
            <a:ext cx="17373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86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70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Intuisi pemodelan</a:t>
            </a:r>
          </a:p>
        </p:txBody>
      </p:sp>
      <p:sp>
        <p:nvSpPr>
          <p:cNvPr id="52" name="Text 49">
            <a:extLst xmlns:a="http://schemas.openxmlformats.org/drawingml/2006/main">
              <a:ext uri="{FF2B5EF4-FFF2-40B4-BE49-F238E27FC236}">
                <a16:creationId xmlns:a16="http://schemas.microsoft.com/office/drawing/2014/main" id="{E0117D23-C8E4-4873-B4B7-E2B87EF26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43400"/>
            <a:ext cx="66751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B263B"/>
                </a:solidFill>
                <a:latin typeface="Aptos"/>
                <a:ea typeface="Aptos"/>
                <a:cs typeface="Aptos"/>
              </a:rPr>
              <a:t>Analisis dimulai dari struktur data, dilanjutkan dengan model kandidat, pemeriksaan asumsi, revisi, dan interpretasi substantif.</a:t>
            </a:r>
          </a:p>
        </p:txBody>
      </p:sp>
      <p:sp>
        <p:nvSpPr>
          <p:cNvPr id="53" name="Shape 50">
            <a:extLst xmlns:a="http://schemas.openxmlformats.org/drawingml/2006/main">
              <a:ext uri="{FF2B5EF4-FFF2-40B4-BE49-F238E27FC236}">
                <a16:creationId xmlns:a16="http://schemas.microsoft.com/office/drawing/2014/main" id="{727E93D1-9FDC-40D5-B28C-F4B1C8D62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532120"/>
            <a:ext cx="804672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4" name="Text 51">
            <a:extLst xmlns:a="http://schemas.openxmlformats.org/drawingml/2006/main">
              <a:ext uri="{FF2B5EF4-FFF2-40B4-BE49-F238E27FC236}">
                <a16:creationId xmlns:a16="http://schemas.microsoft.com/office/drawing/2014/main" id="{2AC10A70-F864-4842-8318-E49A9DF29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650992"/>
            <a:ext cx="77724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Data → model → validasi → interpretasi</a:t>
            </a:r>
          </a:p>
        </p:txBody>
      </p:sp>
    </p:spTree>
    <p:extLst>
      <p:ext uri="{BB962C8B-B14F-4D97-AF65-F5344CB8AC3E}">
        <p14:creationId xmlns:p14="http://schemas.microsoft.com/office/powerpoint/2010/main" val="6551621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B998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8E04DC0-C1BE-45EF-A60F-85E45C6EC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92dfdcdb143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947DEBCB-2643-4F0A-96C2-0DAF58178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9–12 | Pemodelan lanjut, komputasi, validasi, dan aplikasi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8D396E8-C049-4489-808F-1896B4A79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Pemodelan &amp; Evaluasi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22A30F76-1E71-49F7-8D0D-A37E6B8B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3214309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4F83CFC8-0557-46DA-B06D-E2AA5AE8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8954AF12-C672-4ABA-B6D9-51996360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65dbda189f4db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7F2BF350-A7B0-48DC-BFE5-54402D79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2B333C7F-461E-4CBD-834F-DBFA4A708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Arsitektur Analisis Terintegrasi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C2EEB65E-2416-40A0-8DC0-5B004B52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Dari data mentah menuju keluaran yang tervalidasi dan dapat dikomunikasikan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75858C6E-12EB-40BF-BE7F-41DEE4BB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A84A034-917F-4F83-98D4-6D7712FA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FE9BBD3B-DD06-4F88-84D0-1C39DBC3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947FB0E-5648-4824-BEF4-FA685718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88820"/>
            <a:ext cx="960120" cy="1508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364AA"/>
          </a:solidFill>
          <a:ln xmlns:a="http://schemas.openxmlformats.org/drawingml/2006/main" w="12700">
            <a:solidFill>
              <a:srgbClr val="2364A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8D54520F-9DB1-485F-90BD-3123AD48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578608"/>
            <a:ext cx="8686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Data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56D5213-49E0-4509-B5D5-71FA7B97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B3251D24-2E5E-42C5-A33D-775F3709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440" y="2171700"/>
            <a:ext cx="9144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263968F-0657-4DB8-96E7-6ABB9544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2578608"/>
            <a:ext cx="82296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Pra-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proses</a:t>
            </a:r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856F77C2-FEE8-484D-A42C-60FB368D3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7677328C-143F-41D9-BDE5-227A5017B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1920" y="2295144"/>
            <a:ext cx="804672" cy="8961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8CFE7F61-BFB2-4EF2-921D-2A2E8419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40" y="2578608"/>
            <a:ext cx="71323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6EE5EDE5-E5A7-4454-9386-32FB5FE9B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A11EBEC-DE5B-4B55-9F07-9F294E0E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86584"/>
            <a:ext cx="694944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575A75D0-43FB-4F87-9A86-75409B17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2392" y="2578608"/>
            <a:ext cx="603504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lanjut</a:t>
            </a:r>
          </a:p>
        </p:txBody>
      </p:sp>
      <p:sp>
        <p:nvSpPr>
          <p:cNvPr id="22" name="Shape 19">
            <a:extLst xmlns:a="http://schemas.openxmlformats.org/drawingml/2006/main">
              <a:ext uri="{FF2B5EF4-FFF2-40B4-BE49-F238E27FC236}">
                <a16:creationId xmlns:a16="http://schemas.microsoft.com/office/drawing/2014/main" id="{68ACC894-4F4C-48FF-8E5C-2104502D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6C806FBF-92BC-4045-9DCE-AFD0663A0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696" y="2478024"/>
            <a:ext cx="566928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C537"/>
          </a:solidFill>
          <a:ln xmlns:a="http://schemas.openxmlformats.org/drawingml/2006/main" w="12700">
            <a:solidFill>
              <a:srgbClr val="F8C53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057310C7-64C3-4017-AB39-CC075F82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7416" y="2578608"/>
            <a:ext cx="4754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7803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Validasi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CA3CE94-782C-4080-B4A9-6F6382033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8352" y="2743200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53657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C2A5BAB7-E01E-400A-9BA9-71997EB4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8704" y="2560320"/>
            <a:ext cx="932688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8452D"/>
          </a:solidFill>
          <a:ln xmlns:a="http://schemas.openxmlformats.org/drawingml/2006/main" w="12700">
            <a:solidFill>
              <a:srgbClr val="C8452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8F1F0658-F918-44BF-8742-92BD247D6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4424" y="2578608"/>
            <a:ext cx="84124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8" name="Shape 25">
            <a:extLst xmlns:a="http://schemas.openxmlformats.org/drawingml/2006/main">
              <a:ext uri="{FF2B5EF4-FFF2-40B4-BE49-F238E27FC236}">
                <a16:creationId xmlns:a16="http://schemas.microsoft.com/office/drawing/2014/main" id="{F0E0651B-D3EB-4410-AC1A-5BFCE40E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4370832"/>
            <a:ext cx="475488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2E8B4F84-991D-43EB-9183-727BB89B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568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Komponen utama</a:t>
            </a:r>
          </a:p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3D7715D6-3387-4620-9BC6-8BC13E327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0" y="4544568"/>
            <a:ext cx="21945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77593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Representasi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Model kandidat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Interpretasi</a:t>
            </a:r>
          </a:p>
        </p:txBody>
      </p:sp>
      <p:sp>
        <p:nvSpPr>
          <p:cNvPr id="31" name="Shape 28">
            <a:extLst xmlns:a="http://schemas.openxmlformats.org/drawingml/2006/main">
              <a:ext uri="{FF2B5EF4-FFF2-40B4-BE49-F238E27FC236}">
                <a16:creationId xmlns:a16="http://schemas.microsoft.com/office/drawing/2014/main" id="{6B0E5EA7-8FDB-4B36-956A-5E043548D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4370832"/>
            <a:ext cx="4663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29">
            <a:extLst xmlns:a="http://schemas.openxmlformats.org/drawingml/2006/main">
              <a:ext uri="{FF2B5EF4-FFF2-40B4-BE49-F238E27FC236}">
                <a16:creationId xmlns:a16="http://schemas.microsoft.com/office/drawing/2014/main" id="{36EBCA70-9C32-4C4E-BF62-A567EEA36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4617720"/>
            <a:ext cx="1645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236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5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Risiko analisis</a:t>
            </a:r>
          </a:p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AF5FBADA-DAFC-47FF-87D5-F66C7FEBD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44568"/>
            <a:ext cx="21488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762" tIns="762" rIns="762" bIns="762" anchor="ctr">
            <a:normAutofit fontScale="96991"/>
          </a:bodyPr>
          <a:lstStyle xmlns:a="http://schemas.openxmlformats.org/drawingml/2006/main"/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Data leakage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Bias sampel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keliru</a:t>
            </a:r>
          </a:p>
          <a:p xmlns:a="http://schemas.openxmlformats.org/drawingml/2006/main">
            <a:pPr marL="190500" indent="-190500">
              <a:buChar char="•"/>
            </a:pPr>
            <a:r>
              <a:rPr sz="1080">
                <a:solidFill>
                  <a:srgbClr val="1B263B"/>
                </a:solidFill>
                <a:latin typeface="Aptos"/>
                <a:ea typeface="Aptos"/>
                <a:cs typeface="Aptos"/>
              </a:rPr>
              <a:t>Validasi lemah</a:t>
            </a:r>
          </a:p>
        </p:txBody>
      </p:sp>
    </p:spTree>
    <p:extLst>
      <p:ext uri="{BB962C8B-B14F-4D97-AF65-F5344CB8AC3E}">
        <p14:creationId xmlns:p14="http://schemas.microsoft.com/office/powerpoint/2010/main" val="19358734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6B219F9-0A70-48AF-9F49-C0E8B7175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94D14E98-DF55-4EEE-9F4A-AD4675A7C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18b009cb44f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A7A2D63-5414-45C5-9A87-E2EB844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12EBD299-AD89-454B-BF6A-886CF6591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Pemodelan Lanjut dan Formulasi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EBC65B-E363-46E9-A520-649A81BD8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Multiple Decrement, Associated Single, Central Rates of, Konstruksi dan, Insurance dan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2F516F8-524F-4568-808C-C38312AD6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0DFEDD93-7DB4-4E49-BB65-C12C1B3D4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23B02C03-0544-48C1-8E16-F62C0334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A7ACBC6-1D5C-4674-B0D9-7996FB234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65960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767F8C15-DD4B-462A-B5CC-DB06AEAE5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84832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Multiple Decrement Theory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67E19E63-567A-43B7-9FB9-02A1D7E04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770632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11A7F865-D555-4155-8D5E-763A1479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89504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Central Rates of Multiple Decrement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444EA049-D1A3-4F87-9B4D-C6FFD730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575304"/>
            <a:ext cx="35661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F90A92F8-3C7F-420E-80BD-78F0E1C8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4176"/>
            <a:ext cx="32918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8454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Prinsip: Insurance dan Annuity: Continuous dan Discrete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BA15D32D-1E9D-499F-B4B8-8E7EC2043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AD6422ED-754C-4114-A3B8-0092E03D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Multiple Decrement Theory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3B6F9FC2-3AA1-407E-907D-FB9F0E0C4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1920240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3CAC20B6-6FF4-47B9-8E53-AB93426A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002536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Associated Single Decrement Table dan…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F24A4213-3E71-4C46-9EC6-29BC804A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27F58CD-4F96-4CFE-A9A6-ECB4B3391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Central Rates of Multiple Decrement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B987FD20-E0DC-4810-9DFD-85E121A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9560" y="2761488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CEC254D7-B69F-4453-93A7-695C516E9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2712" y="2843784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Konstruksi dan Implementasi MD Table…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F7CC19F8-15A1-474E-B23F-B5FA0D0A8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02736"/>
            <a:ext cx="246888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09AE5965-B3E7-4D44-9B7A-0D39AA0A7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6632" y="3685032"/>
            <a:ext cx="232257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Insurance dan Annuity: Continuous dan…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D8F91FBB-0E68-4370-B179-30A0E84A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166360"/>
            <a:ext cx="996696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6A8AC469-480C-4352-A712-86754912D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376672"/>
            <a:ext cx="93726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5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2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Praktikum diarahkan pada eksperimen reproducible: baseline → model lanjut → validasi → interpretasi kesalahan.</a:t>
            </a:r>
          </a:p>
        </p:txBody>
      </p:sp>
    </p:spTree>
    <p:extLst>
      <p:ext uri="{BB962C8B-B14F-4D97-AF65-F5344CB8AC3E}">
        <p14:creationId xmlns:p14="http://schemas.microsoft.com/office/powerpoint/2010/main" val="2723656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0e1a0782b6489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Validasi, Diagnostik, dan Evaluasi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Kualitas analisis dinilai dari data, asumsi, stabilitas, interpretasi, dan dampaknya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Kualitas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kelengkapan &amp; konsistensi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Asumsi model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&amp; dependensi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Validasi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skema sesuai tujuan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Diagnostik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residual &amp; sensitivitas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Perbandingan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kinerja &amp; kompleksitas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Interpretasi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konteks &amp; keterbatasan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Kinerja = akurasi + stabilitas + interpretabilitas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9851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Bukti kuat = validasi + diagnostik + transparansi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Validasi yang baik memastikan hasil tetap masuk akal, dapat dijelaskan, dan dapat dipertanggungjawabkan pada data baru.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E8A0993-4901-4A79-BD9D-F172E028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01DD22F-BDC8-4D7C-8431-9EBEA7D39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17e11522b84a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656B7DE-AA37-478B-A617-791EA8ED5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7B2E5F4B-8D7B-469B-BF4A-B110955F1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Aplikasi Lanjut dan Studi Kasus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CA2B5E4-A045-4344-AC3B-B76AAE58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Menerjemahkan teori, data, metode, dan evaluasi menjadi solusi terapan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EA13ED6D-153D-4074-8050-AAA232A21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3DA92211-D233-46A4-8CFA-3E0A914C8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0F346CBF-C4DE-4D7A-931A-A65A6E9E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7E3638E3-8EC8-4B52-A6F4-84E543AE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65960"/>
            <a:ext cx="4206240" cy="28346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9D1CDB36-4A42-4692-A5DE-F81EE76D6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2331720"/>
            <a:ext cx="3337560" cy="21031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DECF2"/>
          </a:solidFill>
          <a:ln xmlns:a="http://schemas.openxmlformats.org/drawingml/2006/main" w="12700">
            <a:solidFill>
              <a:srgbClr val="DDECF2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AE8CD180-FDC8-4BD2-A043-FD1C57AC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5920" y="2697480"/>
            <a:ext cx="1143000" cy="868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3931987-3DA2-4363-8929-4B03323B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0784" y="2505456"/>
            <a:ext cx="10058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Kasus A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data nyata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8F893B32-A10D-4209-84BD-5D37A13AB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999232"/>
            <a:ext cx="960120" cy="6583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0"/>
            </a:srgbClr>
          </a:solidFill>
          <a:ln xmlns:a="http://schemas.openxmlformats.org/drawingml/2006/main" w="38100">
            <a:solidFill>
              <a:srgbClr val="1B998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43612FC-71A5-4D46-8936-4991B80A6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0944" y="2798064"/>
            <a:ext cx="9144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7009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Kasus B</a:t>
            </a:r>
          </a:p>
          <a:p xmlns:a="http://schemas.openxmlformats.org/drawingml/2006/main">
            <a:pPr marL="0" indent="0" algn="ctr">
              <a:buNone/>
            </a:pPr>
            <a:r>
              <a:rPr sz="8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hasil model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D0D113F-826E-46D8-B90D-0721627E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669260DF-8CB6-497A-958E-333960A4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Associated Single Decrement Table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214DDC3C-7443-4100-B06A-C3BBBCED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1993392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668474F0-A088-4BFA-8646-13B67944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075688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Central Rates of Multiple Decrement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C2DD6A80-5191-4D05-85BF-BC3E4326E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430460D-9B59-468A-A2B9-93BF09EA1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Konstruksi dan Implementasi MD Table…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2D53D36E-E609-4065-BB56-E99FF8B49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2834640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A232815C-8EF7-4319-8FD2-505755B51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2916936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Insurance dan Annuity: Continuous dan…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574E3235-C649-4CC0-8918-B7D568933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B15BF345-B831-40EA-861A-3DD93BD8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815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Perhitungan Benefit Premium</a:t>
            </a:r>
          </a:p>
        </p:txBody>
      </p:sp>
      <p:sp>
        <p:nvSpPr>
          <p:cNvPr id="27" name="Shape 24">
            <a:extLst xmlns:a="http://schemas.openxmlformats.org/drawingml/2006/main">
              <a:ext uri="{FF2B5EF4-FFF2-40B4-BE49-F238E27FC236}">
                <a16:creationId xmlns:a16="http://schemas.microsoft.com/office/drawing/2014/main" id="{56506593-8087-4056-9BD5-A6E7F8A2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675888"/>
            <a:ext cx="214884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B2629C1C-24AB-46C5-BF79-A690166C0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8472" y="3758184"/>
            <a:ext cx="2002536" cy="4297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Perhitungan Benefit Reserve</a:t>
            </a:r>
          </a:p>
        </p:txBody>
      </p:sp>
      <p:sp>
        <p:nvSpPr>
          <p:cNvPr id="29" name="Text 26">
            <a:extLst xmlns:a="http://schemas.openxmlformats.org/drawingml/2006/main">
              <a:ext uri="{FF2B5EF4-FFF2-40B4-BE49-F238E27FC236}">
                <a16:creationId xmlns:a16="http://schemas.microsoft.com/office/drawing/2014/main" id="{09B38C01-C1F7-4EC2-903A-02620184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440680"/>
            <a:ext cx="10332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Aplikasi lanjut menuntut definisi masalah yang jelas, data yang layak, metode yang tepat, validasi yang kuat, dan komunikasi yang…</a:t>
            </a:r>
          </a:p>
        </p:txBody>
      </p:sp>
    </p:spTree>
    <p:extLst>
      <p:ext uri="{BB962C8B-B14F-4D97-AF65-F5344CB8AC3E}">
        <p14:creationId xmlns:p14="http://schemas.microsoft.com/office/powerpoint/2010/main" val="71190188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1D316800-1217-4870-B87E-DB0A883C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309360"/>
            <a:ext cx="12191695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542b609324aa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6928" y="530352"/>
            <a:ext cx="566928" cy="566928"/>
          </a:xfrm>
          <a:prstGeom xmlns:a="http://schemas.openxmlformats.org/drawingml/2006/main" prst="rect">
            <a:avLst/>
          </a:prstGeom>
        </p:spPr>
      </p:pic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EB010563-C701-4760-A308-EB1D6B2A7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872" y="621792"/>
            <a:ext cx="676656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100" b="1">
                <a:solidFill>
                  <a:srgbClr val="E8F1F2"/>
                </a:solidFill>
                <a:latin typeface="Aptos"/>
                <a:ea typeface="Aptos"/>
                <a:cs typeface="Aptos"/>
              </a:rPr>
              <a:t>Pertemuan 13–16 | Integrasi, riset, reproducibility, presentasi, dan proyek akhir</a:t>
            </a:r>
          </a:p>
        </p:txBody>
      </p:sp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FD6BFF51-F364-4AF3-8950-A8034167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267712"/>
            <a:ext cx="896112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6329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Bagian III</a:t>
            </a:r>
          </a:p>
          <a:p xmlns:a="http://schemas.openxmlformats.org/drawingml/2006/main">
            <a:pPr marL="0" indent="0" algn="l">
              <a:buNone/>
            </a:pPr>
            <a:r>
              <a:rPr sz="42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Riset, Reproducibility &amp; Project</a:t>
            </a: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E5F92641-CD3F-44E2-A69D-9D20B169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03320"/>
            <a:ext cx="3182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  <p:extLst>
      <p:ext uri="{BB962C8B-B14F-4D97-AF65-F5344CB8AC3E}">
        <p14:creationId xmlns:p14="http://schemas.microsoft.com/office/powerpoint/2010/main" val="17937984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5888648ee4a9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Riset, Reproducibility, dan Proposal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Kontribusi ilmiah tumbuh dari masalah, bukti, metode,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Rumusan masalah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pertanyaan yang jelas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Peta literatur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metode dan kelemahan studi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Kontribusi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nilai tambah yang dapat diuji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Data &amp; desain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sumber, unit, dan kualitas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Validasi eksternal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uji generalisasi hasil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Explainability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mengapa hasil bekerja/gagal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kode, seed, dan environment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Etika &amp; governance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privasi, akses, dan dampak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57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Struktur proyek: masalah → data → metode → asumsi → validasi → hasil → keterbatasan → rekomendasi → dampak.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F6B9EFED-611A-44E7-A3E3-2A5F2AB8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62870BBB-C9D7-4DB6-99AC-0146D3118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5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b5388fb28042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06CF4F2-4357-497B-A90A-A7244F35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4D4DB348-7FF5-4457-9081-4AD136185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Penilaian dan Ide Proyek Akhir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A40EE87-0094-4EA5-B899-96B62570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Bobot penilaian menggabungkan konsep, implementasi, validasi, komunikasi, dan riset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1754EFCF-5AE7-4128-9699-393BF9BC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23D9CA6C-2CC3-466B-A2B6-B7F42D53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C9E90992-DC11-44DB-AABB-3D10F82A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1793C0C-1112-44F7-8F9D-DDB50631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3852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D709FFDA-0499-4E90-854D-3D58C2DE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02082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Partisipasi, diskusi, kehadiran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CA26CE89-D4B3-447B-81A3-101F3BE66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02082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5DB9CA46-D6A4-45B6-AD39-04B165D46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BED2EABB-5F6B-4922-B9E6-17CE1534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45973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Kuis reflektif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C1A5187F-129E-43DB-97EE-F31057E6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45973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E7F65E2B-E66D-49F0-B8EE-4906A15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1635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F5EFBEDD-A609-470B-9FE2-D051FDEC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89864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Tugas konsep dan praktikum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0D055EF2-5A1C-4CC5-A4FD-71A01DFE1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289864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81A47932-68BE-4714-A077-E286B26C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55264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7ECC41BF-F55D-4C43-89E7-8969EFA0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37560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Presentasi hasil analisis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04A271E-2BA0-43BF-AA28-8EB8C37B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337560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E8E07469-9DD6-41E1-AE0E-AEC5F9036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694176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8C60E042-F716-4B7F-8B9F-DD837CE70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776472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>
                <a:solidFill>
                  <a:srgbClr val="1B263B"/>
                </a:solidFill>
                <a:latin typeface="Aptos"/>
                <a:ea typeface="Aptos"/>
                <a:cs typeface="Aptos"/>
              </a:rPr>
              <a:t>UTS berbasis kasus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4D159A37-0956-455C-8881-6721CB2F5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3776472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42BE7D48-ADCB-4CE4-AD8B-35C405E2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133088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BA0968BA-8AF8-474A-9275-FC2C00B38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215384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Laporan/proyek analisis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446309E4-BB92-4E47-B568-1D199EF0D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215384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98270D5C-92CC-4908-8C17-2BAF66F97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0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CDEF6F74-CBB5-45DE-8442-3BE63BADE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654296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Proposal riset dan presentasi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1BEC9ACA-EDC2-4E04-AE51-59C129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4654296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20%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5020008F-63B9-4EF6-81BE-D02B2263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010912"/>
            <a:ext cx="5486400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635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BBF85BD2-B55A-424E-B0B6-FB6890E3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5093208"/>
            <a:ext cx="42976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80" b="1">
                <a:solidFill>
                  <a:srgbClr val="1B263B"/>
                </a:solidFill>
                <a:latin typeface="Aptos"/>
                <a:ea typeface="Aptos"/>
                <a:cs typeface="Aptos"/>
              </a:rPr>
              <a:t>UAS proyek akhir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95C2AE80-C129-4A8A-8D9A-2D938B3E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3248" y="5093208"/>
            <a:ext cx="512064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4508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10%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C7D28216-92C9-4C57-BED3-31D62A9A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F1FC3704-F8AF-4B5A-BD79-0E402AD2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Central Rates of Multiple…</a:t>
            </a:r>
          </a:p>
        </p:txBody>
      </p:sp>
      <p:sp>
        <p:nvSpPr>
          <p:cNvPr id="37" name="Shape 34">
            <a:extLst xmlns:a="http://schemas.openxmlformats.org/drawingml/2006/main">
              <a:ext uri="{FF2B5EF4-FFF2-40B4-BE49-F238E27FC236}">
                <a16:creationId xmlns:a16="http://schemas.microsoft.com/office/drawing/2014/main" id="{2E648738-0414-404D-AA88-C4933B2E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1993392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Text 35">
            <a:extLst xmlns:a="http://schemas.openxmlformats.org/drawingml/2006/main">
              <a:ext uri="{FF2B5EF4-FFF2-40B4-BE49-F238E27FC236}">
                <a16:creationId xmlns:a16="http://schemas.microsoft.com/office/drawing/2014/main" id="{274DB9B7-AF65-4D18-8398-47CE6BFA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075688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Konstruksi dan Implementasi MD…</a:t>
            </a:r>
          </a:p>
        </p:txBody>
      </p:sp>
      <p:sp>
        <p:nvSpPr>
          <p:cNvPr id="39" name="Shape 36">
            <a:extLst xmlns:a="http://schemas.openxmlformats.org/drawingml/2006/main">
              <a:ext uri="{FF2B5EF4-FFF2-40B4-BE49-F238E27FC236}">
                <a16:creationId xmlns:a16="http://schemas.microsoft.com/office/drawing/2014/main" id="{FDDD4247-EF11-40CC-A301-3C8701B7A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0" name="Text 37">
            <a:extLst xmlns:a="http://schemas.openxmlformats.org/drawingml/2006/main">
              <a:ext uri="{FF2B5EF4-FFF2-40B4-BE49-F238E27FC236}">
                <a16:creationId xmlns:a16="http://schemas.microsoft.com/office/drawing/2014/main" id="{661DD391-B789-484D-8331-8060B1923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Insurance dan Annuity: Continuous…</a:t>
            </a:r>
          </a:p>
        </p:txBody>
      </p:sp>
      <p:sp>
        <p:nvSpPr>
          <p:cNvPr id="41" name="Shape 38">
            <a:extLst xmlns:a="http://schemas.openxmlformats.org/drawingml/2006/main">
              <a:ext uri="{FF2B5EF4-FFF2-40B4-BE49-F238E27FC236}">
                <a16:creationId xmlns:a16="http://schemas.microsoft.com/office/drawing/2014/main" id="{E9F5C8AA-FD58-495B-97DB-89A1941C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2752344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39">
            <a:extLst xmlns:a="http://schemas.openxmlformats.org/drawingml/2006/main">
              <a:ext uri="{FF2B5EF4-FFF2-40B4-BE49-F238E27FC236}">
                <a16:creationId xmlns:a16="http://schemas.microsoft.com/office/drawing/2014/main" id="{1C626B5C-9759-4298-9CAE-6849625A7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834640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Perhitungan Benefit Premium</a:t>
            </a:r>
          </a:p>
        </p:txBody>
      </p:sp>
      <p:sp>
        <p:nvSpPr>
          <p:cNvPr id="43" name="Shape 40">
            <a:extLst xmlns:a="http://schemas.openxmlformats.org/drawingml/2006/main">
              <a:ext uri="{FF2B5EF4-FFF2-40B4-BE49-F238E27FC236}">
                <a16:creationId xmlns:a16="http://schemas.microsoft.com/office/drawing/2014/main" id="{FD33845F-F8D8-427A-A3B4-11503FE5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4" name="Text 41">
            <a:extLst xmlns:a="http://schemas.openxmlformats.org/drawingml/2006/main">
              <a:ext uri="{FF2B5EF4-FFF2-40B4-BE49-F238E27FC236}">
                <a16:creationId xmlns:a16="http://schemas.microsoft.com/office/drawing/2014/main" id="{FD92DE7F-D5AA-4B6D-A34A-2B28C72EC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Perhitungan Benefit Reserve</a:t>
            </a:r>
          </a:p>
        </p:txBody>
      </p:sp>
      <p:sp>
        <p:nvSpPr>
          <p:cNvPr id="45" name="Shape 42">
            <a:extLst xmlns:a="http://schemas.openxmlformats.org/drawingml/2006/main">
              <a:ext uri="{FF2B5EF4-FFF2-40B4-BE49-F238E27FC236}">
                <a16:creationId xmlns:a16="http://schemas.microsoft.com/office/drawing/2014/main" id="{AE5FD935-AAE1-4895-B820-A040201E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0" y="3511296"/>
            <a:ext cx="1783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6" name="Text 43">
            <a:extLst xmlns:a="http://schemas.openxmlformats.org/drawingml/2006/main">
              <a:ext uri="{FF2B5EF4-FFF2-40B4-BE49-F238E27FC236}">
                <a16:creationId xmlns:a16="http://schemas.microsoft.com/office/drawing/2014/main" id="{22093043-65B6-4AB8-A856-A4D8E6FD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3593592"/>
            <a:ext cx="1636776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5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UAS: Solusi Inovatif Produk…</a:t>
            </a:r>
          </a:p>
        </p:txBody>
      </p:sp>
      <p:sp>
        <p:nvSpPr>
          <p:cNvPr id="47" name="Text 44">
            <a:extLst xmlns:a="http://schemas.openxmlformats.org/drawingml/2006/main">
              <a:ext uri="{FF2B5EF4-FFF2-40B4-BE49-F238E27FC236}">
                <a16:creationId xmlns:a16="http://schemas.microsoft.com/office/drawing/2014/main" id="{09440E2F-DEAC-49B4-B441-9F302FF9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897880"/>
            <a:ext cx="102412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280">
                <a:solidFill>
                  <a:srgbClr val="53657D"/>
                </a:solidFill>
                <a:latin typeface="Aptos"/>
                <a:ea typeface="Aptos"/>
                <a:cs typeface="Aptos"/>
              </a:rPr>
              <a:t>Rubrik proyek: relevansi 20%, metodologi 25%, evaluasi 20%, interpretasi 15%, reproducibility 10%, komunikasi 10%.</a:t>
            </a:r>
          </a:p>
        </p:txBody>
      </p:sp>
    </p:spTree>
    <p:extLst>
      <p:ext uri="{BB962C8B-B14F-4D97-AF65-F5344CB8AC3E}">
        <p14:creationId xmlns:p14="http://schemas.microsoft.com/office/powerpoint/2010/main" val="121907586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B88D1-0B26-4021-963F-A1E8C610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BD2B46C-C789-41FD-8087-6D977BD08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31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bca4ad2fe240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12CDB11B-9226-43AC-A584-B65F8E13F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B74DF8AF-ECA6-466B-AB79-D194D78BA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Matriks Pemilihan Metode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882E57B5-B8F6-4CB2-A4C0-6D6448BB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Menautkan karakteristik masalah dengan pendekatan dan strategi evaluasi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B93F6A4A-9FC3-4C21-9496-767FCC16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68ABC00A-88A7-4835-A94E-D613E41D8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7F2CD053-1A03-44BB-B1F4-B6D41B63F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6B629536-3BB8-4FD2-A953-BCE3F4BAB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43E5DFFC-AA38-4B2F-8653-164EFD84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Fondasi masalah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Pendahuluan Multiple Life…</a:t>
            </a:r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3C8D03F3-E327-413F-9FDB-2D06BDB56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89B19B87-F8F9-4E0C-9B1B-C35C56703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Struktur data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Joint Distributions of…</a:t>
            </a:r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21D7BC76-A84A-43C3-99EF-F26A4675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197510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58D02B2-9F3D-4CF2-AD4E-B615EBEDD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205740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Metode inti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Produk Asuransi Dua…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41102A6A-5BC5-4769-AFF9-28FC2C5D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784E6AC7-A1F9-4617-A100-8480A7EB7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Evaluasi tengah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UTS: Evaluasi Produk dan…</a:t>
            </a:r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EF118AB3-FAAA-4614-B4AC-703D6E659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655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ADDD9BE5-D9AE-4CB3-96C8-DBE901FA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70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Pemodelan lanjut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Associated Single…</a:t>
            </a:r>
          </a:p>
        </p:txBody>
      </p:sp>
      <p:sp>
        <p:nvSpPr>
          <p:cNvPr id="21" name="Shape 18">
            <a:extLst xmlns:a="http://schemas.openxmlformats.org/drawingml/2006/main">
              <a:ext uri="{FF2B5EF4-FFF2-40B4-BE49-F238E27FC236}">
                <a16:creationId xmlns:a16="http://schemas.microsoft.com/office/drawing/2014/main" id="{61756880-82D0-45C5-91EE-0D562DC8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9872" y="3026664"/>
            <a:ext cx="3063240" cy="7132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9AB16C6E-1472-46D7-94BD-C0940B94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3024" y="3108960"/>
            <a:ext cx="2916936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Integrasi &amp; proyek</a:t>
            </a:r>
          </a:p>
          <a:p xmlns:a="http://schemas.openxmlformats.org/drawingml/2006/main">
            <a:pPr marL="0" indent="0" algn="ctr">
              <a:buNone/>
            </a:pPr>
            <a:r>
              <a:rPr sz="104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Perhitungan Benefit…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8E2FBA39-24AB-45FD-8B74-6BFDDAA6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21B3BF64-4CFE-4F09-9BCC-0560F0D8A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8708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Pilihan metode = tujuan + struktur data + asumsi</a:t>
            </a:r>
          </a:p>
        </p:txBody>
      </p:sp>
      <p:sp>
        <p:nvSpPr>
          <p:cNvPr id="25" name="Shape 22">
            <a:extLst xmlns:a="http://schemas.openxmlformats.org/drawingml/2006/main">
              <a:ext uri="{FF2B5EF4-FFF2-40B4-BE49-F238E27FC236}">
                <a16:creationId xmlns:a16="http://schemas.microsoft.com/office/drawing/2014/main" id="{D9CD2F70-53F3-4E13-9355-4185E6654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572000"/>
            <a:ext cx="4480560" cy="5943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B9CBD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3">
            <a:extLst xmlns:a="http://schemas.openxmlformats.org/drawingml/2006/main">
              <a:ext uri="{FF2B5EF4-FFF2-40B4-BE49-F238E27FC236}">
                <a16:creationId xmlns:a16="http://schemas.microsoft.com/office/drawing/2014/main" id="{C75D38D1-1469-4455-8CCA-5D23EDEC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0872"/>
            <a:ext cx="4206240" cy="3749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ctr">
            <a:normAutofit fontScale="92294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5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Keputusan model = validasi + interpretasi + dampak</a:t>
            </a:r>
          </a:p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5B699F67-F68D-47A1-BDB2-DCB0BC0A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532120"/>
            <a:ext cx="1014984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Metode terbaik adalah metode yang menjawab masalah secara sahih, transparan, stabil, dan proporsional.</a:t>
            </a:r>
          </a:p>
        </p:txBody>
      </p:sp>
    </p:spTree>
    <p:extLst>
      <p:ext uri="{BB962C8B-B14F-4D97-AF65-F5344CB8AC3E}">
        <p14:creationId xmlns:p14="http://schemas.microsoft.com/office/powerpoint/2010/main" val="136404291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895542E7-867C-4213-BEBB-5BA086F3D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011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1BA8F0C9-3A49-4006-8BF2-B1084E3D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01168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40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f56f44063b4a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4048" y="393192"/>
            <a:ext cx="438912" cy="438912"/>
          </a:xfrm>
          <a:prstGeom xmlns:a="http://schemas.openxmlformats.org/drawingml/2006/main" prst="rect">
            <a:avLst/>
          </a:prstGeom>
        </p:spPr>
      </p:pic>
      <p:sp>
        <p:nvSpPr>
          <p:cNvPr id="5" name="Text 2">
            <a:extLst xmlns:a="http://schemas.openxmlformats.org/drawingml/2006/main">
              <a:ext uri="{FF2B5EF4-FFF2-40B4-BE49-F238E27FC236}">
                <a16:creationId xmlns:a16="http://schemas.microsoft.com/office/drawing/2014/main" id="{484CCED3-DC0D-49C7-A728-39D384049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9768"/>
            <a:ext cx="69494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 b="1">
                <a:solidFill>
                  <a:srgbClr val="53657D"/>
                </a:solidFill>
                <a:latin typeface="Aptos"/>
                <a:ea typeface="Aptos"/>
                <a:cs typeface="Aptos"/>
              </a:rPr>
              <a:t>S2 Statistika Terapan | FMIPA Universitas Padjadjaran</a:t>
            </a:r>
          </a:p>
        </p:txBody>
      </p:sp>
      <p:sp>
        <p:nvSpPr>
          <p:cNvPr id="6" name="Text 3">
            <a:extLst xmlns:a="http://schemas.openxmlformats.org/drawingml/2006/main">
              <a:ext uri="{FF2B5EF4-FFF2-40B4-BE49-F238E27FC236}">
                <a16:creationId xmlns:a16="http://schemas.microsoft.com/office/drawing/2014/main" id="{5DAD03D7-B987-46DB-858A-D8F3A5D6C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868680"/>
            <a:ext cx="9372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500" b="1">
                <a:solidFill>
                  <a:srgbClr val="12355B"/>
                </a:solidFill>
                <a:latin typeface="Aptos Display"/>
                <a:ea typeface="Aptos Display"/>
                <a:cs typeface="Aptos Display"/>
              </a:rPr>
              <a:t>Pertanyaan Diskusi Kelas</a:t>
            </a:r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799AB669-9438-4142-8723-74A94DF59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1325880"/>
            <a:ext cx="8961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50">
                <a:solidFill>
                  <a:srgbClr val="53657D"/>
                </a:solidFill>
                <a:latin typeface="Aptos"/>
                <a:ea typeface="Aptos"/>
                <a:cs typeface="Aptos"/>
              </a:rPr>
              <a:t>Menguji penalaran mahasiswa terhadap asumsi, data, model, validasi, dan dampak</a:t>
            </a: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3AAB5AAF-3882-4A61-AC6A-7FC8D01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82496"/>
            <a:ext cx="1118311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6E4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4B489B14-C9C3-4956-9D3C-CF0879468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7664" y="6327648"/>
            <a:ext cx="5486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53657D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1F3C5FC4-220C-4F11-BF71-4FAAC36D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064" y="6419088"/>
            <a:ext cx="621792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720">
                <a:solidFill>
                  <a:srgbClr val="7B8794"/>
                </a:solidFill>
                <a:latin typeface="Aptos"/>
                <a:ea typeface="Aptos"/>
                <a:cs typeface="Aptos"/>
              </a:rPr>
              <a:t>Materi Matematika Aktuaria 2 | Sumber HTML</a:t>
            </a:r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BB5418D1-58F1-4D54-85CC-9222A7B0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16221C98-B116-49A2-A9F0-5B9251571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2364AA"/>
                </a:solidFill>
                <a:latin typeface="Aptos"/>
                <a:ea typeface="Aptos"/>
                <a:cs typeface="Aptos"/>
              </a:rPr>
              <a:t>Q1 · Asumsi apa yang</a:t>
            </a:r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5C5CA4C6-2E09-47DA-A244-29071FEF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 krusial…</a:t>
            </a:r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DC1EA41D-4122-47A8-A7D7-CE29037B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A649AFCF-18F6-4319-970F-18D497AEE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B998B"/>
                </a:solidFill>
                <a:latin typeface="Aptos"/>
                <a:ea typeface="Aptos"/>
                <a:cs typeface="Aptos"/>
              </a:rPr>
              <a:t>Q2 · Bagaimana…</a:t>
            </a:r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0EEF2788-C5CE-446A-AEA8-929E2B0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memilih antara…</a:t>
            </a:r>
          </a:p>
        </p:txBody>
      </p:sp>
      <p:sp>
        <p:nvSpPr>
          <p:cNvPr id="17" name="Shape 14">
            <a:extLst xmlns:a="http://schemas.openxmlformats.org/drawingml/2006/main">
              <a:ext uri="{FF2B5EF4-FFF2-40B4-BE49-F238E27FC236}">
                <a16:creationId xmlns:a16="http://schemas.microsoft.com/office/drawing/2014/main" id="{F2629AC7-F592-4A74-8221-FD9A1E45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484535E1-E3C8-4D17-A4F7-1014D274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58220"/>
                </a:solidFill>
                <a:latin typeface="Aptos"/>
                <a:ea typeface="Aptos"/>
                <a:cs typeface="Aptos"/>
              </a:rPr>
              <a:t>Q3 · Kapan hasil…</a:t>
            </a:r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962EAA8-B632-4318-A7A8-15C8D4024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Kapan hasil model dianggap…</a:t>
            </a:r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CEAC735A-782C-4404-B269-D07C3C9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1920240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CBD23621-07FF-4B5B-B95A-D11099CCD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066544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006B3F"/>
                </a:solidFill>
                <a:latin typeface="Aptos"/>
                <a:ea typeface="Aptos"/>
                <a:cs typeface="Aptos"/>
              </a:rPr>
              <a:t>Q4 · Bagaimana…</a:t>
            </a:r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0F7FA5B1-4F35-4683-AE9B-C33A41FA4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2313432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mendeteksi bias…</a:t>
            </a:r>
          </a:p>
        </p:txBody>
      </p:sp>
      <p:sp>
        <p:nvSpPr>
          <p:cNvPr id="23" name="Shape 20">
            <a:extLst xmlns:a="http://schemas.openxmlformats.org/drawingml/2006/main">
              <a:ext uri="{FF2B5EF4-FFF2-40B4-BE49-F238E27FC236}">
                <a16:creationId xmlns:a16="http://schemas.microsoft.com/office/drawing/2014/main" id="{78C22BF7-B1A2-4CDB-8DCD-9057D0E3D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1">
            <a:extLst xmlns:a="http://schemas.openxmlformats.org/drawingml/2006/main">
              <a:ext uri="{FF2B5EF4-FFF2-40B4-BE49-F238E27FC236}">
                <a16:creationId xmlns:a16="http://schemas.microsoft.com/office/drawing/2014/main" id="{5A1B5D56-487E-45DC-BC86-A476CEC3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C8452D"/>
                </a:solidFill>
                <a:latin typeface="Aptos"/>
                <a:ea typeface="Aptos"/>
                <a:cs typeface="Aptos"/>
              </a:rPr>
              <a:t>Q5 · Bagaimana…</a:t>
            </a:r>
          </a:p>
        </p:txBody>
      </p:sp>
      <p:sp>
        <p:nvSpPr>
          <p:cNvPr id="25" name="Text 22">
            <a:extLst xmlns:a="http://schemas.openxmlformats.org/drawingml/2006/main">
              <a:ext uri="{FF2B5EF4-FFF2-40B4-BE49-F238E27FC236}">
                <a16:creationId xmlns:a16="http://schemas.microsoft.com/office/drawing/2014/main" id="{81BCCE8F-40D6-4260-B0E7-D74AB263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menyampaikan…</a:t>
            </a:r>
          </a:p>
        </p:txBody>
      </p:sp>
      <p:sp>
        <p:nvSpPr>
          <p:cNvPr id="26" name="Shape 23">
            <a:extLst xmlns:a="http://schemas.openxmlformats.org/drawingml/2006/main">
              <a:ext uri="{FF2B5EF4-FFF2-40B4-BE49-F238E27FC236}">
                <a16:creationId xmlns:a16="http://schemas.microsoft.com/office/drawing/2014/main" id="{233A8E5D-6B1E-476B-8E2E-A303D6AEF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Text 24">
            <a:extLst xmlns:a="http://schemas.openxmlformats.org/drawingml/2006/main">
              <a:ext uri="{FF2B5EF4-FFF2-40B4-BE49-F238E27FC236}">
                <a16:creationId xmlns:a16="http://schemas.microsoft.com/office/drawing/2014/main" id="{7D7EC37B-F76D-4715-889D-07BD90C9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5B5FC7"/>
                </a:solidFill>
                <a:latin typeface="Aptos"/>
                <a:ea typeface="Aptos"/>
                <a:cs typeface="Aptos"/>
              </a:rPr>
              <a:t>Q6 · Apa risiko bias</a:t>
            </a:r>
          </a:p>
        </p:txBody>
      </p:sp>
      <p:sp>
        <p:nvSpPr>
          <p:cNvPr id="28" name="Text 25">
            <a:extLst xmlns:a="http://schemas.openxmlformats.org/drawingml/2006/main">
              <a:ext uri="{FF2B5EF4-FFF2-40B4-BE49-F238E27FC236}">
                <a16:creationId xmlns:a16="http://schemas.microsoft.com/office/drawing/2014/main" id="{92D28222-7980-497C-B0DB-5FE19DC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Apa risiko bias dan kegagalan…</a:t>
            </a:r>
          </a:p>
        </p:txBody>
      </p:sp>
      <p:sp>
        <p:nvSpPr>
          <p:cNvPr id="29" name="Shape 26">
            <a:extLst xmlns:a="http://schemas.openxmlformats.org/drawingml/2006/main">
              <a:ext uri="{FF2B5EF4-FFF2-40B4-BE49-F238E27FC236}">
                <a16:creationId xmlns:a16="http://schemas.microsoft.com/office/drawing/2014/main" id="{AEB32176-E709-4193-A0FA-3B07B15A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2784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4E8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0" name="Text 27">
            <a:extLst xmlns:a="http://schemas.openxmlformats.org/drawingml/2006/main">
              <a:ext uri="{FF2B5EF4-FFF2-40B4-BE49-F238E27FC236}">
                <a16:creationId xmlns:a16="http://schemas.microsoft.com/office/drawing/2014/main" id="{6EC37051-DA01-448C-8D2E-9B7185E3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12355B"/>
                </a:solidFill>
                <a:latin typeface="Aptos"/>
                <a:ea typeface="Aptos"/>
                <a:cs typeface="Aptos"/>
              </a:rPr>
              <a:t>Q7 · Asumsi apa yang</a:t>
            </a:r>
          </a:p>
        </p:txBody>
      </p:sp>
      <p:sp>
        <p:nvSpPr>
          <p:cNvPr id="31" name="Text 28">
            <a:extLst xmlns:a="http://schemas.openxmlformats.org/drawingml/2006/main">
              <a:ext uri="{FF2B5EF4-FFF2-40B4-BE49-F238E27FC236}">
                <a16:creationId xmlns:a16="http://schemas.microsoft.com/office/drawing/2014/main" id="{985BA261-B353-4137-B60B-EDDBC4B19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Asumsi apa yang paling…</a:t>
            </a:r>
          </a:p>
        </p:txBody>
      </p:sp>
      <p:sp>
        <p:nvSpPr>
          <p:cNvPr id="32" name="Shape 29">
            <a:extLst xmlns:a="http://schemas.openxmlformats.org/drawingml/2006/main">
              <a:ext uri="{FF2B5EF4-FFF2-40B4-BE49-F238E27FC236}">
                <a16:creationId xmlns:a16="http://schemas.microsoft.com/office/drawing/2014/main" id="{E03FEF1B-86CA-44E7-9574-B731AC80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136" y="2944368"/>
            <a:ext cx="242316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6"/>
          </a:solidFill>
          <a:ln xmlns:a="http://schemas.openxmlformats.org/drawingml/2006/main" w="12700">
            <a:solidFill>
              <a:srgbClr val="D7E2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Text 30">
            <a:extLst xmlns:a="http://schemas.openxmlformats.org/drawingml/2006/main">
              <a:ext uri="{FF2B5EF4-FFF2-40B4-BE49-F238E27FC236}">
                <a16:creationId xmlns:a16="http://schemas.microsoft.com/office/drawing/2014/main" id="{6646FD66-397F-443D-856C-DB32A6BA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090672"/>
            <a:ext cx="21488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0819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80" b="1">
                <a:solidFill>
                  <a:srgbClr val="F8C537"/>
                </a:solidFill>
                <a:latin typeface="Aptos"/>
                <a:ea typeface="Aptos"/>
                <a:cs typeface="Aptos"/>
              </a:rPr>
              <a:t>Q8 · Bagaimana…</a:t>
            </a:r>
          </a:p>
        </p:txBody>
      </p:sp>
      <p:sp>
        <p:nvSpPr>
          <p:cNvPr id="34" name="Text 31">
            <a:extLst xmlns:a="http://schemas.openxmlformats.org/drawingml/2006/main">
              <a:ext uri="{FF2B5EF4-FFF2-40B4-BE49-F238E27FC236}">
                <a16:creationId xmlns:a16="http://schemas.microsoft.com/office/drawing/2014/main" id="{AB678D02-16D9-4C76-803C-CD18C77DA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6296" y="3337560"/>
            <a:ext cx="2148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890">
                <a:solidFill>
                  <a:srgbClr val="1B263B"/>
                </a:solidFill>
                <a:latin typeface="Aptos"/>
                <a:ea typeface="Aptos"/>
                <a:cs typeface="Aptos"/>
              </a:rPr>
              <a:t>Bagaimana membandingkan dua…</a:t>
            </a:r>
          </a:p>
        </p:txBody>
      </p:sp>
      <p:sp>
        <p:nvSpPr>
          <p:cNvPr id="35" name="Shape 32">
            <a:extLst xmlns:a="http://schemas.openxmlformats.org/drawingml/2006/main">
              <a:ext uri="{FF2B5EF4-FFF2-40B4-BE49-F238E27FC236}">
                <a16:creationId xmlns:a16="http://schemas.microsoft.com/office/drawing/2014/main" id="{480577D5-1941-4CE0-B4D3-361415E3D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754880"/>
            <a:ext cx="9921240" cy="78638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F36"/>
          </a:solidFill>
          <a:ln xmlns:a="http://schemas.openxmlformats.org/drawingml/2006/main" w="12700">
            <a:solidFill>
              <a:srgbClr val="0B1F3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6" name="Text 33">
            <a:extLst xmlns:a="http://schemas.openxmlformats.org/drawingml/2006/main">
              <a:ext uri="{FF2B5EF4-FFF2-40B4-BE49-F238E27FC236}">
                <a16:creationId xmlns:a16="http://schemas.microsoft.com/office/drawing/2014/main" id="{3A9DEDA7-AC66-45EF-AE44-66FBF313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029200"/>
            <a:ext cx="928116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2802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Diskusi kuat = asumsi eksplisit → bukti relevan → perbandingan adil → keterbatasan jujur → rekomendasi proporsional.</a:t>
            </a:r>
          </a:p>
        </p:txBody>
      </p:sp>
    </p:spTree>
    <p:extLst>
      <p:ext uri="{BB962C8B-B14F-4D97-AF65-F5344CB8AC3E}">
        <p14:creationId xmlns:p14="http://schemas.microsoft.com/office/powerpoint/2010/main" val="80065788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071B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65eeb0004f48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hape 0">
            <a:extLst xmlns:a="http://schemas.openxmlformats.org/drawingml/2006/main">
              <a:ext uri="{FF2B5EF4-FFF2-40B4-BE49-F238E27FC236}">
                <a16:creationId xmlns:a16="http://schemas.microsoft.com/office/drawing/2014/main" id="{6FC45BF7-19EF-4C6A-B5F8-5CE4FF20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36000"/>
            </a:srgbClr>
          </a:solidFill>
          <a:ln xmlns:a="http://schemas.openxmlformats.org/drawingml/2006/main" w="1270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1">
            <a:extLst xmlns:a="http://schemas.openxmlformats.org/drawingml/2006/main">
              <a:ext uri="{FF2B5EF4-FFF2-40B4-BE49-F238E27FC236}">
                <a16:creationId xmlns:a16="http://schemas.microsoft.com/office/drawing/2014/main" id="{790578D3-3870-442C-9FE1-5C0301CD8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25603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220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2">
            <a:extLst xmlns:a="http://schemas.openxmlformats.org/drawingml/2006/main">
              <a:ext uri="{FF2B5EF4-FFF2-40B4-BE49-F238E27FC236}">
                <a16:creationId xmlns:a16="http://schemas.microsoft.com/office/drawing/2014/main" id="{9E676937-F275-4418-A394-523D8069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56032"/>
            <a:ext cx="1219169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998B"/>
          </a:solidFill>
          <a:ln xmlns:a="http://schemas.openxmlformats.org/drawingml/2006/main" w="12700">
            <a:solidFill>
              <a:srgbClr val="FFFF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pic>
        <p:nvPicPr>
          <p:cNvPr id="1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11d37debd248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0080" y="658368"/>
            <a:ext cx="694944" cy="694944"/>
          </a:xfrm>
          <a:prstGeom xmlns:a="http://schemas.openxmlformats.org/drawingml/2006/main" prst="rect">
            <a:avLst/>
          </a:prstGeom>
        </p:spPr>
      </p:pic>
      <p:sp>
        <p:nvSpPr>
          <p:cNvPr id="7" name="Text 3">
            <a:extLst xmlns:a="http://schemas.openxmlformats.org/drawingml/2006/main">
              <a:ext uri="{FF2B5EF4-FFF2-40B4-BE49-F238E27FC236}">
                <a16:creationId xmlns:a16="http://schemas.microsoft.com/office/drawing/2014/main" id="{48DBB001-47A9-4DA0-95C1-E4ABA958D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850392"/>
            <a:ext cx="4389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DCECF3"/>
                </a:solidFill>
                <a:latin typeface="Aptos"/>
                <a:ea typeface="Aptos"/>
                <a:cs typeface="Aptos"/>
              </a:rPr>
              <a:t>Matematika Aktuaria 2</a:t>
            </a:r>
          </a:p>
        </p:txBody>
      </p:sp>
      <p:sp>
        <p:nvSpPr>
          <p:cNvPr id="8" name="Text 4">
            <a:extLst xmlns:a="http://schemas.openxmlformats.org/drawingml/2006/main">
              <a:ext uri="{FF2B5EF4-FFF2-40B4-BE49-F238E27FC236}">
                <a16:creationId xmlns:a16="http://schemas.microsoft.com/office/drawing/2014/main" id="{ABC4EEE9-D41F-4061-879D-9838FB374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676656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 mempercepat proses,</a:t>
            </a:r>
          </a:p>
          <a:p xmlns:a="http://schemas.openxmlformats.org/drawingml/2006/main">
            <a:pPr marL="0" indent="0" algn="l">
              <a:buNone/>
            </a:pPr>
            <a:r>
              <a:rPr sz="38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penalaran tetap memimpin</a:t>
            </a:r>
          </a:p>
        </p:txBody>
      </p:sp>
      <p:sp>
        <p:nvSpPr>
          <p:cNvPr id="9" name="Shape 5">
            <a:extLst xmlns:a="http://schemas.openxmlformats.org/drawingml/2006/main">
              <a:ext uri="{FF2B5EF4-FFF2-40B4-BE49-F238E27FC236}">
                <a16:creationId xmlns:a16="http://schemas.microsoft.com/office/drawing/2014/main" id="{72FB0791-7395-4489-9311-6079AA34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547872"/>
            <a:ext cx="3044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F58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6">
            <a:extLst xmlns:a="http://schemas.openxmlformats.org/drawingml/2006/main">
              <a:ext uri="{FF2B5EF4-FFF2-40B4-BE49-F238E27FC236}">
                <a16:creationId xmlns:a16="http://schemas.microsoft.com/office/drawing/2014/main" id="{46FFFF1D-C58B-464C-9FCC-36923274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4069080"/>
            <a:ext cx="6492240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9362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600">
                <a:solidFill>
                  <a:srgbClr val="E8F1F2"/>
                </a:solidFill>
                <a:latin typeface="Aptos"/>
                <a:ea typeface="Aptos"/>
                <a:cs typeface="Aptos"/>
              </a:rPr>
              <a:t>Matematika Aktuaria 2 memadukan teori, data, komputasi, validasi, dan komunikasi. AI mempercepat eksplorasi dan pemeriksaan awal; mahasiswa tetap memverifikasi asumsi, kode, hasil numerik, ketidakpastian, sumber, dan dampak sebelum mengambil keputusan.</a:t>
            </a:r>
          </a:p>
        </p:txBody>
      </p:sp>
      <p:sp>
        <p:nvSpPr>
          <p:cNvPr id="11" name="Text 7">
            <a:extLst xmlns:a="http://schemas.openxmlformats.org/drawingml/2006/main">
              <a:ext uri="{FF2B5EF4-FFF2-40B4-BE49-F238E27FC236}">
                <a16:creationId xmlns:a16="http://schemas.microsoft.com/office/drawing/2014/main" id="{80DB6A87-009C-4BA2-92BC-34308252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6355080"/>
            <a:ext cx="5486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35" tIns="635" rIns="635" bIns="635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800">
                <a:solidFill>
                  <a:srgbClr val="D6E4EA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04101144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2026-07-26T23:34:22.1000000Z</dcterms:created>
  <dcterms:modified xsi:type="dcterms:W3CDTF">2026-07-26T23:34:22.1000000Z</dcterms:modified>
</coreProperties>
</file>