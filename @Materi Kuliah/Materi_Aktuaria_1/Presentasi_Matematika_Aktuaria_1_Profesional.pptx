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charts/chart1.xml" ContentType="application/vnd.openxmlformats-officedocument.drawingml.chart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charts/chart2.xml" ContentType="application/vnd.openxmlformats-officedocument.drawingml.chart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22" d="100"/>
          <a:sy n="122" d="100"/>
        </p:scale>
        <p:origin x="296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000000"/>
                </a:solidFill>
                <a:latin typeface="Aptos"/>
              </a:defRPr>
            </a:pPr>
            <a:r>
              <a:rPr sz="1100" b="0" i="0" u="none" strike="noStrike">
                <a:solidFill>
                  <a:srgbClr val="000000"/>
                </a:solidFill>
                <a:latin typeface="Aptos"/>
              </a:rPr>
              <a:t>Kurva Survival Ilustratif (μ = 0,012)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Survival</c:v>
                </c:pt>
              </c:strCache>
            </c:strRef>
          </c:tx>
          <c:spPr>
            <a:ln w="25400" cap="flat">
              <a:solidFill>
                <a:srgbClr val="C0504D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C0504D"/>
              </a:solidFill>
              <a:ln w="9525" cap="flat">
                <a:solidFill>
                  <a:srgbClr val="C0504D"/>
                </a:solidFill>
                <a:prstDash val="solid"/>
                <a:round/>
              </a:ln>
              <a:effectLst/>
            </c:spPr>
          </c:marker>
          <c:cat>
            <c:strRef>
              <c:f>Sheet1!$A$2:$A$10</c:f>
              <c:strCache>
                <c:ptCount val="9"/>
                <c:pt idx="0">
                  <c:v>0</c:v>
                </c:pt>
                <c:pt idx="1">
                  <c:v>5</c:v>
                </c:pt>
                <c:pt idx="2">
                  <c:v>10</c:v>
                </c:pt>
                <c:pt idx="3">
                  <c:v>15</c:v>
                </c:pt>
                <c:pt idx="4">
                  <c:v>20</c:v>
                </c:pt>
                <c:pt idx="5">
                  <c:v>25</c:v>
                </c:pt>
                <c:pt idx="6">
                  <c:v>30</c:v>
                </c:pt>
                <c:pt idx="7">
                  <c:v>35</c:v>
                </c:pt>
                <c:pt idx="8">
                  <c:v>40</c:v>
                </c:pt>
              </c:strCache>
            </c: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1</c:v>
                </c:pt>
                <c:pt idx="1">
                  <c:v>0.94199999999999995</c:v>
                </c:pt>
                <c:pt idx="2">
                  <c:v>0.88700000000000001</c:v>
                </c:pt>
                <c:pt idx="3">
                  <c:v>0.83499999999999996</c:v>
                </c:pt>
                <c:pt idx="4">
                  <c:v>0.78700000000000003</c:v>
                </c:pt>
                <c:pt idx="5">
                  <c:v>0.74099999999999999</c:v>
                </c:pt>
                <c:pt idx="6">
                  <c:v>0.69799999999999995</c:v>
                </c:pt>
                <c:pt idx="7">
                  <c:v>0.65700000000000003</c:v>
                </c:pt>
                <c:pt idx="8">
                  <c:v>0.61899999999999999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3EF0-9E4E-A4EF-70486FFED27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000000"/>
                </a:solidFill>
                <a:latin typeface="Aptos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100" b="0" i="0" u="none" strike="noStrike">
                <a:solidFill>
                  <a:srgbClr val="000000"/>
                </a:solidFill>
                <a:latin typeface="Aptos"/>
              </a:defRPr>
            </a:pPr>
            <a:r>
              <a:rPr sz="1100" b="0" i="0" u="none" strike="noStrike">
                <a:solidFill>
                  <a:srgbClr val="000000"/>
                </a:solidFill>
                <a:latin typeface="Aptos"/>
              </a:rPr>
              <a:t>Trajektori Cadangan Ilustratif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Cadangan</c:v>
                </c:pt>
              </c:strCache>
            </c:strRef>
          </c:tx>
          <c:spPr>
            <a:ln w="25400" cap="flat">
              <a:solidFill>
                <a:srgbClr val="C0504D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C0504D"/>
              </a:solidFill>
              <a:ln w="9525" cap="flat">
                <a:solidFill>
                  <a:srgbClr val="C0504D"/>
                </a:solidFill>
                <a:prstDash val="solid"/>
                <a:round/>
              </a:ln>
              <a:effectLst/>
            </c:spPr>
          </c:marker>
          <c:cat>
            <c:strRef>
              <c:f>Sheet1!$A$2:$A$12</c:f>
              <c:strCache>
                <c:ptCount val="11"/>
                <c:pt idx="0">
                  <c:v>0</c:v>
                </c:pt>
                <c:pt idx="1">
                  <c:v>3</c:v>
                </c:pt>
                <c:pt idx="2">
                  <c:v>6</c:v>
                </c:pt>
                <c:pt idx="3">
                  <c:v>9</c:v>
                </c:pt>
                <c:pt idx="4">
                  <c:v>12</c:v>
                </c:pt>
                <c:pt idx="5">
                  <c:v>15</c:v>
                </c:pt>
                <c:pt idx="6">
                  <c:v>18</c:v>
                </c:pt>
                <c:pt idx="7">
                  <c:v>21</c:v>
                </c:pt>
                <c:pt idx="8">
                  <c:v>24</c:v>
                </c:pt>
                <c:pt idx="9">
                  <c:v>27</c:v>
                </c:pt>
                <c:pt idx="10">
                  <c:v>30</c:v>
                </c:pt>
              </c:strCache>
            </c:strRef>
          </c:cat>
          <c:val>
            <c:numRef>
              <c:f>Sheet1!$B$2:$B$12</c:f>
              <c:numCache>
                <c:formatCode>General</c:formatCode>
                <c:ptCount val="11"/>
                <c:pt idx="0">
                  <c:v>-0.2</c:v>
                </c:pt>
                <c:pt idx="1">
                  <c:v>-9.0999999999999998E-2</c:v>
                </c:pt>
                <c:pt idx="2">
                  <c:v>1.0999999999999999E-2</c:v>
                </c:pt>
                <c:pt idx="3">
                  <c:v>0.105</c:v>
                </c:pt>
                <c:pt idx="4">
                  <c:v>0.19400000000000001</c:v>
                </c:pt>
                <c:pt idx="5">
                  <c:v>0.27800000000000002</c:v>
                </c:pt>
                <c:pt idx="6">
                  <c:v>0.35799999999999998</c:v>
                </c:pt>
                <c:pt idx="7">
                  <c:v>0.435</c:v>
                </c:pt>
                <c:pt idx="8">
                  <c:v>0.50900000000000001</c:v>
                </c:pt>
                <c:pt idx="9">
                  <c:v>0.58099999999999996</c:v>
                </c:pt>
                <c:pt idx="10">
                  <c:v>0.65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3939-8440-A92D-303AE5024EFC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592956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chart" Target="../charts/char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4" Type="http://schemas.openxmlformats.org/officeDocument/2006/relationships/chart" Target="../charts/char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F3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F5822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256032"/>
            <a:ext cx="12191695" cy="73152"/>
          </a:xfrm>
          <a:prstGeom prst="rect">
            <a:avLst/>
          </a:prstGeom>
          <a:solidFill>
            <a:srgbClr val="1B998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" name="Image 0" descr="/mnt/data/a_high_resolution_stylized_conceptual_finance_ac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26680" y="1097280"/>
            <a:ext cx="3611880" cy="2029968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>
              <a:alpha val="28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6" name="Image 1" descr="/mnt/data/unpad_logo_adwt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1792" y="676656"/>
            <a:ext cx="713232" cy="713232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481328" y="850392"/>
            <a:ext cx="562356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DCECF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S2 Statistika Terapan | FMIPA Universitas Padjadjaran</a:t>
            </a:r>
            <a:endParaRPr lang="en-US" sz="1200" dirty="0"/>
          </a:p>
        </p:txBody>
      </p:sp>
      <p:sp>
        <p:nvSpPr>
          <p:cNvPr id="8" name="Text 4"/>
          <p:cNvSpPr/>
          <p:nvPr/>
        </p:nvSpPr>
        <p:spPr>
          <a:xfrm>
            <a:off x="658368" y="1847088"/>
            <a:ext cx="6309360" cy="12344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4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Matematika</a:t>
            </a:r>
            <a:endParaRPr lang="en-US" sz="4400" dirty="0"/>
          </a:p>
          <a:p>
            <a:pPr marL="0" indent="0" algn="l">
              <a:buNone/>
            </a:pPr>
            <a:r>
              <a:rPr lang="en-US" sz="44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Aktuaria 1</a:t>
            </a:r>
            <a:endParaRPr lang="en-US" sz="4400" dirty="0"/>
          </a:p>
        </p:txBody>
      </p:sp>
      <p:sp>
        <p:nvSpPr>
          <p:cNvPr id="9" name="Text 5"/>
          <p:cNvSpPr/>
          <p:nvPr/>
        </p:nvSpPr>
        <p:spPr>
          <a:xfrm>
            <a:off x="704088" y="3346704"/>
            <a:ext cx="6492240" cy="3200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D6E4E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Deck pembelajaran profesional berbasis materi R Markdown HTML</a:t>
            </a:r>
            <a:endParaRPr lang="en-US" sz="1500" dirty="0"/>
          </a:p>
        </p:txBody>
      </p:sp>
      <p:sp>
        <p:nvSpPr>
          <p:cNvPr id="10" name="Shape 6"/>
          <p:cNvSpPr/>
          <p:nvPr/>
        </p:nvSpPr>
        <p:spPr>
          <a:xfrm>
            <a:off x="704088" y="3822192"/>
            <a:ext cx="3136392" cy="0"/>
          </a:xfrm>
          <a:prstGeom prst="line">
            <a:avLst/>
          </a:prstGeom>
          <a:noFill/>
          <a:ln w="63500">
            <a:solidFill>
              <a:srgbClr val="F58220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7"/>
          <p:cNvSpPr/>
          <p:nvPr/>
        </p:nvSpPr>
        <p:spPr>
          <a:xfrm>
            <a:off x="713232" y="4663440"/>
            <a:ext cx="7589520" cy="7772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350" dirty="0">
                <a:solidFill>
                  <a:srgbClr val="EFF7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Penulis materi: Dr. Lienda Noviyanti, M.Si</a:t>
            </a:r>
            <a:endParaRPr lang="en-US" sz="1350" dirty="0"/>
          </a:p>
          <a:p>
            <a:pPr marL="0" indent="0" algn="l">
              <a:buNone/>
            </a:pPr>
            <a:r>
              <a:rPr lang="en-US" sz="1350" dirty="0">
                <a:solidFill>
                  <a:srgbClr val="EFF7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Program: S2 Statistika Terapan FMIPA UNPAD</a:t>
            </a:r>
            <a:endParaRPr lang="en-US" sz="1350" dirty="0"/>
          </a:p>
          <a:p>
            <a:pPr marL="0" indent="0" algn="l">
              <a:buNone/>
            </a:pPr>
            <a:r>
              <a:rPr lang="en-US" sz="1350" dirty="0">
                <a:solidFill>
                  <a:srgbClr val="EFF7F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Januari 2025</a:t>
            </a:r>
            <a:endParaRPr lang="en-US" sz="1350" dirty="0"/>
          </a:p>
        </p:txBody>
      </p:sp>
      <p:sp>
        <p:nvSpPr>
          <p:cNvPr id="12" name="Shape 8"/>
          <p:cNvSpPr/>
          <p:nvPr/>
        </p:nvSpPr>
        <p:spPr>
          <a:xfrm>
            <a:off x="8549640" y="4681728"/>
            <a:ext cx="1234440" cy="292608"/>
          </a:xfrm>
          <a:prstGeom prst="roundRect">
            <a:avLst/>
          </a:prstGeom>
          <a:solidFill>
            <a:srgbClr val="1B998B"/>
          </a:solidFill>
          <a:ln w="6350">
            <a:solidFill>
              <a:srgbClr val="1B99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9"/>
          <p:cNvSpPr/>
          <p:nvPr/>
        </p:nvSpPr>
        <p:spPr>
          <a:xfrm>
            <a:off x="8604504" y="4754880"/>
            <a:ext cx="11247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8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Actuarial Math</a:t>
            </a:r>
            <a:endParaRPr lang="en-US" sz="820" dirty="0"/>
          </a:p>
        </p:txBody>
      </p:sp>
      <p:sp>
        <p:nvSpPr>
          <p:cNvPr id="14" name="Shape 10"/>
          <p:cNvSpPr/>
          <p:nvPr/>
        </p:nvSpPr>
        <p:spPr>
          <a:xfrm>
            <a:off x="10012680" y="4681728"/>
            <a:ext cx="1234440" cy="292608"/>
          </a:xfrm>
          <a:prstGeom prst="roundRect">
            <a:avLst/>
          </a:prstGeom>
          <a:solidFill>
            <a:srgbClr val="F58220"/>
          </a:solidFill>
          <a:ln w="6350">
            <a:solidFill>
              <a:srgbClr val="F582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1"/>
          <p:cNvSpPr/>
          <p:nvPr/>
        </p:nvSpPr>
        <p:spPr>
          <a:xfrm>
            <a:off x="10067544" y="4754880"/>
            <a:ext cx="11247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8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Life Insurance</a:t>
            </a:r>
            <a:endParaRPr lang="en-US" sz="820" dirty="0"/>
          </a:p>
        </p:txBody>
      </p:sp>
      <p:sp>
        <p:nvSpPr>
          <p:cNvPr id="16" name="Text 12"/>
          <p:cNvSpPr/>
          <p:nvPr/>
        </p:nvSpPr>
        <p:spPr>
          <a:xfrm>
            <a:off x="11064240" y="6355080"/>
            <a:ext cx="548640" cy="182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r">
              <a:buNone/>
            </a:pPr>
            <a:r>
              <a:rPr lang="en-US" sz="800" dirty="0">
                <a:solidFill>
                  <a:srgbClr val="D6E4E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F5822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201168"/>
            <a:ext cx="12191695" cy="73152"/>
          </a:xfrm>
          <a:prstGeom prst="rect">
            <a:avLst/>
          </a:prstGeom>
          <a:solidFill>
            <a:srgbClr val="1B998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" name="Image 0" descr="/mnt/data/unpad_logo_adwt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4048" y="393192"/>
            <a:ext cx="438912" cy="43891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14400" y="429768"/>
            <a:ext cx="6949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5365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S2 Statistika Terapan | FMIPA Universitas Padjadjaran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502920" y="868680"/>
            <a:ext cx="8961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1235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Posisi Mata Kuliah</a:t>
            </a:r>
            <a:endParaRPr lang="en-US" sz="2500" dirty="0"/>
          </a:p>
        </p:txBody>
      </p:sp>
      <p:sp>
        <p:nvSpPr>
          <p:cNvPr id="7" name="Text 4"/>
          <p:cNvSpPr/>
          <p:nvPr/>
        </p:nvSpPr>
        <p:spPr>
          <a:xfrm>
            <a:off x="512064" y="1325880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5365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Orientasi kemampuan: nilai waktu uang, mortalitas, premi, cadangan, dan inovasi produk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502920" y="1682496"/>
            <a:ext cx="11183112" cy="0"/>
          </a:xfrm>
          <a:prstGeom prst="line">
            <a:avLst/>
          </a:prstGeom>
          <a:noFill/>
          <a:ln w="12700">
            <a:solidFill>
              <a:srgbClr val="D6E4EA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11027664" y="6327648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buNone/>
            </a:pPr>
            <a:r>
              <a:rPr lang="en-US" sz="800" dirty="0">
                <a:solidFill>
                  <a:srgbClr val="5365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512064" y="6419088"/>
            <a:ext cx="62179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20" dirty="0">
                <a:solidFill>
                  <a:srgbClr val="7B87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Materi Matematika Aktuaria 1 | Januari 2025</a:t>
            </a:r>
            <a:endParaRPr lang="en-US" sz="720" dirty="0"/>
          </a:p>
        </p:txBody>
      </p:sp>
      <p:sp>
        <p:nvSpPr>
          <p:cNvPr id="11" name="Text 8"/>
          <p:cNvSpPr/>
          <p:nvPr/>
        </p:nvSpPr>
        <p:spPr>
          <a:xfrm>
            <a:off x="621792" y="1956816"/>
            <a:ext cx="5349240" cy="84124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235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Matematika aktuaria adalah bahasa kuantitatif untuk menilai janji pembayaran masa depan yang bergantung pada waktu dan risiko hidup.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658368" y="2971800"/>
            <a:ext cx="5257800" cy="20116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190500" indent="-190500">
              <a:buSzPct val="100000"/>
              <a:buChar char="•"/>
            </a:pPr>
            <a:r>
              <a:rPr lang="en-US" sz="1310" dirty="0">
                <a:solidFill>
                  <a:srgbClr val="1B26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Semester 2, bobot 3 SKS: 2 SKS teori dan 1 SKS praktikum.</a:t>
            </a:r>
            <a:endParaRPr lang="en-US" sz="1310" dirty="0"/>
          </a:p>
          <a:p>
            <a:pPr marL="190500" indent="-190500">
              <a:buSzPct val="100000"/>
              <a:buChar char="•"/>
            </a:pPr>
            <a:r>
              <a:rPr lang="en-US" sz="1310" dirty="0">
                <a:solidFill>
                  <a:srgbClr val="1B26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Fokus pada matematika keuangan dan probabilistik untuk asuransi jiwa.</a:t>
            </a:r>
            <a:endParaRPr lang="en-US" sz="1310" dirty="0"/>
          </a:p>
          <a:p>
            <a:pPr marL="190500" indent="-190500">
              <a:buSzPct val="100000"/>
              <a:buChar char="•"/>
            </a:pPr>
            <a:r>
              <a:rPr lang="en-US" sz="1310" dirty="0">
                <a:solidFill>
                  <a:srgbClr val="1B26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Mengintegrasikan teori, contoh numerik, interpretasi bisnis, latihan R, dan refleksi riset.</a:t>
            </a:r>
            <a:endParaRPr lang="en-US" sz="1310" dirty="0"/>
          </a:p>
          <a:p>
            <a:pPr marL="190500" indent="-190500">
              <a:buSzPct val="100000"/>
              <a:buChar char="•"/>
            </a:pPr>
            <a:r>
              <a:rPr lang="en-US" sz="1310" dirty="0">
                <a:solidFill>
                  <a:srgbClr val="1B26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Arah OBE: analitis, komputasional, dan inovasi riset aktuaria.</a:t>
            </a:r>
            <a:endParaRPr lang="en-US" sz="1310" dirty="0"/>
          </a:p>
        </p:txBody>
      </p:sp>
      <p:sp>
        <p:nvSpPr>
          <p:cNvPr id="13" name="Shape 10"/>
          <p:cNvSpPr/>
          <p:nvPr/>
        </p:nvSpPr>
        <p:spPr>
          <a:xfrm>
            <a:off x="6446520" y="1965960"/>
            <a:ext cx="4526280" cy="3017520"/>
          </a:xfrm>
          <a:prstGeom prst="roundRect">
            <a:avLst/>
          </a:prstGeom>
          <a:solidFill>
            <a:srgbClr val="EEF5F6"/>
          </a:solidFill>
          <a:ln w="12700">
            <a:solidFill>
              <a:srgbClr val="D7E2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6748272" y="2267712"/>
            <a:ext cx="3291840" cy="2743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235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Fokus Utama</a:t>
            </a:r>
            <a:endParaRPr lang="en-US" sz="1800" dirty="0"/>
          </a:p>
        </p:txBody>
      </p:sp>
      <p:sp>
        <p:nvSpPr>
          <p:cNvPr id="15" name="Shape 12"/>
          <p:cNvSpPr/>
          <p:nvPr/>
        </p:nvSpPr>
        <p:spPr>
          <a:xfrm>
            <a:off x="6748272" y="2788920"/>
            <a:ext cx="1691640" cy="292608"/>
          </a:xfrm>
          <a:prstGeom prst="roundRect">
            <a:avLst/>
          </a:prstGeom>
          <a:solidFill>
            <a:srgbClr val="2364AA"/>
          </a:solidFill>
          <a:ln w="6350">
            <a:solidFill>
              <a:srgbClr val="2364A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6803136" y="2862072"/>
            <a:ext cx="15819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8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Nilai waktu uang</a:t>
            </a:r>
            <a:endParaRPr lang="en-US" sz="820" dirty="0"/>
          </a:p>
        </p:txBody>
      </p:sp>
      <p:sp>
        <p:nvSpPr>
          <p:cNvPr id="17" name="Shape 14"/>
          <p:cNvSpPr/>
          <p:nvPr/>
        </p:nvSpPr>
        <p:spPr>
          <a:xfrm>
            <a:off x="8741664" y="2788920"/>
            <a:ext cx="1691640" cy="292608"/>
          </a:xfrm>
          <a:prstGeom prst="roundRect">
            <a:avLst/>
          </a:prstGeom>
          <a:solidFill>
            <a:srgbClr val="1B998B"/>
          </a:solidFill>
          <a:ln w="6350">
            <a:solidFill>
              <a:srgbClr val="1B99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/>
          <p:nvPr/>
        </p:nvSpPr>
        <p:spPr>
          <a:xfrm>
            <a:off x="8796528" y="2862072"/>
            <a:ext cx="15819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8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Tabel kehidupan</a:t>
            </a:r>
            <a:endParaRPr lang="en-US" sz="820" dirty="0"/>
          </a:p>
        </p:txBody>
      </p:sp>
      <p:sp>
        <p:nvSpPr>
          <p:cNvPr id="19" name="Shape 16"/>
          <p:cNvSpPr/>
          <p:nvPr/>
        </p:nvSpPr>
        <p:spPr>
          <a:xfrm>
            <a:off x="6748272" y="3410712"/>
            <a:ext cx="1691640" cy="292608"/>
          </a:xfrm>
          <a:prstGeom prst="roundRect">
            <a:avLst/>
          </a:prstGeom>
          <a:solidFill>
            <a:srgbClr val="F58220"/>
          </a:solidFill>
          <a:ln w="6350">
            <a:solidFill>
              <a:srgbClr val="F582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/>
          <p:nvPr/>
        </p:nvSpPr>
        <p:spPr>
          <a:xfrm>
            <a:off x="6803136" y="3483864"/>
            <a:ext cx="15819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8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Premi</a:t>
            </a:r>
            <a:endParaRPr lang="en-US" sz="820" dirty="0"/>
          </a:p>
        </p:txBody>
      </p:sp>
      <p:sp>
        <p:nvSpPr>
          <p:cNvPr id="21" name="Shape 18"/>
          <p:cNvSpPr/>
          <p:nvPr/>
        </p:nvSpPr>
        <p:spPr>
          <a:xfrm>
            <a:off x="8741664" y="3410712"/>
            <a:ext cx="1691640" cy="292608"/>
          </a:xfrm>
          <a:prstGeom prst="roundRect">
            <a:avLst/>
          </a:prstGeom>
          <a:solidFill>
            <a:srgbClr val="006B3F"/>
          </a:solidFill>
          <a:ln w="6350">
            <a:solidFill>
              <a:srgbClr val="006B3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19"/>
          <p:cNvSpPr/>
          <p:nvPr/>
        </p:nvSpPr>
        <p:spPr>
          <a:xfrm>
            <a:off x="8796528" y="3483864"/>
            <a:ext cx="15819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8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Cadangan</a:t>
            </a:r>
            <a:endParaRPr lang="en-US" sz="820" dirty="0"/>
          </a:p>
        </p:txBody>
      </p:sp>
      <p:sp>
        <p:nvSpPr>
          <p:cNvPr id="23" name="Shape 20"/>
          <p:cNvSpPr/>
          <p:nvPr/>
        </p:nvSpPr>
        <p:spPr>
          <a:xfrm>
            <a:off x="6748272" y="4032504"/>
            <a:ext cx="1691640" cy="292608"/>
          </a:xfrm>
          <a:prstGeom prst="roundRect">
            <a:avLst/>
          </a:prstGeom>
          <a:solidFill>
            <a:srgbClr val="C8452D"/>
          </a:solidFill>
          <a:ln w="6350">
            <a:solidFill>
              <a:srgbClr val="C8452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1"/>
          <p:cNvSpPr/>
          <p:nvPr/>
        </p:nvSpPr>
        <p:spPr>
          <a:xfrm>
            <a:off x="6803136" y="4105656"/>
            <a:ext cx="15819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8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Komputasi R</a:t>
            </a:r>
            <a:endParaRPr lang="en-US" sz="820" dirty="0"/>
          </a:p>
        </p:txBody>
      </p:sp>
      <p:sp>
        <p:nvSpPr>
          <p:cNvPr id="25" name="Shape 22"/>
          <p:cNvSpPr/>
          <p:nvPr/>
        </p:nvSpPr>
        <p:spPr>
          <a:xfrm>
            <a:off x="8741664" y="4032504"/>
            <a:ext cx="1691640" cy="292608"/>
          </a:xfrm>
          <a:prstGeom prst="roundRect">
            <a:avLst/>
          </a:prstGeom>
          <a:solidFill>
            <a:srgbClr val="12355B"/>
          </a:solidFill>
          <a:ln w="6350">
            <a:solidFill>
              <a:srgbClr val="12355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3"/>
          <p:cNvSpPr/>
          <p:nvPr/>
        </p:nvSpPr>
        <p:spPr>
          <a:xfrm>
            <a:off x="8796528" y="4105656"/>
            <a:ext cx="15819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8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Inovasi produk</a:t>
            </a:r>
            <a:endParaRPr lang="en-US" sz="82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F5822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201168"/>
            <a:ext cx="12191695" cy="73152"/>
          </a:xfrm>
          <a:prstGeom prst="rect">
            <a:avLst/>
          </a:prstGeom>
          <a:solidFill>
            <a:srgbClr val="1B998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" name="Image 0" descr="/mnt/data/unpad_logo_adwt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4048" y="393192"/>
            <a:ext cx="438912" cy="43891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14400" y="429768"/>
            <a:ext cx="6949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5365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S2 Statistika Terapan | FMIPA Universitas Padjadjaran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502920" y="868680"/>
            <a:ext cx="8961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1235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Storyline 16 Pertemuan</a:t>
            </a:r>
            <a:endParaRPr lang="en-US" sz="2500" dirty="0"/>
          </a:p>
        </p:txBody>
      </p:sp>
      <p:sp>
        <p:nvSpPr>
          <p:cNvPr id="7" name="Text 4"/>
          <p:cNvSpPr/>
          <p:nvPr/>
        </p:nvSpPr>
        <p:spPr>
          <a:xfrm>
            <a:off x="512064" y="1325880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5365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Dari fondasi finansial menuju solusi aktuaria berbasis model dan komunikasi risiko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502920" y="1682496"/>
            <a:ext cx="11183112" cy="0"/>
          </a:xfrm>
          <a:prstGeom prst="line">
            <a:avLst/>
          </a:prstGeom>
          <a:noFill/>
          <a:ln w="12700">
            <a:solidFill>
              <a:srgbClr val="D6E4EA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11027664" y="6327648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buNone/>
            </a:pPr>
            <a:r>
              <a:rPr lang="en-US" sz="800" dirty="0">
                <a:solidFill>
                  <a:srgbClr val="5365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512064" y="6419088"/>
            <a:ext cx="62179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20" dirty="0">
                <a:solidFill>
                  <a:srgbClr val="7B87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Materi Matematika Aktuaria 1 | Januari 2025</a:t>
            </a:r>
            <a:endParaRPr lang="en-US" sz="720" dirty="0"/>
          </a:p>
        </p:txBody>
      </p:sp>
      <p:sp>
        <p:nvSpPr>
          <p:cNvPr id="11" name="Shape 8"/>
          <p:cNvSpPr/>
          <p:nvPr/>
        </p:nvSpPr>
        <p:spPr>
          <a:xfrm>
            <a:off x="1097280" y="3200400"/>
            <a:ext cx="9189720" cy="0"/>
          </a:xfrm>
          <a:prstGeom prst="line">
            <a:avLst/>
          </a:prstGeom>
          <a:noFill/>
          <a:ln w="38100">
            <a:solidFill>
              <a:srgbClr val="B7C9D3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685800" y="2423160"/>
            <a:ext cx="1005840" cy="1005840"/>
          </a:xfrm>
          <a:prstGeom prst="ellipse">
            <a:avLst/>
          </a:prstGeom>
          <a:solidFill>
            <a:srgbClr val="2364AA"/>
          </a:solidFill>
          <a:ln w="12700">
            <a:solidFill>
              <a:srgbClr val="2364A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777240" y="2706624"/>
            <a:ext cx="822960" cy="21031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1–3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502920" y="3703320"/>
            <a:ext cx="1371600" cy="5943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235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Nilai Waktu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1235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Uang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2423160" y="2423160"/>
            <a:ext cx="1005840" cy="1005840"/>
          </a:xfrm>
          <a:prstGeom prst="ellipse">
            <a:avLst/>
          </a:prstGeom>
          <a:solidFill>
            <a:srgbClr val="1B998B"/>
          </a:solidFill>
          <a:ln w="12700">
            <a:solidFill>
              <a:srgbClr val="1B99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2514600" y="2706624"/>
            <a:ext cx="822960" cy="21031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4–7</a:t>
            </a:r>
            <a:endParaRPr lang="en-US" sz="1500" dirty="0"/>
          </a:p>
        </p:txBody>
      </p:sp>
      <p:sp>
        <p:nvSpPr>
          <p:cNvPr id="17" name="Text 14"/>
          <p:cNvSpPr/>
          <p:nvPr/>
        </p:nvSpPr>
        <p:spPr>
          <a:xfrm>
            <a:off x="2240280" y="3703320"/>
            <a:ext cx="1371600" cy="5943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235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Mortalitas &amp;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1235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Tabel Hidup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4160520" y="2423160"/>
            <a:ext cx="1005840" cy="1005840"/>
          </a:xfrm>
          <a:prstGeom prst="ellipse">
            <a:avLst/>
          </a:prstGeom>
          <a:solidFill>
            <a:srgbClr val="006B3F"/>
          </a:solidFill>
          <a:ln w="12700">
            <a:solidFill>
              <a:srgbClr val="006B3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/>
          <p:nvPr/>
        </p:nvSpPr>
        <p:spPr>
          <a:xfrm>
            <a:off x="4251960" y="2706624"/>
            <a:ext cx="822960" cy="21031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</a:t>
            </a:r>
            <a:endParaRPr lang="en-US" sz="1500" dirty="0"/>
          </a:p>
        </p:txBody>
      </p:sp>
      <p:sp>
        <p:nvSpPr>
          <p:cNvPr id="20" name="Text 17"/>
          <p:cNvSpPr/>
          <p:nvPr/>
        </p:nvSpPr>
        <p:spPr>
          <a:xfrm>
            <a:off x="3977640" y="3703320"/>
            <a:ext cx="1371600" cy="5943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235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UTS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1235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Proyek</a:t>
            </a:r>
            <a:endParaRPr lang="en-US" sz="1300" dirty="0"/>
          </a:p>
        </p:txBody>
      </p:sp>
      <p:sp>
        <p:nvSpPr>
          <p:cNvPr id="21" name="Shape 18"/>
          <p:cNvSpPr/>
          <p:nvPr/>
        </p:nvSpPr>
        <p:spPr>
          <a:xfrm>
            <a:off x="5897880" y="2423160"/>
            <a:ext cx="1005840" cy="1005840"/>
          </a:xfrm>
          <a:prstGeom prst="ellipse">
            <a:avLst/>
          </a:prstGeom>
          <a:solidFill>
            <a:srgbClr val="F58220"/>
          </a:solidFill>
          <a:ln w="12700">
            <a:solidFill>
              <a:srgbClr val="F582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19"/>
          <p:cNvSpPr/>
          <p:nvPr/>
        </p:nvSpPr>
        <p:spPr>
          <a:xfrm>
            <a:off x="5989320" y="2706624"/>
            <a:ext cx="822960" cy="21031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9–12</a:t>
            </a:r>
            <a:endParaRPr lang="en-US" sz="1500" dirty="0"/>
          </a:p>
        </p:txBody>
      </p:sp>
      <p:sp>
        <p:nvSpPr>
          <p:cNvPr id="23" name="Text 20"/>
          <p:cNvSpPr/>
          <p:nvPr/>
        </p:nvSpPr>
        <p:spPr>
          <a:xfrm>
            <a:off x="5715000" y="3703320"/>
            <a:ext cx="1371600" cy="5943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235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Premi &amp;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1235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Cadangan</a:t>
            </a:r>
            <a:endParaRPr lang="en-US" sz="1300" dirty="0"/>
          </a:p>
        </p:txBody>
      </p:sp>
      <p:sp>
        <p:nvSpPr>
          <p:cNvPr id="24" name="Shape 21"/>
          <p:cNvSpPr/>
          <p:nvPr/>
        </p:nvSpPr>
        <p:spPr>
          <a:xfrm>
            <a:off x="7635240" y="2423160"/>
            <a:ext cx="1005840" cy="1005840"/>
          </a:xfrm>
          <a:prstGeom prst="ellipse">
            <a:avLst/>
          </a:prstGeom>
          <a:solidFill>
            <a:srgbClr val="C8452D"/>
          </a:solidFill>
          <a:ln w="12700">
            <a:solidFill>
              <a:srgbClr val="C8452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2"/>
          <p:cNvSpPr/>
          <p:nvPr/>
        </p:nvSpPr>
        <p:spPr>
          <a:xfrm>
            <a:off x="7726680" y="2706624"/>
            <a:ext cx="822960" cy="21031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13–15</a:t>
            </a:r>
            <a:endParaRPr lang="en-US" sz="1500" dirty="0"/>
          </a:p>
        </p:txBody>
      </p:sp>
      <p:sp>
        <p:nvSpPr>
          <p:cNvPr id="26" name="Text 23"/>
          <p:cNvSpPr/>
          <p:nvPr/>
        </p:nvSpPr>
        <p:spPr>
          <a:xfrm>
            <a:off x="7452360" y="3703320"/>
            <a:ext cx="1371600" cy="5943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235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Komputasi &amp;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1235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Inovasi</a:t>
            </a:r>
            <a:endParaRPr lang="en-US" sz="1300" dirty="0"/>
          </a:p>
        </p:txBody>
      </p:sp>
      <p:sp>
        <p:nvSpPr>
          <p:cNvPr id="27" name="Shape 24"/>
          <p:cNvSpPr/>
          <p:nvPr/>
        </p:nvSpPr>
        <p:spPr>
          <a:xfrm>
            <a:off x="9372600" y="2423160"/>
            <a:ext cx="1005840" cy="1005840"/>
          </a:xfrm>
          <a:prstGeom prst="ellipse">
            <a:avLst/>
          </a:prstGeom>
          <a:solidFill>
            <a:srgbClr val="12355B"/>
          </a:solidFill>
          <a:ln w="12700">
            <a:solidFill>
              <a:srgbClr val="12355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5"/>
          <p:cNvSpPr/>
          <p:nvPr/>
        </p:nvSpPr>
        <p:spPr>
          <a:xfrm>
            <a:off x="9464040" y="2706624"/>
            <a:ext cx="822960" cy="21031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16</a:t>
            </a:r>
            <a:endParaRPr lang="en-US" sz="1500" dirty="0"/>
          </a:p>
        </p:txBody>
      </p:sp>
      <p:sp>
        <p:nvSpPr>
          <p:cNvPr id="29" name="Text 26"/>
          <p:cNvSpPr/>
          <p:nvPr/>
        </p:nvSpPr>
        <p:spPr>
          <a:xfrm>
            <a:off x="9189720" y="3703320"/>
            <a:ext cx="1371600" cy="5943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235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UAS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1235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Final</a:t>
            </a:r>
            <a:endParaRPr lang="en-US" sz="1300" dirty="0"/>
          </a:p>
        </p:txBody>
      </p:sp>
      <p:sp>
        <p:nvSpPr>
          <p:cNvPr id="30" name="Text 27"/>
          <p:cNvSpPr/>
          <p:nvPr/>
        </p:nvSpPr>
        <p:spPr>
          <a:xfrm>
            <a:off x="777240" y="4956048"/>
            <a:ext cx="10515600" cy="6400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B26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Logika kuliah: pembayaran masa depan → diskonto → probabilitas hidup/meninggal → nilai harapan aktuaria → premi dan cadangan → keputusan produk.</a:t>
            </a:r>
            <a:endParaRPr lang="en-US" sz="17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F5822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201168"/>
            <a:ext cx="12191695" cy="73152"/>
          </a:xfrm>
          <a:prstGeom prst="rect">
            <a:avLst/>
          </a:prstGeom>
          <a:solidFill>
            <a:srgbClr val="1B998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" name="Image 0" descr="/mnt/data/unpad_logo_adwt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4048" y="393192"/>
            <a:ext cx="438912" cy="43891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14400" y="429768"/>
            <a:ext cx="6949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5365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S2 Statistika Terapan | FMIPA Universitas Padjadjaran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502920" y="868680"/>
            <a:ext cx="8961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1235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Pemetaan Materi terhadap RPS</a:t>
            </a:r>
            <a:endParaRPr lang="en-US" sz="2500" dirty="0"/>
          </a:p>
        </p:txBody>
      </p:sp>
      <p:sp>
        <p:nvSpPr>
          <p:cNvPr id="7" name="Text 4"/>
          <p:cNvSpPr/>
          <p:nvPr/>
        </p:nvSpPr>
        <p:spPr>
          <a:xfrm>
            <a:off x="512064" y="1325880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5365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Empat blok pembelajaran yang menghubungkan Sub-CPMK, topik, dan penilaian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502920" y="1682496"/>
            <a:ext cx="11183112" cy="0"/>
          </a:xfrm>
          <a:prstGeom prst="line">
            <a:avLst/>
          </a:prstGeom>
          <a:noFill/>
          <a:ln w="12700">
            <a:solidFill>
              <a:srgbClr val="D6E4EA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11027664" y="6327648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buNone/>
            </a:pPr>
            <a:r>
              <a:rPr lang="en-US" sz="800" dirty="0">
                <a:solidFill>
                  <a:srgbClr val="5365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512064" y="6419088"/>
            <a:ext cx="62179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20" dirty="0">
                <a:solidFill>
                  <a:srgbClr val="7B87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Materi Matematika Aktuaria 1 | Januari 2025</a:t>
            </a:r>
            <a:endParaRPr lang="en-US" sz="720" dirty="0"/>
          </a:p>
        </p:txBody>
      </p:sp>
      <p:sp>
        <p:nvSpPr>
          <p:cNvPr id="11" name="Shape 8"/>
          <p:cNvSpPr/>
          <p:nvPr/>
        </p:nvSpPr>
        <p:spPr>
          <a:xfrm>
            <a:off x="530352" y="1938528"/>
            <a:ext cx="2148840" cy="502920"/>
          </a:xfrm>
          <a:prstGeom prst="rect">
            <a:avLst/>
          </a:prstGeom>
          <a:solidFill>
            <a:srgbClr val="12355B"/>
          </a:solidFill>
          <a:ln w="6350">
            <a:solidFill>
              <a:srgbClr val="12355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603504" y="2093976"/>
            <a:ext cx="2002536" cy="182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Blok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2679192" y="1938528"/>
            <a:ext cx="960120" cy="502920"/>
          </a:xfrm>
          <a:prstGeom prst="rect">
            <a:avLst/>
          </a:prstGeom>
          <a:solidFill>
            <a:srgbClr val="12355B"/>
          </a:solidFill>
          <a:ln w="6350">
            <a:solidFill>
              <a:srgbClr val="12355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2752344" y="2093976"/>
            <a:ext cx="813816" cy="182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Pertemuan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3639312" y="1938528"/>
            <a:ext cx="1234440" cy="502920"/>
          </a:xfrm>
          <a:prstGeom prst="rect">
            <a:avLst/>
          </a:prstGeom>
          <a:solidFill>
            <a:srgbClr val="12355B"/>
          </a:solidFill>
          <a:ln w="6350">
            <a:solidFill>
              <a:srgbClr val="12355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3712464" y="2093976"/>
            <a:ext cx="1088136" cy="182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Sub-CPMK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4873752" y="1938528"/>
            <a:ext cx="4343400" cy="502920"/>
          </a:xfrm>
          <a:prstGeom prst="rect">
            <a:avLst/>
          </a:prstGeom>
          <a:solidFill>
            <a:srgbClr val="12355B"/>
          </a:solidFill>
          <a:ln w="6350">
            <a:solidFill>
              <a:srgbClr val="12355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/>
          <p:nvPr/>
        </p:nvSpPr>
        <p:spPr>
          <a:xfrm>
            <a:off x="4946904" y="2093976"/>
            <a:ext cx="4197096" cy="182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Fokus Materi</a:t>
            </a:r>
            <a:endParaRPr lang="en-US" sz="1050" dirty="0"/>
          </a:p>
        </p:txBody>
      </p:sp>
      <p:sp>
        <p:nvSpPr>
          <p:cNvPr id="19" name="Shape 16"/>
          <p:cNvSpPr/>
          <p:nvPr/>
        </p:nvSpPr>
        <p:spPr>
          <a:xfrm>
            <a:off x="9217152" y="1938528"/>
            <a:ext cx="1965960" cy="502920"/>
          </a:xfrm>
          <a:prstGeom prst="rect">
            <a:avLst/>
          </a:prstGeom>
          <a:solidFill>
            <a:srgbClr val="12355B"/>
          </a:solidFill>
          <a:ln w="6350">
            <a:solidFill>
              <a:srgbClr val="12355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/>
          <p:nvPr/>
        </p:nvSpPr>
        <p:spPr>
          <a:xfrm>
            <a:off x="9290304" y="2093976"/>
            <a:ext cx="1819656" cy="182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Penilaian</a:t>
            </a:r>
            <a:endParaRPr lang="en-US" sz="1050" dirty="0"/>
          </a:p>
        </p:txBody>
      </p:sp>
      <p:sp>
        <p:nvSpPr>
          <p:cNvPr id="21" name="Shape 18"/>
          <p:cNvSpPr/>
          <p:nvPr/>
        </p:nvSpPr>
        <p:spPr>
          <a:xfrm>
            <a:off x="530352" y="2441448"/>
            <a:ext cx="2148840" cy="749808"/>
          </a:xfrm>
          <a:prstGeom prst="rect">
            <a:avLst/>
          </a:prstGeom>
          <a:solidFill>
            <a:srgbClr val="FFFFFF"/>
          </a:solidFill>
          <a:ln w="5080">
            <a:solidFill>
              <a:srgbClr val="D7E2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19"/>
          <p:cNvSpPr/>
          <p:nvPr/>
        </p:nvSpPr>
        <p:spPr>
          <a:xfrm>
            <a:off x="603504" y="2551176"/>
            <a:ext cx="2002536" cy="58521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1235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Nilai waktu uang</a:t>
            </a:r>
            <a:endParaRPr lang="en-US" sz="950" dirty="0"/>
          </a:p>
          <a:p>
            <a:pPr marL="0" indent="0" algn="l">
              <a:buNone/>
            </a:pPr>
            <a:r>
              <a:rPr lang="en-US" sz="950" b="1" dirty="0">
                <a:solidFill>
                  <a:srgbClr val="1235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&amp; annuitas</a:t>
            </a:r>
            <a:endParaRPr lang="en-US" sz="950" dirty="0"/>
          </a:p>
        </p:txBody>
      </p:sp>
      <p:sp>
        <p:nvSpPr>
          <p:cNvPr id="23" name="Shape 20"/>
          <p:cNvSpPr/>
          <p:nvPr/>
        </p:nvSpPr>
        <p:spPr>
          <a:xfrm>
            <a:off x="2679192" y="2441448"/>
            <a:ext cx="960120" cy="749808"/>
          </a:xfrm>
          <a:prstGeom prst="rect">
            <a:avLst/>
          </a:prstGeom>
          <a:solidFill>
            <a:srgbClr val="FFFFFF"/>
          </a:solidFill>
          <a:ln w="5080">
            <a:solidFill>
              <a:srgbClr val="D7E2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1"/>
          <p:cNvSpPr/>
          <p:nvPr/>
        </p:nvSpPr>
        <p:spPr>
          <a:xfrm>
            <a:off x="2752344" y="2551176"/>
            <a:ext cx="813816" cy="58521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235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1–3</a:t>
            </a:r>
            <a:endParaRPr lang="en-US" sz="950" dirty="0"/>
          </a:p>
        </p:txBody>
      </p:sp>
      <p:sp>
        <p:nvSpPr>
          <p:cNvPr id="25" name="Shape 22"/>
          <p:cNvSpPr/>
          <p:nvPr/>
        </p:nvSpPr>
        <p:spPr>
          <a:xfrm>
            <a:off x="3639312" y="2441448"/>
            <a:ext cx="1234440" cy="749808"/>
          </a:xfrm>
          <a:prstGeom prst="rect">
            <a:avLst/>
          </a:prstGeom>
          <a:solidFill>
            <a:srgbClr val="FFFFFF"/>
          </a:solidFill>
          <a:ln w="5080">
            <a:solidFill>
              <a:srgbClr val="D7E2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3"/>
          <p:cNvSpPr/>
          <p:nvPr/>
        </p:nvSpPr>
        <p:spPr>
          <a:xfrm>
            <a:off x="3712464" y="2551176"/>
            <a:ext cx="1088136" cy="58521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235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SubCPMK1</a:t>
            </a:r>
            <a:endParaRPr lang="en-US" sz="950" dirty="0"/>
          </a:p>
        </p:txBody>
      </p:sp>
      <p:sp>
        <p:nvSpPr>
          <p:cNvPr id="27" name="Shape 24"/>
          <p:cNvSpPr/>
          <p:nvPr/>
        </p:nvSpPr>
        <p:spPr>
          <a:xfrm>
            <a:off x="4873752" y="2441448"/>
            <a:ext cx="4343400" cy="749808"/>
          </a:xfrm>
          <a:prstGeom prst="rect">
            <a:avLst/>
          </a:prstGeom>
          <a:solidFill>
            <a:srgbClr val="FFFFFF"/>
          </a:solidFill>
          <a:ln w="5080">
            <a:solidFill>
              <a:srgbClr val="D7E2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5"/>
          <p:cNvSpPr/>
          <p:nvPr/>
        </p:nvSpPr>
        <p:spPr>
          <a:xfrm>
            <a:off x="4946904" y="2551176"/>
            <a:ext cx="4197096" cy="58521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l">
              <a:buNone/>
            </a:pPr>
            <a:r>
              <a:rPr lang="en-US" sz="920" dirty="0">
                <a:solidFill>
                  <a:srgbClr val="1B26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bunga, nilai tunai, nilai akumulasi, annuitas pasti</a:t>
            </a:r>
            <a:endParaRPr lang="en-US" sz="920" dirty="0"/>
          </a:p>
        </p:txBody>
      </p:sp>
      <p:sp>
        <p:nvSpPr>
          <p:cNvPr id="29" name="Shape 26"/>
          <p:cNvSpPr/>
          <p:nvPr/>
        </p:nvSpPr>
        <p:spPr>
          <a:xfrm>
            <a:off x="9217152" y="2441448"/>
            <a:ext cx="1965960" cy="749808"/>
          </a:xfrm>
          <a:prstGeom prst="rect">
            <a:avLst/>
          </a:prstGeom>
          <a:solidFill>
            <a:srgbClr val="FFFFFF"/>
          </a:solidFill>
          <a:ln w="5080">
            <a:solidFill>
              <a:srgbClr val="D7E2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7"/>
          <p:cNvSpPr/>
          <p:nvPr/>
        </p:nvSpPr>
        <p:spPr>
          <a:xfrm>
            <a:off x="9290304" y="2551176"/>
            <a:ext cx="1819656" cy="58521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l">
              <a:buNone/>
            </a:pPr>
            <a:r>
              <a:rPr lang="en-US" sz="950" dirty="0">
                <a:solidFill>
                  <a:srgbClr val="1B26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tugas, quiz, praktikum</a:t>
            </a:r>
            <a:endParaRPr lang="en-US" sz="950" dirty="0"/>
          </a:p>
        </p:txBody>
      </p:sp>
      <p:sp>
        <p:nvSpPr>
          <p:cNvPr id="31" name="Shape 28"/>
          <p:cNvSpPr/>
          <p:nvPr/>
        </p:nvSpPr>
        <p:spPr>
          <a:xfrm>
            <a:off x="530352" y="3191256"/>
            <a:ext cx="2148840" cy="749808"/>
          </a:xfrm>
          <a:prstGeom prst="rect">
            <a:avLst/>
          </a:prstGeom>
          <a:solidFill>
            <a:srgbClr val="EEF5F6"/>
          </a:solidFill>
          <a:ln w="5080">
            <a:solidFill>
              <a:srgbClr val="D7E2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29"/>
          <p:cNvSpPr/>
          <p:nvPr/>
        </p:nvSpPr>
        <p:spPr>
          <a:xfrm>
            <a:off x="603504" y="3300984"/>
            <a:ext cx="2002536" cy="58521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1235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Tabel kehidupan</a:t>
            </a:r>
            <a:endParaRPr lang="en-US" sz="950" dirty="0"/>
          </a:p>
          <a:p>
            <a:pPr marL="0" indent="0" algn="l">
              <a:buNone/>
            </a:pPr>
            <a:r>
              <a:rPr lang="en-US" sz="950" b="1" dirty="0">
                <a:solidFill>
                  <a:srgbClr val="1235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&amp; mortalitas</a:t>
            </a:r>
            <a:endParaRPr lang="en-US" sz="950" dirty="0"/>
          </a:p>
        </p:txBody>
      </p:sp>
      <p:sp>
        <p:nvSpPr>
          <p:cNvPr id="33" name="Shape 30"/>
          <p:cNvSpPr/>
          <p:nvPr/>
        </p:nvSpPr>
        <p:spPr>
          <a:xfrm>
            <a:off x="2679192" y="3191256"/>
            <a:ext cx="960120" cy="749808"/>
          </a:xfrm>
          <a:prstGeom prst="rect">
            <a:avLst/>
          </a:prstGeom>
          <a:solidFill>
            <a:srgbClr val="EEF5F6"/>
          </a:solidFill>
          <a:ln w="5080">
            <a:solidFill>
              <a:srgbClr val="D7E2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1"/>
          <p:cNvSpPr/>
          <p:nvPr/>
        </p:nvSpPr>
        <p:spPr>
          <a:xfrm>
            <a:off x="2752344" y="3300984"/>
            <a:ext cx="813816" cy="58521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235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4–7</a:t>
            </a:r>
            <a:endParaRPr lang="en-US" sz="950" dirty="0"/>
          </a:p>
        </p:txBody>
      </p:sp>
      <p:sp>
        <p:nvSpPr>
          <p:cNvPr id="35" name="Shape 32"/>
          <p:cNvSpPr/>
          <p:nvPr/>
        </p:nvSpPr>
        <p:spPr>
          <a:xfrm>
            <a:off x="3639312" y="3191256"/>
            <a:ext cx="1234440" cy="749808"/>
          </a:xfrm>
          <a:prstGeom prst="rect">
            <a:avLst/>
          </a:prstGeom>
          <a:solidFill>
            <a:srgbClr val="EEF5F6"/>
          </a:solidFill>
          <a:ln w="5080">
            <a:solidFill>
              <a:srgbClr val="D7E2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3"/>
          <p:cNvSpPr/>
          <p:nvPr/>
        </p:nvSpPr>
        <p:spPr>
          <a:xfrm>
            <a:off x="3712464" y="3300984"/>
            <a:ext cx="1088136" cy="58521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235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SubCPMK2</a:t>
            </a:r>
            <a:endParaRPr lang="en-US" sz="950" dirty="0"/>
          </a:p>
        </p:txBody>
      </p:sp>
      <p:sp>
        <p:nvSpPr>
          <p:cNvPr id="37" name="Shape 34"/>
          <p:cNvSpPr/>
          <p:nvPr/>
        </p:nvSpPr>
        <p:spPr>
          <a:xfrm>
            <a:off x="4873752" y="3191256"/>
            <a:ext cx="4343400" cy="749808"/>
          </a:xfrm>
          <a:prstGeom prst="rect">
            <a:avLst/>
          </a:prstGeom>
          <a:solidFill>
            <a:srgbClr val="EEF5F6"/>
          </a:solidFill>
          <a:ln w="5080">
            <a:solidFill>
              <a:srgbClr val="D7E2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5"/>
          <p:cNvSpPr/>
          <p:nvPr/>
        </p:nvSpPr>
        <p:spPr>
          <a:xfrm>
            <a:off x="4946904" y="3300984"/>
            <a:ext cx="4197096" cy="58521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l">
              <a:buNone/>
            </a:pPr>
            <a:r>
              <a:rPr lang="en-US" sz="920" dirty="0">
                <a:solidFill>
                  <a:srgbClr val="1B26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survival probability, mortality probability, Gompertz, Makeham</a:t>
            </a:r>
            <a:endParaRPr lang="en-US" sz="920" dirty="0"/>
          </a:p>
        </p:txBody>
      </p:sp>
      <p:sp>
        <p:nvSpPr>
          <p:cNvPr id="39" name="Shape 36"/>
          <p:cNvSpPr/>
          <p:nvPr/>
        </p:nvSpPr>
        <p:spPr>
          <a:xfrm>
            <a:off x="9217152" y="3191256"/>
            <a:ext cx="1965960" cy="749808"/>
          </a:xfrm>
          <a:prstGeom prst="rect">
            <a:avLst/>
          </a:prstGeom>
          <a:solidFill>
            <a:srgbClr val="EEF5F6"/>
          </a:solidFill>
          <a:ln w="5080">
            <a:solidFill>
              <a:srgbClr val="D7E2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7"/>
          <p:cNvSpPr/>
          <p:nvPr/>
        </p:nvSpPr>
        <p:spPr>
          <a:xfrm>
            <a:off x="9290304" y="3300984"/>
            <a:ext cx="1819656" cy="58521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l">
              <a:buNone/>
            </a:pPr>
            <a:r>
              <a:rPr lang="en-US" sz="950" dirty="0">
                <a:solidFill>
                  <a:srgbClr val="1B26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laporan, mini project, UTS</a:t>
            </a:r>
            <a:endParaRPr lang="en-US" sz="950" dirty="0"/>
          </a:p>
        </p:txBody>
      </p:sp>
      <p:sp>
        <p:nvSpPr>
          <p:cNvPr id="41" name="Shape 38"/>
          <p:cNvSpPr/>
          <p:nvPr/>
        </p:nvSpPr>
        <p:spPr>
          <a:xfrm>
            <a:off x="530352" y="3941064"/>
            <a:ext cx="2148840" cy="749808"/>
          </a:xfrm>
          <a:prstGeom prst="rect">
            <a:avLst/>
          </a:prstGeom>
          <a:solidFill>
            <a:srgbClr val="FFFFFF"/>
          </a:solidFill>
          <a:ln w="5080">
            <a:solidFill>
              <a:srgbClr val="D7E2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39"/>
          <p:cNvSpPr/>
          <p:nvPr/>
        </p:nvSpPr>
        <p:spPr>
          <a:xfrm>
            <a:off x="603504" y="4050792"/>
            <a:ext cx="2002536" cy="58521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1235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Premi &amp;</a:t>
            </a:r>
            <a:endParaRPr lang="en-US" sz="950" dirty="0"/>
          </a:p>
          <a:p>
            <a:pPr marL="0" indent="0" algn="l">
              <a:buNone/>
            </a:pPr>
            <a:r>
              <a:rPr lang="en-US" sz="950" b="1" dirty="0">
                <a:solidFill>
                  <a:srgbClr val="1235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cadangan</a:t>
            </a:r>
            <a:endParaRPr lang="en-US" sz="950" dirty="0"/>
          </a:p>
        </p:txBody>
      </p:sp>
      <p:sp>
        <p:nvSpPr>
          <p:cNvPr id="43" name="Shape 40"/>
          <p:cNvSpPr/>
          <p:nvPr/>
        </p:nvSpPr>
        <p:spPr>
          <a:xfrm>
            <a:off x="2679192" y="3941064"/>
            <a:ext cx="960120" cy="749808"/>
          </a:xfrm>
          <a:prstGeom prst="rect">
            <a:avLst/>
          </a:prstGeom>
          <a:solidFill>
            <a:srgbClr val="FFFFFF"/>
          </a:solidFill>
          <a:ln w="5080">
            <a:solidFill>
              <a:srgbClr val="D7E2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Text 41"/>
          <p:cNvSpPr/>
          <p:nvPr/>
        </p:nvSpPr>
        <p:spPr>
          <a:xfrm>
            <a:off x="2752344" y="4050792"/>
            <a:ext cx="813816" cy="58521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235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9–12</a:t>
            </a:r>
            <a:endParaRPr lang="en-US" sz="950" dirty="0"/>
          </a:p>
        </p:txBody>
      </p:sp>
      <p:sp>
        <p:nvSpPr>
          <p:cNvPr id="45" name="Shape 42"/>
          <p:cNvSpPr/>
          <p:nvPr/>
        </p:nvSpPr>
        <p:spPr>
          <a:xfrm>
            <a:off x="3639312" y="3941064"/>
            <a:ext cx="1234440" cy="749808"/>
          </a:xfrm>
          <a:prstGeom prst="rect">
            <a:avLst/>
          </a:prstGeom>
          <a:solidFill>
            <a:srgbClr val="FFFFFF"/>
          </a:solidFill>
          <a:ln w="5080">
            <a:solidFill>
              <a:srgbClr val="D7E2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6" name="Text 43"/>
          <p:cNvSpPr/>
          <p:nvPr/>
        </p:nvSpPr>
        <p:spPr>
          <a:xfrm>
            <a:off x="3712464" y="4050792"/>
            <a:ext cx="1088136" cy="58521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235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SubCPMK3</a:t>
            </a:r>
            <a:endParaRPr lang="en-US" sz="950" dirty="0"/>
          </a:p>
        </p:txBody>
      </p:sp>
      <p:sp>
        <p:nvSpPr>
          <p:cNvPr id="47" name="Shape 44"/>
          <p:cNvSpPr/>
          <p:nvPr/>
        </p:nvSpPr>
        <p:spPr>
          <a:xfrm>
            <a:off x="4873752" y="3941064"/>
            <a:ext cx="4343400" cy="749808"/>
          </a:xfrm>
          <a:prstGeom prst="rect">
            <a:avLst/>
          </a:prstGeom>
          <a:solidFill>
            <a:srgbClr val="FFFFFF"/>
          </a:solidFill>
          <a:ln w="5080">
            <a:solidFill>
              <a:srgbClr val="D7E2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Text 45"/>
          <p:cNvSpPr/>
          <p:nvPr/>
        </p:nvSpPr>
        <p:spPr>
          <a:xfrm>
            <a:off x="4946904" y="4050792"/>
            <a:ext cx="4197096" cy="58521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l">
              <a:buNone/>
            </a:pPr>
            <a:r>
              <a:rPr lang="en-US" sz="920" dirty="0">
                <a:solidFill>
                  <a:srgbClr val="1B26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asuransi jiwa, anuitas hidup, premi, reserves, komputasi</a:t>
            </a:r>
            <a:endParaRPr lang="en-US" sz="920" dirty="0"/>
          </a:p>
        </p:txBody>
      </p:sp>
      <p:sp>
        <p:nvSpPr>
          <p:cNvPr id="49" name="Shape 46"/>
          <p:cNvSpPr/>
          <p:nvPr/>
        </p:nvSpPr>
        <p:spPr>
          <a:xfrm>
            <a:off x="9217152" y="3941064"/>
            <a:ext cx="1965960" cy="749808"/>
          </a:xfrm>
          <a:prstGeom prst="rect">
            <a:avLst/>
          </a:prstGeom>
          <a:solidFill>
            <a:srgbClr val="FFFFFF"/>
          </a:solidFill>
          <a:ln w="5080">
            <a:solidFill>
              <a:srgbClr val="D7E2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Text 47"/>
          <p:cNvSpPr/>
          <p:nvPr/>
        </p:nvSpPr>
        <p:spPr>
          <a:xfrm>
            <a:off x="9290304" y="4050792"/>
            <a:ext cx="1819656" cy="58521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l">
              <a:buNone/>
            </a:pPr>
            <a:r>
              <a:rPr lang="en-US" sz="950" dirty="0">
                <a:solidFill>
                  <a:srgbClr val="1B26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proyek model, laporan</a:t>
            </a:r>
            <a:endParaRPr lang="en-US" sz="950" dirty="0"/>
          </a:p>
        </p:txBody>
      </p:sp>
      <p:sp>
        <p:nvSpPr>
          <p:cNvPr id="51" name="Shape 48"/>
          <p:cNvSpPr/>
          <p:nvPr/>
        </p:nvSpPr>
        <p:spPr>
          <a:xfrm>
            <a:off x="530352" y="4690872"/>
            <a:ext cx="2148840" cy="749808"/>
          </a:xfrm>
          <a:prstGeom prst="rect">
            <a:avLst/>
          </a:prstGeom>
          <a:solidFill>
            <a:srgbClr val="EEF5F6"/>
          </a:solidFill>
          <a:ln w="5080">
            <a:solidFill>
              <a:srgbClr val="D7E2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2" name="Text 49"/>
          <p:cNvSpPr/>
          <p:nvPr/>
        </p:nvSpPr>
        <p:spPr>
          <a:xfrm>
            <a:off x="603504" y="4800600"/>
            <a:ext cx="2002536" cy="58521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l">
              <a:buNone/>
            </a:pPr>
            <a:r>
              <a:rPr lang="en-US" sz="950" b="1" dirty="0">
                <a:solidFill>
                  <a:srgbClr val="1235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Inovasi</a:t>
            </a:r>
            <a:endParaRPr lang="en-US" sz="950" dirty="0"/>
          </a:p>
          <a:p>
            <a:pPr marL="0" indent="0" algn="l">
              <a:buNone/>
            </a:pPr>
            <a:r>
              <a:rPr lang="en-US" sz="950" b="1" dirty="0">
                <a:solidFill>
                  <a:srgbClr val="1235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aktuaria</a:t>
            </a:r>
            <a:endParaRPr lang="en-US" sz="950" dirty="0"/>
          </a:p>
        </p:txBody>
      </p:sp>
      <p:sp>
        <p:nvSpPr>
          <p:cNvPr id="53" name="Shape 50"/>
          <p:cNvSpPr/>
          <p:nvPr/>
        </p:nvSpPr>
        <p:spPr>
          <a:xfrm>
            <a:off x="2679192" y="4690872"/>
            <a:ext cx="960120" cy="749808"/>
          </a:xfrm>
          <a:prstGeom prst="rect">
            <a:avLst/>
          </a:prstGeom>
          <a:solidFill>
            <a:srgbClr val="EEF5F6"/>
          </a:solidFill>
          <a:ln w="5080">
            <a:solidFill>
              <a:srgbClr val="D7E2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4" name="Text 51"/>
          <p:cNvSpPr/>
          <p:nvPr/>
        </p:nvSpPr>
        <p:spPr>
          <a:xfrm>
            <a:off x="2752344" y="4800600"/>
            <a:ext cx="813816" cy="58521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235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13–16</a:t>
            </a:r>
            <a:endParaRPr lang="en-US" sz="950" dirty="0"/>
          </a:p>
        </p:txBody>
      </p:sp>
      <p:sp>
        <p:nvSpPr>
          <p:cNvPr id="55" name="Shape 52"/>
          <p:cNvSpPr/>
          <p:nvPr/>
        </p:nvSpPr>
        <p:spPr>
          <a:xfrm>
            <a:off x="3639312" y="4690872"/>
            <a:ext cx="1234440" cy="749808"/>
          </a:xfrm>
          <a:prstGeom prst="rect">
            <a:avLst/>
          </a:prstGeom>
          <a:solidFill>
            <a:srgbClr val="EEF5F6"/>
          </a:solidFill>
          <a:ln w="5080">
            <a:solidFill>
              <a:srgbClr val="D7E2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6" name="Text 53"/>
          <p:cNvSpPr/>
          <p:nvPr/>
        </p:nvSpPr>
        <p:spPr>
          <a:xfrm>
            <a:off x="3712464" y="4800600"/>
            <a:ext cx="1088136" cy="58521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950" b="1" dirty="0">
                <a:solidFill>
                  <a:srgbClr val="1235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SubCPMK4</a:t>
            </a:r>
            <a:endParaRPr lang="en-US" sz="950" dirty="0"/>
          </a:p>
        </p:txBody>
      </p:sp>
      <p:sp>
        <p:nvSpPr>
          <p:cNvPr id="57" name="Shape 54"/>
          <p:cNvSpPr/>
          <p:nvPr/>
        </p:nvSpPr>
        <p:spPr>
          <a:xfrm>
            <a:off x="4873752" y="4690872"/>
            <a:ext cx="4343400" cy="749808"/>
          </a:xfrm>
          <a:prstGeom prst="rect">
            <a:avLst/>
          </a:prstGeom>
          <a:solidFill>
            <a:srgbClr val="EEF5F6"/>
          </a:solidFill>
          <a:ln w="5080">
            <a:solidFill>
              <a:srgbClr val="D7E2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8" name="Text 55"/>
          <p:cNvSpPr/>
          <p:nvPr/>
        </p:nvSpPr>
        <p:spPr>
          <a:xfrm>
            <a:off x="4946904" y="4800600"/>
            <a:ext cx="4197096" cy="58521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l">
              <a:buNone/>
            </a:pPr>
            <a:r>
              <a:rPr lang="en-US" sz="920" dirty="0">
                <a:solidFill>
                  <a:srgbClr val="1B26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unit link, mikroasuransi, takaful, riset mini</a:t>
            </a:r>
            <a:endParaRPr lang="en-US" sz="920" dirty="0"/>
          </a:p>
        </p:txBody>
      </p:sp>
      <p:sp>
        <p:nvSpPr>
          <p:cNvPr id="59" name="Shape 56"/>
          <p:cNvSpPr/>
          <p:nvPr/>
        </p:nvSpPr>
        <p:spPr>
          <a:xfrm>
            <a:off x="9217152" y="4690872"/>
            <a:ext cx="1965960" cy="749808"/>
          </a:xfrm>
          <a:prstGeom prst="rect">
            <a:avLst/>
          </a:prstGeom>
          <a:solidFill>
            <a:srgbClr val="EEF5F6"/>
          </a:solidFill>
          <a:ln w="5080">
            <a:solidFill>
              <a:srgbClr val="D7E2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0" name="Text 57"/>
          <p:cNvSpPr/>
          <p:nvPr/>
        </p:nvSpPr>
        <p:spPr>
          <a:xfrm>
            <a:off x="9290304" y="4800600"/>
            <a:ext cx="1819656" cy="58521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l">
              <a:buNone/>
            </a:pPr>
            <a:r>
              <a:rPr lang="en-US" sz="950" dirty="0">
                <a:solidFill>
                  <a:srgbClr val="1B26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proyek riset, UAS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F5822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201168"/>
            <a:ext cx="12191695" cy="73152"/>
          </a:xfrm>
          <a:prstGeom prst="rect">
            <a:avLst/>
          </a:prstGeom>
          <a:solidFill>
            <a:srgbClr val="1B998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" name="Image 0" descr="/mnt/data/unpad_logo_adwt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4048" y="393192"/>
            <a:ext cx="438912" cy="43891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14400" y="429768"/>
            <a:ext cx="6949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5365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S2 Statistika Terapan | FMIPA Universitas Padjadjaran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502920" y="868680"/>
            <a:ext cx="8961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1235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Kompetensi Teknis yang Dilatih</a:t>
            </a:r>
            <a:endParaRPr lang="en-US" sz="2500" dirty="0"/>
          </a:p>
        </p:txBody>
      </p:sp>
      <p:sp>
        <p:nvSpPr>
          <p:cNvPr id="7" name="Text 4"/>
          <p:cNvSpPr/>
          <p:nvPr/>
        </p:nvSpPr>
        <p:spPr>
          <a:xfrm>
            <a:off x="512064" y="1325880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5365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Mahasiswa tidak hanya menghitung, tetapi menjelaskan asumsi dan konsekuensi model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502920" y="1682496"/>
            <a:ext cx="11183112" cy="0"/>
          </a:xfrm>
          <a:prstGeom prst="line">
            <a:avLst/>
          </a:prstGeom>
          <a:noFill/>
          <a:ln w="12700">
            <a:solidFill>
              <a:srgbClr val="D6E4EA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11027664" y="6327648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buNone/>
            </a:pPr>
            <a:r>
              <a:rPr lang="en-US" sz="800" dirty="0">
                <a:solidFill>
                  <a:srgbClr val="5365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512064" y="6419088"/>
            <a:ext cx="62179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20" dirty="0">
                <a:solidFill>
                  <a:srgbClr val="7B87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Materi Matematika Aktuaria 1 | Januari 2025</a:t>
            </a:r>
            <a:endParaRPr lang="en-US" sz="720" dirty="0"/>
          </a:p>
        </p:txBody>
      </p:sp>
      <p:sp>
        <p:nvSpPr>
          <p:cNvPr id="11" name="Shape 8"/>
          <p:cNvSpPr/>
          <p:nvPr/>
        </p:nvSpPr>
        <p:spPr>
          <a:xfrm>
            <a:off x="640080" y="1965960"/>
            <a:ext cx="530352" cy="530352"/>
          </a:xfrm>
          <a:prstGeom prst="ellipse">
            <a:avLst/>
          </a:prstGeom>
          <a:solidFill>
            <a:srgbClr val="2364AA"/>
          </a:solidFill>
          <a:ln w="12700">
            <a:solidFill>
              <a:srgbClr val="2364A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813816" y="2112264"/>
            <a:ext cx="182880" cy="182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1353312" y="1984248"/>
            <a:ext cx="4023360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235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Model finansial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1353312" y="2359152"/>
            <a:ext cx="4343400" cy="38404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220" dirty="0">
                <a:solidFill>
                  <a:srgbClr val="1B26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Bunga efektif, diskonto, nilai sekarang, nilai akumulasi, annuitas pasti.</a:t>
            </a:r>
            <a:endParaRPr lang="en-US" sz="1220" dirty="0"/>
          </a:p>
        </p:txBody>
      </p:sp>
      <p:sp>
        <p:nvSpPr>
          <p:cNvPr id="15" name="Shape 12"/>
          <p:cNvSpPr/>
          <p:nvPr/>
        </p:nvSpPr>
        <p:spPr>
          <a:xfrm>
            <a:off x="6080760" y="1965960"/>
            <a:ext cx="530352" cy="530352"/>
          </a:xfrm>
          <a:prstGeom prst="ellipse">
            <a:avLst/>
          </a:prstGeom>
          <a:solidFill>
            <a:srgbClr val="1B998B"/>
          </a:solidFill>
          <a:ln w="12700">
            <a:solidFill>
              <a:srgbClr val="1B99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6254496" y="2112264"/>
            <a:ext cx="182880" cy="182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6793992" y="1984248"/>
            <a:ext cx="4023360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235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Model mortalitas</a:t>
            </a:r>
            <a:endParaRPr lang="en-US" sz="1600" dirty="0"/>
          </a:p>
        </p:txBody>
      </p:sp>
      <p:sp>
        <p:nvSpPr>
          <p:cNvPr id="18" name="Text 15"/>
          <p:cNvSpPr/>
          <p:nvPr/>
        </p:nvSpPr>
        <p:spPr>
          <a:xfrm>
            <a:off x="6793992" y="2359152"/>
            <a:ext cx="4343400" cy="38404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220" dirty="0">
                <a:solidFill>
                  <a:srgbClr val="1B26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Future lifetime, survival probability, mortality probability, life table.</a:t>
            </a:r>
            <a:endParaRPr lang="en-US" sz="1220" dirty="0"/>
          </a:p>
        </p:txBody>
      </p:sp>
      <p:sp>
        <p:nvSpPr>
          <p:cNvPr id="19" name="Shape 16"/>
          <p:cNvSpPr/>
          <p:nvPr/>
        </p:nvSpPr>
        <p:spPr>
          <a:xfrm>
            <a:off x="640080" y="3182112"/>
            <a:ext cx="530352" cy="530352"/>
          </a:xfrm>
          <a:prstGeom prst="ellipse">
            <a:avLst/>
          </a:prstGeom>
          <a:solidFill>
            <a:srgbClr val="F58220"/>
          </a:solidFill>
          <a:ln w="12700">
            <a:solidFill>
              <a:srgbClr val="F582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/>
          <p:nvPr/>
        </p:nvSpPr>
        <p:spPr>
          <a:xfrm>
            <a:off x="813816" y="3328416"/>
            <a:ext cx="182880" cy="182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1353312" y="3200400"/>
            <a:ext cx="4023360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235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Nilai harapan aktuaria</a:t>
            </a:r>
            <a:endParaRPr lang="en-US" sz="1600" dirty="0"/>
          </a:p>
        </p:txBody>
      </p:sp>
      <p:sp>
        <p:nvSpPr>
          <p:cNvPr id="22" name="Text 19"/>
          <p:cNvSpPr/>
          <p:nvPr/>
        </p:nvSpPr>
        <p:spPr>
          <a:xfrm>
            <a:off x="1353312" y="3575304"/>
            <a:ext cx="4343400" cy="38404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220" dirty="0">
                <a:solidFill>
                  <a:srgbClr val="1B26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APV manfaat, APV premi, kontrak kontinjensi hidup.</a:t>
            </a:r>
            <a:endParaRPr lang="en-US" sz="1220" dirty="0"/>
          </a:p>
        </p:txBody>
      </p:sp>
      <p:sp>
        <p:nvSpPr>
          <p:cNvPr id="23" name="Shape 20"/>
          <p:cNvSpPr/>
          <p:nvPr/>
        </p:nvSpPr>
        <p:spPr>
          <a:xfrm>
            <a:off x="6080760" y="3182112"/>
            <a:ext cx="530352" cy="530352"/>
          </a:xfrm>
          <a:prstGeom prst="ellipse">
            <a:avLst/>
          </a:prstGeom>
          <a:solidFill>
            <a:srgbClr val="006B3F"/>
          </a:solidFill>
          <a:ln w="12700">
            <a:solidFill>
              <a:srgbClr val="006B3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1"/>
          <p:cNvSpPr/>
          <p:nvPr/>
        </p:nvSpPr>
        <p:spPr>
          <a:xfrm>
            <a:off x="6254496" y="3328416"/>
            <a:ext cx="182880" cy="182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1200" dirty="0"/>
          </a:p>
        </p:txBody>
      </p:sp>
      <p:sp>
        <p:nvSpPr>
          <p:cNvPr id="25" name="Text 22"/>
          <p:cNvSpPr/>
          <p:nvPr/>
        </p:nvSpPr>
        <p:spPr>
          <a:xfrm>
            <a:off x="6793992" y="3200400"/>
            <a:ext cx="4023360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235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Valuasi kewajiban</a:t>
            </a:r>
            <a:endParaRPr lang="en-US" sz="1600" dirty="0"/>
          </a:p>
        </p:txBody>
      </p:sp>
      <p:sp>
        <p:nvSpPr>
          <p:cNvPr id="26" name="Text 23"/>
          <p:cNvSpPr/>
          <p:nvPr/>
        </p:nvSpPr>
        <p:spPr>
          <a:xfrm>
            <a:off x="6793992" y="3575304"/>
            <a:ext cx="4343400" cy="38404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220" dirty="0">
                <a:solidFill>
                  <a:srgbClr val="1B26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Premi, cadangan prospektif, sensitivitas suku bunga dan mortalitas.</a:t>
            </a:r>
            <a:endParaRPr lang="en-US" sz="1220" dirty="0"/>
          </a:p>
        </p:txBody>
      </p:sp>
      <p:sp>
        <p:nvSpPr>
          <p:cNvPr id="27" name="Shape 24"/>
          <p:cNvSpPr/>
          <p:nvPr/>
        </p:nvSpPr>
        <p:spPr>
          <a:xfrm>
            <a:off x="640080" y="4398264"/>
            <a:ext cx="530352" cy="530352"/>
          </a:xfrm>
          <a:prstGeom prst="ellipse">
            <a:avLst/>
          </a:prstGeom>
          <a:solidFill>
            <a:srgbClr val="C8452D"/>
          </a:solidFill>
          <a:ln w="12700">
            <a:solidFill>
              <a:srgbClr val="C8452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5"/>
          <p:cNvSpPr/>
          <p:nvPr/>
        </p:nvSpPr>
        <p:spPr>
          <a:xfrm>
            <a:off x="813816" y="4544568"/>
            <a:ext cx="182880" cy="182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1200" dirty="0"/>
          </a:p>
        </p:txBody>
      </p:sp>
      <p:sp>
        <p:nvSpPr>
          <p:cNvPr id="29" name="Text 26"/>
          <p:cNvSpPr/>
          <p:nvPr/>
        </p:nvSpPr>
        <p:spPr>
          <a:xfrm>
            <a:off x="1353312" y="4416552"/>
            <a:ext cx="4023360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235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Komputasi reproducible</a:t>
            </a:r>
            <a:endParaRPr lang="en-US" sz="1600" dirty="0"/>
          </a:p>
        </p:txBody>
      </p:sp>
      <p:sp>
        <p:nvSpPr>
          <p:cNvPr id="30" name="Text 27"/>
          <p:cNvSpPr/>
          <p:nvPr/>
        </p:nvSpPr>
        <p:spPr>
          <a:xfrm>
            <a:off x="1353312" y="4791456"/>
            <a:ext cx="4343400" cy="38404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220" dirty="0">
                <a:solidFill>
                  <a:srgbClr val="1B26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Template kode R, skenario parameter, tabel output, visualisasi.</a:t>
            </a:r>
            <a:endParaRPr lang="en-US" sz="1220" dirty="0"/>
          </a:p>
        </p:txBody>
      </p:sp>
      <p:sp>
        <p:nvSpPr>
          <p:cNvPr id="31" name="Shape 28"/>
          <p:cNvSpPr/>
          <p:nvPr/>
        </p:nvSpPr>
        <p:spPr>
          <a:xfrm>
            <a:off x="6080760" y="4398264"/>
            <a:ext cx="530352" cy="530352"/>
          </a:xfrm>
          <a:prstGeom prst="ellipse">
            <a:avLst/>
          </a:prstGeom>
          <a:solidFill>
            <a:srgbClr val="12355B"/>
          </a:solidFill>
          <a:ln w="12700">
            <a:solidFill>
              <a:srgbClr val="12355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29"/>
          <p:cNvSpPr/>
          <p:nvPr/>
        </p:nvSpPr>
        <p:spPr>
          <a:xfrm>
            <a:off x="6254496" y="4544568"/>
            <a:ext cx="182880" cy="182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</a:t>
            </a:r>
            <a:endParaRPr lang="en-US" sz="1200" dirty="0"/>
          </a:p>
        </p:txBody>
      </p:sp>
      <p:sp>
        <p:nvSpPr>
          <p:cNvPr id="33" name="Text 30"/>
          <p:cNvSpPr/>
          <p:nvPr/>
        </p:nvSpPr>
        <p:spPr>
          <a:xfrm>
            <a:off x="6793992" y="4416552"/>
            <a:ext cx="4023360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600" b="1" dirty="0">
                <a:solidFill>
                  <a:srgbClr val="1235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Komunikasi risiko</a:t>
            </a:r>
            <a:endParaRPr lang="en-US" sz="1600" dirty="0"/>
          </a:p>
        </p:txBody>
      </p:sp>
      <p:sp>
        <p:nvSpPr>
          <p:cNvPr id="34" name="Text 31"/>
          <p:cNvSpPr/>
          <p:nvPr/>
        </p:nvSpPr>
        <p:spPr>
          <a:xfrm>
            <a:off x="6793992" y="4791456"/>
            <a:ext cx="4343400" cy="38404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220" dirty="0">
                <a:solidFill>
                  <a:srgbClr val="1B26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Laporan sistematis, interpretasi bisnis, rekomendasi produk.</a:t>
            </a:r>
            <a:endParaRPr lang="en-US" sz="122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F5822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201168"/>
            <a:ext cx="12191695" cy="73152"/>
          </a:xfrm>
          <a:prstGeom prst="rect">
            <a:avLst/>
          </a:prstGeom>
          <a:solidFill>
            <a:srgbClr val="1B998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" name="Image 0" descr="/mnt/data/unpad_logo_adwt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4048" y="393192"/>
            <a:ext cx="438912" cy="43891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14400" y="429768"/>
            <a:ext cx="6949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5365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S2 Statistika Terapan | FMIPA Universitas Padjadjaran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502920" y="868680"/>
            <a:ext cx="8961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1235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Kerangka Berpikir Aktuaria</a:t>
            </a:r>
            <a:endParaRPr lang="en-US" sz="2500" dirty="0"/>
          </a:p>
        </p:txBody>
      </p:sp>
      <p:sp>
        <p:nvSpPr>
          <p:cNvPr id="7" name="Text 4"/>
          <p:cNvSpPr/>
          <p:nvPr/>
        </p:nvSpPr>
        <p:spPr>
          <a:xfrm>
            <a:off x="512064" y="1325880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5365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Rumus adalah ringkasan; pemahaman muncul dari aliran pembayaran dan probabilitas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502920" y="1682496"/>
            <a:ext cx="11183112" cy="0"/>
          </a:xfrm>
          <a:prstGeom prst="line">
            <a:avLst/>
          </a:prstGeom>
          <a:noFill/>
          <a:ln w="12700">
            <a:solidFill>
              <a:srgbClr val="D6E4EA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11027664" y="6327648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buNone/>
            </a:pPr>
            <a:r>
              <a:rPr lang="en-US" sz="800" dirty="0">
                <a:solidFill>
                  <a:srgbClr val="5365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06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512064" y="6419088"/>
            <a:ext cx="62179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20" dirty="0">
                <a:solidFill>
                  <a:srgbClr val="7B87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Materi Matematika Aktuaria 1 | Januari 2025</a:t>
            </a:r>
            <a:endParaRPr lang="en-US" sz="720" dirty="0"/>
          </a:p>
        </p:txBody>
      </p:sp>
      <p:sp>
        <p:nvSpPr>
          <p:cNvPr id="11" name="Shape 8"/>
          <p:cNvSpPr/>
          <p:nvPr/>
        </p:nvSpPr>
        <p:spPr>
          <a:xfrm>
            <a:off x="1874520" y="2926080"/>
            <a:ext cx="548640" cy="0"/>
          </a:xfrm>
          <a:prstGeom prst="line">
            <a:avLst/>
          </a:prstGeom>
          <a:noFill/>
          <a:ln w="17780">
            <a:solidFill>
              <a:srgbClr val="53657D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3977640" y="2926080"/>
            <a:ext cx="548640" cy="0"/>
          </a:xfrm>
          <a:prstGeom prst="line">
            <a:avLst/>
          </a:prstGeom>
          <a:noFill/>
          <a:ln w="17780">
            <a:solidFill>
              <a:srgbClr val="53657D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0"/>
          <p:cNvSpPr/>
          <p:nvPr/>
        </p:nvSpPr>
        <p:spPr>
          <a:xfrm>
            <a:off x="6080760" y="2926080"/>
            <a:ext cx="548640" cy="0"/>
          </a:xfrm>
          <a:prstGeom prst="line">
            <a:avLst/>
          </a:prstGeom>
          <a:noFill/>
          <a:ln w="17780">
            <a:solidFill>
              <a:srgbClr val="53657D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1"/>
          <p:cNvSpPr/>
          <p:nvPr/>
        </p:nvSpPr>
        <p:spPr>
          <a:xfrm>
            <a:off x="8183880" y="2926080"/>
            <a:ext cx="548640" cy="0"/>
          </a:xfrm>
          <a:prstGeom prst="line">
            <a:avLst/>
          </a:prstGeom>
          <a:noFill/>
          <a:ln w="17780">
            <a:solidFill>
              <a:srgbClr val="53657D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2"/>
          <p:cNvSpPr/>
          <p:nvPr/>
        </p:nvSpPr>
        <p:spPr>
          <a:xfrm>
            <a:off x="685800" y="2395728"/>
            <a:ext cx="1143000" cy="1060704"/>
          </a:xfrm>
          <a:prstGeom prst="roundRect">
            <a:avLst/>
          </a:prstGeom>
          <a:solidFill>
            <a:srgbClr val="FFF4E8"/>
          </a:solidFill>
          <a:ln w="12700">
            <a:solidFill>
              <a:srgbClr val="D7E2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758952" y="2478024"/>
            <a:ext cx="996696" cy="89611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235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Waktu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1235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pembayaran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2788920" y="2395728"/>
            <a:ext cx="1143000" cy="1060704"/>
          </a:xfrm>
          <a:prstGeom prst="roundRect">
            <a:avLst/>
          </a:prstGeom>
          <a:solidFill>
            <a:srgbClr val="EEF5F6"/>
          </a:solidFill>
          <a:ln w="12700">
            <a:solidFill>
              <a:srgbClr val="D7E2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/>
          <p:nvPr/>
        </p:nvSpPr>
        <p:spPr>
          <a:xfrm>
            <a:off x="2862072" y="2478024"/>
            <a:ext cx="996696" cy="89611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235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Faktor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1235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diskonto</a:t>
            </a:r>
            <a:endParaRPr lang="en-US" sz="1300" dirty="0"/>
          </a:p>
        </p:txBody>
      </p:sp>
      <p:sp>
        <p:nvSpPr>
          <p:cNvPr id="19" name="Shape 16"/>
          <p:cNvSpPr/>
          <p:nvPr/>
        </p:nvSpPr>
        <p:spPr>
          <a:xfrm>
            <a:off x="4892040" y="2395728"/>
            <a:ext cx="1143000" cy="1060704"/>
          </a:xfrm>
          <a:prstGeom prst="roundRect">
            <a:avLst/>
          </a:prstGeom>
          <a:solidFill>
            <a:srgbClr val="FFF4E8"/>
          </a:solidFill>
          <a:ln w="12700">
            <a:solidFill>
              <a:srgbClr val="D7E2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/>
          <p:nvPr/>
        </p:nvSpPr>
        <p:spPr>
          <a:xfrm>
            <a:off x="4965192" y="2478024"/>
            <a:ext cx="996696" cy="89611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235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Peluang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1235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kejadian</a:t>
            </a:r>
            <a:endParaRPr lang="en-US" sz="1300" dirty="0"/>
          </a:p>
        </p:txBody>
      </p:sp>
      <p:sp>
        <p:nvSpPr>
          <p:cNvPr id="21" name="Shape 18"/>
          <p:cNvSpPr/>
          <p:nvPr/>
        </p:nvSpPr>
        <p:spPr>
          <a:xfrm>
            <a:off x="6995160" y="2395728"/>
            <a:ext cx="1143000" cy="1060704"/>
          </a:xfrm>
          <a:prstGeom prst="roundRect">
            <a:avLst/>
          </a:prstGeom>
          <a:solidFill>
            <a:srgbClr val="EEF5F6"/>
          </a:solidFill>
          <a:ln w="12700">
            <a:solidFill>
              <a:srgbClr val="D7E2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19"/>
          <p:cNvSpPr/>
          <p:nvPr/>
        </p:nvSpPr>
        <p:spPr>
          <a:xfrm>
            <a:off x="7068312" y="2478024"/>
            <a:ext cx="996696" cy="89611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235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Nilai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1235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harapan</a:t>
            </a:r>
            <a:endParaRPr lang="en-US" sz="1300" dirty="0"/>
          </a:p>
        </p:txBody>
      </p:sp>
      <p:sp>
        <p:nvSpPr>
          <p:cNvPr id="23" name="Shape 20"/>
          <p:cNvSpPr/>
          <p:nvPr/>
        </p:nvSpPr>
        <p:spPr>
          <a:xfrm>
            <a:off x="9098280" y="2395728"/>
            <a:ext cx="1143000" cy="1060704"/>
          </a:xfrm>
          <a:prstGeom prst="roundRect">
            <a:avLst/>
          </a:prstGeom>
          <a:solidFill>
            <a:srgbClr val="FFF4E8"/>
          </a:solidFill>
          <a:ln w="12700">
            <a:solidFill>
              <a:srgbClr val="D7E2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1"/>
          <p:cNvSpPr/>
          <p:nvPr/>
        </p:nvSpPr>
        <p:spPr>
          <a:xfrm>
            <a:off x="9171432" y="2478024"/>
            <a:ext cx="996696" cy="89611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235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Premi /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1235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cadangan</a:t>
            </a:r>
            <a:endParaRPr lang="en-US" sz="1300" dirty="0"/>
          </a:p>
        </p:txBody>
      </p:sp>
      <p:sp>
        <p:nvSpPr>
          <p:cNvPr id="25" name="Shape 22"/>
          <p:cNvSpPr/>
          <p:nvPr/>
        </p:nvSpPr>
        <p:spPr>
          <a:xfrm>
            <a:off x="1005840" y="4251960"/>
            <a:ext cx="10195560" cy="841248"/>
          </a:xfrm>
          <a:prstGeom prst="roundRect">
            <a:avLst/>
          </a:prstGeom>
          <a:solidFill>
            <a:srgbClr val="EEF5F6"/>
          </a:solidFill>
          <a:ln w="12700">
            <a:solidFill>
              <a:srgbClr val="B9CB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3"/>
          <p:cNvSpPr/>
          <p:nvPr/>
        </p:nvSpPr>
        <p:spPr>
          <a:xfrm>
            <a:off x="1143000" y="4370832"/>
            <a:ext cx="9921240" cy="62179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1235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Nilai sekarang aktuaria = Σ / ∫  (nilai manfaat) × (faktor diskonto) × (peluang pembayaran terjadi)</a:t>
            </a:r>
            <a:endParaRPr lang="en-US" sz="1450" dirty="0"/>
          </a:p>
        </p:txBody>
      </p:sp>
      <p:sp>
        <p:nvSpPr>
          <p:cNvPr id="27" name="Text 24"/>
          <p:cNvSpPr/>
          <p:nvPr/>
        </p:nvSpPr>
        <p:spPr>
          <a:xfrm>
            <a:off x="1051560" y="5358384"/>
            <a:ext cx="10012680" cy="502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ctr">
              <a:buNone/>
            </a:pPr>
            <a:r>
              <a:rPr lang="en-US" sz="1360" i="1" dirty="0">
                <a:solidFill>
                  <a:srgbClr val="5365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Catatan praktis: selalu mulai dari diagram waktu. Setelah itu baru tuliskan diskonto, probabilitas, dan ekspektasinya. Jangan dibalik—nanti rumusnya kuat, tapi ceritanya lemes.</a:t>
            </a:r>
            <a:endParaRPr lang="en-US" sz="136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2355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309360"/>
            <a:ext cx="12191695" cy="548640"/>
          </a:xfrm>
          <a:prstGeom prst="rect">
            <a:avLst/>
          </a:prstGeom>
          <a:solidFill>
            <a:srgbClr val="F5822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" name="Image 0" descr="/mnt/data/unpad_logo_adwt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530352"/>
            <a:ext cx="566928" cy="56692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61872" y="621792"/>
            <a:ext cx="676656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E8F1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Pertemuan 1–3 | SubCPMK1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658368" y="2331720"/>
            <a:ext cx="8961120" cy="10972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42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Bagian I</a:t>
            </a:r>
            <a:endParaRPr lang="en-US" sz="4200" dirty="0"/>
          </a:p>
          <a:p>
            <a:pPr marL="0" indent="0" algn="l">
              <a:buNone/>
            </a:pPr>
            <a:r>
              <a:rPr lang="en-US" sz="42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Nilai Waktu Uang &amp; Annuitas</a:t>
            </a:r>
            <a:endParaRPr lang="en-US" sz="4200" dirty="0"/>
          </a:p>
        </p:txBody>
      </p:sp>
      <p:sp>
        <p:nvSpPr>
          <p:cNvPr id="6" name="Shape 3"/>
          <p:cNvSpPr/>
          <p:nvPr/>
        </p:nvSpPr>
        <p:spPr>
          <a:xfrm>
            <a:off x="658368" y="3621024"/>
            <a:ext cx="3182112" cy="0"/>
          </a:xfrm>
          <a:prstGeom prst="line">
            <a:avLst/>
          </a:prstGeom>
          <a:noFill/>
          <a:ln w="63500">
            <a:solidFill>
              <a:srgbClr val="F58220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F5822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201168"/>
            <a:ext cx="12191695" cy="73152"/>
          </a:xfrm>
          <a:prstGeom prst="rect">
            <a:avLst/>
          </a:prstGeom>
          <a:solidFill>
            <a:srgbClr val="1B998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" name="Image 0" descr="/mnt/data/unpad_logo_adwt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4048" y="393192"/>
            <a:ext cx="438912" cy="43891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14400" y="429768"/>
            <a:ext cx="6949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5365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S2 Statistika Terapan | FMIPA Universitas Padjadjaran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502920" y="868680"/>
            <a:ext cx="8961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1235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Nilai Waktu Uang</a:t>
            </a:r>
            <a:endParaRPr lang="en-US" sz="2500" dirty="0"/>
          </a:p>
        </p:txBody>
      </p:sp>
      <p:sp>
        <p:nvSpPr>
          <p:cNvPr id="7" name="Text 4"/>
          <p:cNvSpPr/>
          <p:nvPr/>
        </p:nvSpPr>
        <p:spPr>
          <a:xfrm>
            <a:off x="512064" y="1325880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5365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Menghubungkan pembayaran pada waktu berbeda melalui akumulasi dan diskonto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502920" y="1682496"/>
            <a:ext cx="11183112" cy="0"/>
          </a:xfrm>
          <a:prstGeom prst="line">
            <a:avLst/>
          </a:prstGeom>
          <a:noFill/>
          <a:ln w="12700">
            <a:solidFill>
              <a:srgbClr val="D6E4EA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11027664" y="6327648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buNone/>
            </a:pPr>
            <a:r>
              <a:rPr lang="en-US" sz="800" dirty="0">
                <a:solidFill>
                  <a:srgbClr val="5365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08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512064" y="6419088"/>
            <a:ext cx="62179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20" dirty="0">
                <a:solidFill>
                  <a:srgbClr val="7B87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Materi Matematika Aktuaria 1 | Januari 2025</a:t>
            </a:r>
            <a:endParaRPr lang="en-US" sz="720" dirty="0"/>
          </a:p>
        </p:txBody>
      </p:sp>
      <p:sp>
        <p:nvSpPr>
          <p:cNvPr id="11" name="Text 8"/>
          <p:cNvSpPr/>
          <p:nvPr/>
        </p:nvSpPr>
        <p:spPr>
          <a:xfrm>
            <a:off x="658368" y="1965960"/>
            <a:ext cx="5029200" cy="4114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235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Pertanyaan inti: berapa nilai wajar pembayaran masa depan hari ini?</a:t>
            </a:r>
            <a:endParaRPr lang="en-US" sz="1800" dirty="0"/>
          </a:p>
        </p:txBody>
      </p:sp>
      <p:sp>
        <p:nvSpPr>
          <p:cNvPr id="12" name="Text 9"/>
          <p:cNvSpPr/>
          <p:nvPr/>
        </p:nvSpPr>
        <p:spPr>
          <a:xfrm>
            <a:off x="685800" y="2606040"/>
            <a:ext cx="5074920" cy="20116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190500" indent="-190500">
              <a:buSzPct val="100000"/>
              <a:buChar char="•"/>
            </a:pPr>
            <a:r>
              <a:rPr lang="en-US" sz="1310" dirty="0">
                <a:solidFill>
                  <a:srgbClr val="1B26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Bunga majemuk mengubah nilai awal menjadi nilai akumulasi.</a:t>
            </a:r>
            <a:endParaRPr lang="en-US" sz="1310" dirty="0"/>
          </a:p>
          <a:p>
            <a:pPr marL="190500" indent="-190500">
              <a:buSzPct val="100000"/>
              <a:buChar char="•"/>
            </a:pPr>
            <a:r>
              <a:rPr lang="en-US" sz="1310" dirty="0">
                <a:solidFill>
                  <a:srgbClr val="1B26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Faktor diskonto mengubah pembayaran masa depan menjadi nilai tunai.</a:t>
            </a:r>
            <a:endParaRPr lang="en-US" sz="1310" dirty="0"/>
          </a:p>
          <a:p>
            <a:pPr marL="190500" indent="-190500">
              <a:buSzPct val="100000"/>
              <a:buChar char="•"/>
            </a:pPr>
            <a:r>
              <a:rPr lang="en-US" sz="1310" dirty="0">
                <a:solidFill>
                  <a:srgbClr val="1B26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Dalam kontrak asuransi, diskonto harus dibaca bersama peluang pembayaran terjadi.</a:t>
            </a:r>
            <a:endParaRPr lang="en-US" sz="1310" dirty="0"/>
          </a:p>
          <a:p>
            <a:pPr marL="190500" indent="-190500">
              <a:buSzPct val="100000"/>
              <a:buChar char="•"/>
            </a:pPr>
            <a:r>
              <a:rPr lang="en-US" sz="1310" dirty="0">
                <a:solidFill>
                  <a:srgbClr val="1B26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Sensitivitas terhadap tingkat bunga menjadi bagian penting interpretasi aktuaria.</a:t>
            </a:r>
            <a:endParaRPr lang="en-US" sz="1310" dirty="0"/>
          </a:p>
        </p:txBody>
      </p:sp>
      <p:sp>
        <p:nvSpPr>
          <p:cNvPr id="13" name="Shape 10"/>
          <p:cNvSpPr/>
          <p:nvPr/>
        </p:nvSpPr>
        <p:spPr>
          <a:xfrm>
            <a:off x="6537960" y="2039112"/>
            <a:ext cx="4023360" cy="658368"/>
          </a:xfrm>
          <a:prstGeom prst="roundRect">
            <a:avLst/>
          </a:prstGeom>
          <a:solidFill>
            <a:srgbClr val="EEF5F6"/>
          </a:solidFill>
          <a:ln w="12700">
            <a:solidFill>
              <a:srgbClr val="B9CB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6675120" y="2157984"/>
            <a:ext cx="3749040" cy="43891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1235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FV = P(1+i)^n</a:t>
            </a:r>
            <a:endParaRPr lang="en-US" sz="1450" dirty="0"/>
          </a:p>
        </p:txBody>
      </p:sp>
      <p:sp>
        <p:nvSpPr>
          <p:cNvPr id="15" name="Shape 12"/>
          <p:cNvSpPr/>
          <p:nvPr/>
        </p:nvSpPr>
        <p:spPr>
          <a:xfrm>
            <a:off x="6537960" y="2907792"/>
            <a:ext cx="4023360" cy="658368"/>
          </a:xfrm>
          <a:prstGeom prst="roundRect">
            <a:avLst/>
          </a:prstGeom>
          <a:solidFill>
            <a:srgbClr val="EEF5F6"/>
          </a:solidFill>
          <a:ln w="12700">
            <a:solidFill>
              <a:srgbClr val="B9CB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6675120" y="3026664"/>
            <a:ext cx="3749040" cy="43891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1235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PV = C(1+i)^{-n} = C v^n</a:t>
            </a:r>
            <a:endParaRPr lang="en-US" sz="1450" dirty="0"/>
          </a:p>
        </p:txBody>
      </p:sp>
      <p:sp>
        <p:nvSpPr>
          <p:cNvPr id="17" name="Shape 14"/>
          <p:cNvSpPr/>
          <p:nvPr/>
        </p:nvSpPr>
        <p:spPr>
          <a:xfrm>
            <a:off x="6537960" y="3776472"/>
            <a:ext cx="4023360" cy="658368"/>
          </a:xfrm>
          <a:prstGeom prst="roundRect">
            <a:avLst/>
          </a:prstGeom>
          <a:solidFill>
            <a:srgbClr val="EEF5F6"/>
          </a:solidFill>
          <a:ln w="12700">
            <a:solidFill>
              <a:srgbClr val="B9CB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/>
          <p:nvPr/>
        </p:nvSpPr>
        <p:spPr>
          <a:xfrm>
            <a:off x="6675120" y="3895344"/>
            <a:ext cx="3749040" cy="43891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1235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 = (1+i)^{-1}</a:t>
            </a:r>
            <a:endParaRPr lang="en-US" sz="1450" dirty="0"/>
          </a:p>
        </p:txBody>
      </p:sp>
      <p:sp>
        <p:nvSpPr>
          <p:cNvPr id="19" name="Text 16"/>
          <p:cNvSpPr/>
          <p:nvPr/>
        </p:nvSpPr>
        <p:spPr>
          <a:xfrm>
            <a:off x="6583680" y="4681728"/>
            <a:ext cx="3977640" cy="5943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280" dirty="0">
                <a:solidFill>
                  <a:srgbClr val="1B26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Contoh: Rp10.000.000 selama 5 tahun pada bunga majemuk 6% → FV = 10.000.000(1,06)^5.</a:t>
            </a:r>
            <a:endParaRPr lang="en-US" sz="128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F5822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201168"/>
            <a:ext cx="12191695" cy="73152"/>
          </a:xfrm>
          <a:prstGeom prst="rect">
            <a:avLst/>
          </a:prstGeom>
          <a:solidFill>
            <a:srgbClr val="1B998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" name="Image 0" descr="/mnt/data/unpad_logo_adwt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4048" y="393192"/>
            <a:ext cx="438912" cy="43891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14400" y="429768"/>
            <a:ext cx="6949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5365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S2 Statistika Terapan | FMIPA Universitas Padjadjaran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502920" y="868680"/>
            <a:ext cx="8961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1235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Annuitas Pasti dan Aplikasinya</a:t>
            </a:r>
            <a:endParaRPr lang="en-US" sz="2500" dirty="0"/>
          </a:p>
        </p:txBody>
      </p:sp>
      <p:sp>
        <p:nvSpPr>
          <p:cNvPr id="7" name="Text 4"/>
          <p:cNvSpPr/>
          <p:nvPr/>
        </p:nvSpPr>
        <p:spPr>
          <a:xfrm>
            <a:off x="512064" y="1325880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5365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Memodelkan pembayaran berkala pada kontrak keuangan dan asuransi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502920" y="1682496"/>
            <a:ext cx="11183112" cy="0"/>
          </a:xfrm>
          <a:prstGeom prst="line">
            <a:avLst/>
          </a:prstGeom>
          <a:noFill/>
          <a:ln w="12700">
            <a:solidFill>
              <a:srgbClr val="D6E4EA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11027664" y="6327648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buNone/>
            </a:pPr>
            <a:r>
              <a:rPr lang="en-US" sz="800" dirty="0">
                <a:solidFill>
                  <a:srgbClr val="5365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09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512064" y="6419088"/>
            <a:ext cx="62179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20" dirty="0">
                <a:solidFill>
                  <a:srgbClr val="7B87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Materi Matematika Aktuaria 1 | Januari 2025</a:t>
            </a:r>
            <a:endParaRPr lang="en-US" sz="720" dirty="0"/>
          </a:p>
        </p:txBody>
      </p:sp>
      <p:sp>
        <p:nvSpPr>
          <p:cNvPr id="11" name="Text 8"/>
          <p:cNvSpPr/>
          <p:nvPr/>
        </p:nvSpPr>
        <p:spPr>
          <a:xfrm>
            <a:off x="640080" y="1938528"/>
            <a:ext cx="5303520" cy="43891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235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Annuitas membuat pembayaran berulang dapat diringkas sebagai satu nilai saat ini.</a:t>
            </a:r>
            <a:endParaRPr lang="en-US" sz="1800" dirty="0"/>
          </a:p>
        </p:txBody>
      </p:sp>
      <p:sp>
        <p:nvSpPr>
          <p:cNvPr id="12" name="Shape 9"/>
          <p:cNvSpPr/>
          <p:nvPr/>
        </p:nvSpPr>
        <p:spPr>
          <a:xfrm>
            <a:off x="777240" y="2697480"/>
            <a:ext cx="4480560" cy="640080"/>
          </a:xfrm>
          <a:prstGeom prst="roundRect">
            <a:avLst/>
          </a:prstGeom>
          <a:solidFill>
            <a:srgbClr val="EEF5F6"/>
          </a:solidFill>
          <a:ln w="12700">
            <a:solidFill>
              <a:srgbClr val="B9CB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914400" y="2816352"/>
            <a:ext cx="4206240" cy="42062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1235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a_{n|} = (1 - v^n) / i</a:t>
            </a:r>
            <a:endParaRPr lang="en-US" sz="1450" dirty="0"/>
          </a:p>
        </p:txBody>
      </p:sp>
      <p:sp>
        <p:nvSpPr>
          <p:cNvPr id="14" name="Shape 11"/>
          <p:cNvSpPr/>
          <p:nvPr/>
        </p:nvSpPr>
        <p:spPr>
          <a:xfrm>
            <a:off x="777240" y="3520440"/>
            <a:ext cx="4480560" cy="640080"/>
          </a:xfrm>
          <a:prstGeom prst="roundRect">
            <a:avLst/>
          </a:prstGeom>
          <a:solidFill>
            <a:srgbClr val="EEF5F6"/>
          </a:solidFill>
          <a:ln w="12700">
            <a:solidFill>
              <a:srgbClr val="B9CB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914400" y="3639312"/>
            <a:ext cx="4206240" cy="42062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1235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ä_{n|} = (1+i) a_{n|}</a:t>
            </a:r>
            <a:endParaRPr lang="en-US" sz="1450" dirty="0"/>
          </a:p>
        </p:txBody>
      </p:sp>
      <p:sp>
        <p:nvSpPr>
          <p:cNvPr id="16" name="Text 13"/>
          <p:cNvSpPr/>
          <p:nvPr/>
        </p:nvSpPr>
        <p:spPr>
          <a:xfrm>
            <a:off x="6080760" y="2331720"/>
            <a:ext cx="4846320" cy="21945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190500" indent="-190500">
              <a:buSzPct val="100000"/>
              <a:buChar char="•"/>
            </a:pPr>
            <a:r>
              <a:rPr lang="en-US" sz="1300" dirty="0">
                <a:solidFill>
                  <a:srgbClr val="1B26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Annuitas biasa: pembayaran akhir periode.</a:t>
            </a:r>
            <a:endParaRPr lang="en-US" sz="1300" dirty="0"/>
          </a:p>
          <a:p>
            <a:pPr marL="190500" indent="-190500">
              <a:buSzPct val="100000"/>
              <a:buChar char="•"/>
            </a:pPr>
            <a:r>
              <a:rPr lang="en-US" sz="1300" dirty="0">
                <a:solidFill>
                  <a:srgbClr val="1B26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Annuitas jatuh tempo: pembayaran awal periode.</a:t>
            </a:r>
            <a:endParaRPr lang="en-US" sz="1300" dirty="0"/>
          </a:p>
          <a:p>
            <a:pPr marL="190500" indent="-190500">
              <a:buSzPct val="100000"/>
              <a:buChar char="•"/>
            </a:pPr>
            <a:r>
              <a:rPr lang="en-US" sz="1300" dirty="0">
                <a:solidFill>
                  <a:srgbClr val="1B26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Annuitas bertumbuh: pembayaran berubah mengikuti pola tertentu.</a:t>
            </a:r>
            <a:endParaRPr lang="en-US" sz="1300" dirty="0"/>
          </a:p>
          <a:p>
            <a:pPr marL="190500" indent="-190500">
              <a:buSzPct val="100000"/>
              <a:buChar char="•"/>
            </a:pPr>
            <a:r>
              <a:rPr lang="en-US" sz="1300" dirty="0">
                <a:solidFill>
                  <a:srgbClr val="1B26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Aplikasi: cicilan, pembayaran klaim berkala, pensiun, dan kontrak pendapatan.</a:t>
            </a:r>
            <a:endParaRPr lang="en-US" sz="1300" dirty="0"/>
          </a:p>
        </p:txBody>
      </p:sp>
      <p:sp>
        <p:nvSpPr>
          <p:cNvPr id="17" name="Shape 14"/>
          <p:cNvSpPr/>
          <p:nvPr/>
        </p:nvSpPr>
        <p:spPr>
          <a:xfrm>
            <a:off x="1097280" y="5230368"/>
            <a:ext cx="9601200" cy="0"/>
          </a:xfrm>
          <a:prstGeom prst="line">
            <a:avLst/>
          </a:prstGeom>
          <a:noFill/>
          <a:ln w="25400">
            <a:solidFill>
              <a:srgbClr val="53657D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5"/>
          <p:cNvSpPr/>
          <p:nvPr/>
        </p:nvSpPr>
        <p:spPr>
          <a:xfrm>
            <a:off x="1024128" y="5157216"/>
            <a:ext cx="146304" cy="146304"/>
          </a:xfrm>
          <a:prstGeom prst="ellipse">
            <a:avLst/>
          </a:prstGeom>
          <a:solidFill>
            <a:srgbClr val="F58220"/>
          </a:solidFill>
          <a:ln w="12700">
            <a:solidFill>
              <a:srgbClr val="F582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/>
          <p:nvPr/>
        </p:nvSpPr>
        <p:spPr>
          <a:xfrm>
            <a:off x="987552" y="5413248"/>
            <a:ext cx="228600" cy="16459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ctr">
              <a:buNone/>
            </a:pPr>
            <a:r>
              <a:rPr lang="en-US" sz="850" dirty="0">
                <a:solidFill>
                  <a:srgbClr val="5365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</a:t>
            </a:r>
            <a:endParaRPr lang="en-US" sz="850" dirty="0"/>
          </a:p>
        </p:txBody>
      </p:sp>
      <p:sp>
        <p:nvSpPr>
          <p:cNvPr id="20" name="Shape 17"/>
          <p:cNvSpPr/>
          <p:nvPr/>
        </p:nvSpPr>
        <p:spPr>
          <a:xfrm>
            <a:off x="2944368" y="5157216"/>
            <a:ext cx="146304" cy="146304"/>
          </a:xfrm>
          <a:prstGeom prst="ellipse">
            <a:avLst/>
          </a:prstGeom>
          <a:solidFill>
            <a:srgbClr val="1B998B"/>
          </a:solidFill>
          <a:ln w="12700">
            <a:solidFill>
              <a:srgbClr val="1B99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8"/>
          <p:cNvSpPr/>
          <p:nvPr/>
        </p:nvSpPr>
        <p:spPr>
          <a:xfrm>
            <a:off x="2907792" y="5413248"/>
            <a:ext cx="228600" cy="16459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ctr">
              <a:buNone/>
            </a:pPr>
            <a:r>
              <a:rPr lang="en-US" sz="850" dirty="0">
                <a:solidFill>
                  <a:srgbClr val="5365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850" dirty="0"/>
          </a:p>
        </p:txBody>
      </p:sp>
      <p:sp>
        <p:nvSpPr>
          <p:cNvPr id="22" name="Shape 19"/>
          <p:cNvSpPr/>
          <p:nvPr/>
        </p:nvSpPr>
        <p:spPr>
          <a:xfrm>
            <a:off x="4864608" y="5157216"/>
            <a:ext cx="146304" cy="146304"/>
          </a:xfrm>
          <a:prstGeom prst="ellipse">
            <a:avLst/>
          </a:prstGeom>
          <a:solidFill>
            <a:srgbClr val="1B998B"/>
          </a:solidFill>
          <a:ln w="12700">
            <a:solidFill>
              <a:srgbClr val="1B99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0"/>
          <p:cNvSpPr/>
          <p:nvPr/>
        </p:nvSpPr>
        <p:spPr>
          <a:xfrm>
            <a:off x="4828032" y="5413248"/>
            <a:ext cx="228600" cy="16459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ctr">
              <a:buNone/>
            </a:pPr>
            <a:r>
              <a:rPr lang="en-US" sz="850" dirty="0">
                <a:solidFill>
                  <a:srgbClr val="5365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850" dirty="0"/>
          </a:p>
        </p:txBody>
      </p:sp>
      <p:sp>
        <p:nvSpPr>
          <p:cNvPr id="24" name="Shape 21"/>
          <p:cNvSpPr/>
          <p:nvPr/>
        </p:nvSpPr>
        <p:spPr>
          <a:xfrm>
            <a:off x="6784848" y="5157216"/>
            <a:ext cx="146304" cy="146304"/>
          </a:xfrm>
          <a:prstGeom prst="ellipse">
            <a:avLst/>
          </a:prstGeom>
          <a:solidFill>
            <a:srgbClr val="1B998B"/>
          </a:solidFill>
          <a:ln w="12700">
            <a:solidFill>
              <a:srgbClr val="1B99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2"/>
          <p:cNvSpPr/>
          <p:nvPr/>
        </p:nvSpPr>
        <p:spPr>
          <a:xfrm>
            <a:off x="6748272" y="5413248"/>
            <a:ext cx="228600" cy="16459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ctr">
              <a:buNone/>
            </a:pPr>
            <a:r>
              <a:rPr lang="en-US" sz="850" dirty="0">
                <a:solidFill>
                  <a:srgbClr val="5365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850" dirty="0"/>
          </a:p>
        </p:txBody>
      </p:sp>
      <p:sp>
        <p:nvSpPr>
          <p:cNvPr id="26" name="Shape 23"/>
          <p:cNvSpPr/>
          <p:nvPr/>
        </p:nvSpPr>
        <p:spPr>
          <a:xfrm>
            <a:off x="8705088" y="5157216"/>
            <a:ext cx="146304" cy="146304"/>
          </a:xfrm>
          <a:prstGeom prst="ellipse">
            <a:avLst/>
          </a:prstGeom>
          <a:solidFill>
            <a:srgbClr val="1B998B"/>
          </a:solidFill>
          <a:ln w="12700">
            <a:solidFill>
              <a:srgbClr val="1B99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4"/>
          <p:cNvSpPr/>
          <p:nvPr/>
        </p:nvSpPr>
        <p:spPr>
          <a:xfrm>
            <a:off x="8668512" y="5413248"/>
            <a:ext cx="228600" cy="16459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ctr">
              <a:buNone/>
            </a:pPr>
            <a:r>
              <a:rPr lang="en-US" sz="850" dirty="0">
                <a:solidFill>
                  <a:srgbClr val="5365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850" dirty="0"/>
          </a:p>
        </p:txBody>
      </p:sp>
      <p:sp>
        <p:nvSpPr>
          <p:cNvPr id="28" name="Shape 25"/>
          <p:cNvSpPr/>
          <p:nvPr/>
        </p:nvSpPr>
        <p:spPr>
          <a:xfrm>
            <a:off x="10625328" y="5157216"/>
            <a:ext cx="146304" cy="146304"/>
          </a:xfrm>
          <a:prstGeom prst="ellipse">
            <a:avLst/>
          </a:prstGeom>
          <a:solidFill>
            <a:srgbClr val="1B998B"/>
          </a:solidFill>
          <a:ln w="12700">
            <a:solidFill>
              <a:srgbClr val="1B99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6"/>
          <p:cNvSpPr/>
          <p:nvPr/>
        </p:nvSpPr>
        <p:spPr>
          <a:xfrm>
            <a:off x="10588752" y="5413248"/>
            <a:ext cx="228600" cy="16459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ctr">
              <a:buNone/>
            </a:pPr>
            <a:r>
              <a:rPr lang="en-US" sz="850" dirty="0">
                <a:solidFill>
                  <a:srgbClr val="5365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850" dirty="0"/>
          </a:p>
        </p:txBody>
      </p:sp>
      <p:sp>
        <p:nvSpPr>
          <p:cNvPr id="30" name="Text 27"/>
          <p:cNvSpPr/>
          <p:nvPr/>
        </p:nvSpPr>
        <p:spPr>
          <a:xfrm>
            <a:off x="1828800" y="5797296"/>
            <a:ext cx="8321040" cy="32918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ctr">
              <a:buNone/>
            </a:pPr>
            <a:r>
              <a:rPr lang="en-US" sz="1300" i="1" dirty="0">
                <a:solidFill>
                  <a:srgbClr val="5365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Diagram waktu membantu memastikan pembayaran “awal” atau “akhir” periode tidak tertukar.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B998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309360"/>
            <a:ext cx="12191695" cy="548640"/>
          </a:xfrm>
          <a:prstGeom prst="rect">
            <a:avLst/>
          </a:prstGeom>
          <a:solidFill>
            <a:srgbClr val="F5822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" name="Image 0" descr="/mnt/data/unpad_logo_adwt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530352"/>
            <a:ext cx="566928" cy="56692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61872" y="621792"/>
            <a:ext cx="676656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E8F1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Pertemuan 4–7 | SubCPMK2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658368" y="2331720"/>
            <a:ext cx="8961120" cy="10972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42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Bagian II</a:t>
            </a:r>
            <a:endParaRPr lang="en-US" sz="4200" dirty="0"/>
          </a:p>
          <a:p>
            <a:pPr marL="0" indent="0" algn="l">
              <a:buNone/>
            </a:pPr>
            <a:r>
              <a:rPr lang="en-US" sz="42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Mortalitas &amp; Tabel Kehidupan</a:t>
            </a:r>
            <a:endParaRPr lang="en-US" sz="4200" dirty="0"/>
          </a:p>
        </p:txBody>
      </p:sp>
      <p:sp>
        <p:nvSpPr>
          <p:cNvPr id="6" name="Shape 3"/>
          <p:cNvSpPr/>
          <p:nvPr/>
        </p:nvSpPr>
        <p:spPr>
          <a:xfrm>
            <a:off x="658368" y="3621024"/>
            <a:ext cx="3182112" cy="0"/>
          </a:xfrm>
          <a:prstGeom prst="line">
            <a:avLst/>
          </a:prstGeom>
          <a:noFill/>
          <a:ln w="63500">
            <a:solidFill>
              <a:srgbClr val="F58220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F5822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201168"/>
            <a:ext cx="12191695" cy="73152"/>
          </a:xfrm>
          <a:prstGeom prst="rect">
            <a:avLst/>
          </a:prstGeom>
          <a:solidFill>
            <a:srgbClr val="1B998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" name="Image 0" descr="/mnt/data/unpad_logo_adwt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4048" y="393192"/>
            <a:ext cx="438912" cy="43891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14400" y="429768"/>
            <a:ext cx="6949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5365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S2 Statistika Terapan | FMIPA Universitas Padjadjaran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502920" y="868680"/>
            <a:ext cx="8961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1235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Future Lifetime dan Survival Probability</a:t>
            </a:r>
            <a:endParaRPr lang="en-US" sz="2500" dirty="0"/>
          </a:p>
        </p:txBody>
      </p:sp>
      <p:sp>
        <p:nvSpPr>
          <p:cNvPr id="7" name="Text 4"/>
          <p:cNvSpPr/>
          <p:nvPr/>
        </p:nvSpPr>
        <p:spPr>
          <a:xfrm>
            <a:off x="512064" y="1325880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5365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Memandang usia kematian sebagai variabel acak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502920" y="1682496"/>
            <a:ext cx="11183112" cy="0"/>
          </a:xfrm>
          <a:prstGeom prst="line">
            <a:avLst/>
          </a:prstGeom>
          <a:noFill/>
          <a:ln w="12700">
            <a:solidFill>
              <a:srgbClr val="D6E4EA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11027664" y="6327648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buNone/>
            </a:pPr>
            <a:r>
              <a:rPr lang="en-US" sz="800" dirty="0">
                <a:solidFill>
                  <a:srgbClr val="5365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11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512064" y="6419088"/>
            <a:ext cx="62179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20" dirty="0">
                <a:solidFill>
                  <a:srgbClr val="7B87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Materi Matematika Aktuaria 1 | Januari 2025</a:t>
            </a:r>
            <a:endParaRPr lang="en-US" sz="720" dirty="0"/>
          </a:p>
        </p:txBody>
      </p:sp>
      <p:sp>
        <p:nvSpPr>
          <p:cNvPr id="11" name="Text 8"/>
          <p:cNvSpPr/>
          <p:nvPr/>
        </p:nvSpPr>
        <p:spPr>
          <a:xfrm>
            <a:off x="640080" y="1920240"/>
            <a:ext cx="3200400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235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Notasi dasar</a:t>
            </a:r>
            <a:endParaRPr lang="en-US" sz="1800" dirty="0"/>
          </a:p>
        </p:txBody>
      </p:sp>
      <p:sp>
        <p:nvSpPr>
          <p:cNvPr id="12" name="Shape 9"/>
          <p:cNvSpPr/>
          <p:nvPr/>
        </p:nvSpPr>
        <p:spPr>
          <a:xfrm>
            <a:off x="658368" y="2331720"/>
            <a:ext cx="4023360" cy="566928"/>
          </a:xfrm>
          <a:prstGeom prst="roundRect">
            <a:avLst/>
          </a:prstGeom>
          <a:solidFill>
            <a:srgbClr val="EEF5F6"/>
          </a:solidFill>
          <a:ln w="12700">
            <a:solidFill>
              <a:srgbClr val="B9CB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795528" y="2450592"/>
            <a:ext cx="3749040" cy="34747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1235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T_x = future lifetime kontinu</a:t>
            </a:r>
            <a:endParaRPr lang="en-US" sz="1450" dirty="0"/>
          </a:p>
        </p:txBody>
      </p:sp>
      <p:sp>
        <p:nvSpPr>
          <p:cNvPr id="14" name="Shape 11"/>
          <p:cNvSpPr/>
          <p:nvPr/>
        </p:nvSpPr>
        <p:spPr>
          <a:xfrm>
            <a:off x="658368" y="3035808"/>
            <a:ext cx="4023360" cy="566928"/>
          </a:xfrm>
          <a:prstGeom prst="roundRect">
            <a:avLst/>
          </a:prstGeom>
          <a:solidFill>
            <a:srgbClr val="EEF5F6"/>
          </a:solidFill>
          <a:ln w="12700">
            <a:solidFill>
              <a:srgbClr val="B9CB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795528" y="3154680"/>
            <a:ext cx="3749040" cy="34747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1235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{}_t p_x = P(T_x &gt; t)</a:t>
            </a:r>
            <a:endParaRPr lang="en-US" sz="1450" dirty="0"/>
          </a:p>
        </p:txBody>
      </p:sp>
      <p:sp>
        <p:nvSpPr>
          <p:cNvPr id="16" name="Shape 13"/>
          <p:cNvSpPr/>
          <p:nvPr/>
        </p:nvSpPr>
        <p:spPr>
          <a:xfrm>
            <a:off x="658368" y="3739896"/>
            <a:ext cx="4023360" cy="566928"/>
          </a:xfrm>
          <a:prstGeom prst="roundRect">
            <a:avLst/>
          </a:prstGeom>
          <a:solidFill>
            <a:srgbClr val="EEF5F6"/>
          </a:solidFill>
          <a:ln w="12700">
            <a:solidFill>
              <a:srgbClr val="B9CB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795528" y="3858768"/>
            <a:ext cx="3749040" cy="34747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1235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{}_t q_x = 1 - {}_t p_x</a:t>
            </a:r>
            <a:endParaRPr lang="en-US" sz="1450" dirty="0"/>
          </a:p>
        </p:txBody>
      </p:sp>
      <p:sp>
        <p:nvSpPr>
          <p:cNvPr id="18" name="Text 15"/>
          <p:cNvSpPr/>
          <p:nvPr/>
        </p:nvSpPr>
        <p:spPr>
          <a:xfrm>
            <a:off x="758952" y="4590288"/>
            <a:ext cx="3840480" cy="5486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260" dirty="0">
                <a:solidFill>
                  <a:srgbClr val="1B26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Contoh: 10p40 adalah peluang seseorang berusia 40 tahun masih hidup sampai usia 50.</a:t>
            </a:r>
            <a:endParaRPr lang="en-US" sz="1260" dirty="0"/>
          </a:p>
        </p:txBody>
      </p:sp>
      <p:graphicFrame>
        <p:nvGraphicFramePr>
          <p:cNvPr id="19" name="Chart 0"/>
          <p:cNvGraphicFramePr/>
          <p:nvPr/>
        </p:nvGraphicFramePr>
        <p:xfrm>
          <a:off x="5486400" y="2084832"/>
          <a:ext cx="5257800" cy="30632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F5822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201168"/>
            <a:ext cx="12191695" cy="73152"/>
          </a:xfrm>
          <a:prstGeom prst="rect">
            <a:avLst/>
          </a:prstGeom>
          <a:solidFill>
            <a:srgbClr val="1B998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" name="Image 0" descr="/mnt/data/unpad_logo_adwt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4048" y="393192"/>
            <a:ext cx="438912" cy="43891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14400" y="429768"/>
            <a:ext cx="6949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5365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S2 Statistika Terapan | FMIPA Universitas Padjadjaran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502920" y="868680"/>
            <a:ext cx="8961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1235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Tabel Kehidupan dan Hukum Mortalitas</a:t>
            </a:r>
            <a:endParaRPr lang="en-US" sz="2500" dirty="0"/>
          </a:p>
        </p:txBody>
      </p:sp>
      <p:sp>
        <p:nvSpPr>
          <p:cNvPr id="7" name="Text 4"/>
          <p:cNvSpPr/>
          <p:nvPr/>
        </p:nvSpPr>
        <p:spPr>
          <a:xfrm>
            <a:off x="512064" y="1325880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5365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Dari lx, dx, qx menuju model Gompertz dan Makeham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502920" y="1682496"/>
            <a:ext cx="11183112" cy="0"/>
          </a:xfrm>
          <a:prstGeom prst="line">
            <a:avLst/>
          </a:prstGeom>
          <a:noFill/>
          <a:ln w="12700">
            <a:solidFill>
              <a:srgbClr val="D6E4EA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11027664" y="6327648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buNone/>
            </a:pPr>
            <a:r>
              <a:rPr lang="en-US" sz="800" dirty="0">
                <a:solidFill>
                  <a:srgbClr val="5365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12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512064" y="6419088"/>
            <a:ext cx="62179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20" dirty="0">
                <a:solidFill>
                  <a:srgbClr val="7B87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Materi Matematika Aktuaria 1 | Januari 2025</a:t>
            </a:r>
            <a:endParaRPr lang="en-US" sz="720" dirty="0"/>
          </a:p>
        </p:txBody>
      </p:sp>
      <p:sp>
        <p:nvSpPr>
          <p:cNvPr id="11" name="Shape 8"/>
          <p:cNvSpPr/>
          <p:nvPr/>
        </p:nvSpPr>
        <p:spPr>
          <a:xfrm>
            <a:off x="731520" y="1956816"/>
            <a:ext cx="4617720" cy="777240"/>
          </a:xfrm>
          <a:prstGeom prst="roundRect">
            <a:avLst/>
          </a:prstGeom>
          <a:solidFill>
            <a:srgbClr val="FFF4E8"/>
          </a:solidFill>
          <a:ln w="12700">
            <a:solidFill>
              <a:srgbClr val="D7E2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868680" y="2157984"/>
            <a:ext cx="59436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2364A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l_x</a:t>
            </a:r>
            <a:endParaRPr lang="en-US" sz="1700" dirty="0"/>
          </a:p>
        </p:txBody>
      </p:sp>
      <p:sp>
        <p:nvSpPr>
          <p:cNvPr id="13" name="Text 10"/>
          <p:cNvSpPr/>
          <p:nvPr/>
        </p:nvSpPr>
        <p:spPr>
          <a:xfrm>
            <a:off x="1572768" y="2066544"/>
            <a:ext cx="3291840" cy="2011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270" b="1" dirty="0">
                <a:solidFill>
                  <a:srgbClr val="1235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jumlah hidup pada usia x</a:t>
            </a:r>
            <a:endParaRPr lang="en-US" sz="1270" dirty="0"/>
          </a:p>
        </p:txBody>
      </p:sp>
      <p:sp>
        <p:nvSpPr>
          <p:cNvPr id="14" name="Text 11"/>
          <p:cNvSpPr/>
          <p:nvPr/>
        </p:nvSpPr>
        <p:spPr>
          <a:xfrm>
            <a:off x="1572768" y="2359152"/>
            <a:ext cx="3291840" cy="2011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070" dirty="0">
                <a:solidFill>
                  <a:srgbClr val="5365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radix tabel kehidupan</a:t>
            </a:r>
            <a:endParaRPr lang="en-US" sz="1070" dirty="0"/>
          </a:p>
        </p:txBody>
      </p:sp>
      <p:sp>
        <p:nvSpPr>
          <p:cNvPr id="15" name="Shape 12"/>
          <p:cNvSpPr/>
          <p:nvPr/>
        </p:nvSpPr>
        <p:spPr>
          <a:xfrm>
            <a:off x="5989320" y="1956816"/>
            <a:ext cx="4617720" cy="777240"/>
          </a:xfrm>
          <a:prstGeom prst="roundRect">
            <a:avLst/>
          </a:prstGeom>
          <a:solidFill>
            <a:srgbClr val="EEF5F6"/>
          </a:solidFill>
          <a:ln w="12700">
            <a:solidFill>
              <a:srgbClr val="D7E2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6126480" y="2157984"/>
            <a:ext cx="59436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1B99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d_x</a:t>
            </a:r>
            <a:endParaRPr lang="en-US" sz="1700" dirty="0"/>
          </a:p>
        </p:txBody>
      </p:sp>
      <p:sp>
        <p:nvSpPr>
          <p:cNvPr id="17" name="Text 14"/>
          <p:cNvSpPr/>
          <p:nvPr/>
        </p:nvSpPr>
        <p:spPr>
          <a:xfrm>
            <a:off x="6830568" y="2066544"/>
            <a:ext cx="3291840" cy="2011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270" b="1" dirty="0">
                <a:solidFill>
                  <a:srgbClr val="1235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jumlah meninggal x sampai x+1</a:t>
            </a:r>
            <a:endParaRPr lang="en-US" sz="1270" dirty="0"/>
          </a:p>
        </p:txBody>
      </p:sp>
      <p:sp>
        <p:nvSpPr>
          <p:cNvPr id="18" name="Text 15"/>
          <p:cNvSpPr/>
          <p:nvPr/>
        </p:nvSpPr>
        <p:spPr>
          <a:xfrm>
            <a:off x="6830568" y="2359152"/>
            <a:ext cx="3291840" cy="2011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070" dirty="0">
                <a:solidFill>
                  <a:srgbClr val="5365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d_x = l_x q_x</a:t>
            </a:r>
            <a:endParaRPr lang="en-US" sz="1070" dirty="0"/>
          </a:p>
        </p:txBody>
      </p:sp>
      <p:sp>
        <p:nvSpPr>
          <p:cNvPr id="19" name="Shape 16"/>
          <p:cNvSpPr/>
          <p:nvPr/>
        </p:nvSpPr>
        <p:spPr>
          <a:xfrm>
            <a:off x="731520" y="3035808"/>
            <a:ext cx="4617720" cy="777240"/>
          </a:xfrm>
          <a:prstGeom prst="roundRect">
            <a:avLst/>
          </a:prstGeom>
          <a:solidFill>
            <a:srgbClr val="FFF4E8"/>
          </a:solidFill>
          <a:ln w="12700">
            <a:solidFill>
              <a:srgbClr val="D7E2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/>
          <p:nvPr/>
        </p:nvSpPr>
        <p:spPr>
          <a:xfrm>
            <a:off x="868680" y="3236976"/>
            <a:ext cx="59436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F58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q_x</a:t>
            </a:r>
            <a:endParaRPr lang="en-US" sz="1700" dirty="0"/>
          </a:p>
        </p:txBody>
      </p:sp>
      <p:sp>
        <p:nvSpPr>
          <p:cNvPr id="21" name="Text 18"/>
          <p:cNvSpPr/>
          <p:nvPr/>
        </p:nvSpPr>
        <p:spPr>
          <a:xfrm>
            <a:off x="1572768" y="3145536"/>
            <a:ext cx="3291840" cy="2011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270" b="1" dirty="0">
                <a:solidFill>
                  <a:srgbClr val="1235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peluang meninggal 1 tahun</a:t>
            </a:r>
            <a:endParaRPr lang="en-US" sz="1270" dirty="0"/>
          </a:p>
        </p:txBody>
      </p:sp>
      <p:sp>
        <p:nvSpPr>
          <p:cNvPr id="22" name="Text 19"/>
          <p:cNvSpPr/>
          <p:nvPr/>
        </p:nvSpPr>
        <p:spPr>
          <a:xfrm>
            <a:off x="1572768" y="3438144"/>
            <a:ext cx="3291840" cy="2011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070" dirty="0">
                <a:solidFill>
                  <a:srgbClr val="5365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mortality probability</a:t>
            </a:r>
            <a:endParaRPr lang="en-US" sz="1070" dirty="0"/>
          </a:p>
        </p:txBody>
      </p:sp>
      <p:sp>
        <p:nvSpPr>
          <p:cNvPr id="23" name="Shape 20"/>
          <p:cNvSpPr/>
          <p:nvPr/>
        </p:nvSpPr>
        <p:spPr>
          <a:xfrm>
            <a:off x="5989320" y="3035808"/>
            <a:ext cx="4617720" cy="777240"/>
          </a:xfrm>
          <a:prstGeom prst="roundRect">
            <a:avLst/>
          </a:prstGeom>
          <a:solidFill>
            <a:srgbClr val="EEF5F6"/>
          </a:solidFill>
          <a:ln w="12700">
            <a:solidFill>
              <a:srgbClr val="D7E2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1"/>
          <p:cNvSpPr/>
          <p:nvPr/>
        </p:nvSpPr>
        <p:spPr>
          <a:xfrm>
            <a:off x="6126480" y="3236976"/>
            <a:ext cx="59436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006B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e_x</a:t>
            </a:r>
            <a:endParaRPr lang="en-US" sz="1700" dirty="0"/>
          </a:p>
        </p:txBody>
      </p:sp>
      <p:sp>
        <p:nvSpPr>
          <p:cNvPr id="25" name="Text 22"/>
          <p:cNvSpPr/>
          <p:nvPr/>
        </p:nvSpPr>
        <p:spPr>
          <a:xfrm>
            <a:off x="6830568" y="3145536"/>
            <a:ext cx="3291840" cy="2011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270" b="1" dirty="0">
                <a:solidFill>
                  <a:srgbClr val="1235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ekspektasi sisa usia</a:t>
            </a:r>
            <a:endParaRPr lang="en-US" sz="1270" dirty="0"/>
          </a:p>
        </p:txBody>
      </p:sp>
      <p:sp>
        <p:nvSpPr>
          <p:cNvPr id="26" name="Text 23"/>
          <p:cNvSpPr/>
          <p:nvPr/>
        </p:nvSpPr>
        <p:spPr>
          <a:xfrm>
            <a:off x="6830568" y="3438144"/>
            <a:ext cx="3291840" cy="20116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070" dirty="0">
                <a:solidFill>
                  <a:srgbClr val="5365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life expectancy</a:t>
            </a:r>
            <a:endParaRPr lang="en-US" sz="1070" dirty="0"/>
          </a:p>
        </p:txBody>
      </p:sp>
      <p:sp>
        <p:nvSpPr>
          <p:cNvPr id="27" name="Shape 24"/>
          <p:cNvSpPr/>
          <p:nvPr/>
        </p:nvSpPr>
        <p:spPr>
          <a:xfrm>
            <a:off x="914400" y="4599432"/>
            <a:ext cx="4572000" cy="566928"/>
          </a:xfrm>
          <a:prstGeom prst="roundRect">
            <a:avLst/>
          </a:prstGeom>
          <a:solidFill>
            <a:srgbClr val="EEF5F6"/>
          </a:solidFill>
          <a:ln w="12700">
            <a:solidFill>
              <a:srgbClr val="B9CB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5"/>
          <p:cNvSpPr/>
          <p:nvPr/>
        </p:nvSpPr>
        <p:spPr>
          <a:xfrm>
            <a:off x="1051560" y="4718304"/>
            <a:ext cx="4297680" cy="34747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1235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Gompertz:  μ_x = B c^x</a:t>
            </a:r>
            <a:endParaRPr lang="en-US" sz="1450" dirty="0"/>
          </a:p>
        </p:txBody>
      </p:sp>
      <p:sp>
        <p:nvSpPr>
          <p:cNvPr id="29" name="Shape 26"/>
          <p:cNvSpPr/>
          <p:nvPr/>
        </p:nvSpPr>
        <p:spPr>
          <a:xfrm>
            <a:off x="6400800" y="4599432"/>
            <a:ext cx="4572000" cy="566928"/>
          </a:xfrm>
          <a:prstGeom prst="roundRect">
            <a:avLst/>
          </a:prstGeom>
          <a:solidFill>
            <a:srgbClr val="EEF5F6"/>
          </a:solidFill>
          <a:ln w="12700">
            <a:solidFill>
              <a:srgbClr val="B9CB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7"/>
          <p:cNvSpPr/>
          <p:nvPr/>
        </p:nvSpPr>
        <p:spPr>
          <a:xfrm>
            <a:off x="6537960" y="4718304"/>
            <a:ext cx="4297680" cy="34747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1235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Makeham:  μ_x = A + B c^x</a:t>
            </a:r>
            <a:endParaRPr lang="en-US" sz="1450" dirty="0"/>
          </a:p>
        </p:txBody>
      </p:sp>
      <p:sp>
        <p:nvSpPr>
          <p:cNvPr id="31" name="Text 28"/>
          <p:cNvSpPr/>
          <p:nvPr/>
        </p:nvSpPr>
        <p:spPr>
          <a:xfrm>
            <a:off x="987552" y="5596128"/>
            <a:ext cx="9966960" cy="3657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B26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Makna pedagogis: tabel kehidupan adalah jembatan antara data demografi dan nilai harapan aktuaria.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8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309360"/>
            <a:ext cx="12191695" cy="548640"/>
          </a:xfrm>
          <a:prstGeom prst="rect">
            <a:avLst/>
          </a:prstGeom>
          <a:solidFill>
            <a:srgbClr val="F5822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" name="Image 0" descr="/mnt/data/unpad_logo_adwt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530352"/>
            <a:ext cx="566928" cy="56692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61872" y="621792"/>
            <a:ext cx="676656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E8F1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Pertemuan 9–12 | SubCPMK3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658368" y="2331720"/>
            <a:ext cx="8961120" cy="10972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42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Bagian III</a:t>
            </a:r>
            <a:endParaRPr lang="en-US" sz="4200" dirty="0"/>
          </a:p>
          <a:p>
            <a:pPr marL="0" indent="0" algn="l">
              <a:buNone/>
            </a:pPr>
            <a:r>
              <a:rPr lang="en-US" sz="42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Premi &amp; Cadangan</a:t>
            </a:r>
            <a:endParaRPr lang="en-US" sz="4200" dirty="0"/>
          </a:p>
        </p:txBody>
      </p:sp>
      <p:sp>
        <p:nvSpPr>
          <p:cNvPr id="6" name="Shape 3"/>
          <p:cNvSpPr/>
          <p:nvPr/>
        </p:nvSpPr>
        <p:spPr>
          <a:xfrm>
            <a:off x="658368" y="3621024"/>
            <a:ext cx="3182112" cy="0"/>
          </a:xfrm>
          <a:prstGeom prst="line">
            <a:avLst/>
          </a:prstGeom>
          <a:noFill/>
          <a:ln w="63500">
            <a:solidFill>
              <a:srgbClr val="F58220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F5822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201168"/>
            <a:ext cx="12191695" cy="73152"/>
          </a:xfrm>
          <a:prstGeom prst="rect">
            <a:avLst/>
          </a:prstGeom>
          <a:solidFill>
            <a:srgbClr val="1B998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" name="Image 0" descr="/mnt/data/unpad_logo_adwt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4048" y="393192"/>
            <a:ext cx="438912" cy="43891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14400" y="429768"/>
            <a:ext cx="6949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5365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S2 Statistika Terapan | FMIPA Universitas Padjadjaran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502920" y="868680"/>
            <a:ext cx="8961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1235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Asuransi Jiwa Sederhana</a:t>
            </a:r>
            <a:endParaRPr lang="en-US" sz="2500" dirty="0"/>
          </a:p>
        </p:txBody>
      </p:sp>
      <p:sp>
        <p:nvSpPr>
          <p:cNvPr id="7" name="Text 4"/>
          <p:cNvSpPr/>
          <p:nvPr/>
        </p:nvSpPr>
        <p:spPr>
          <a:xfrm>
            <a:off x="512064" y="1325880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5365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Whole life, term insurance, endowment, dan nilai sekarang aktuaria manfaat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502920" y="1682496"/>
            <a:ext cx="11183112" cy="0"/>
          </a:xfrm>
          <a:prstGeom prst="line">
            <a:avLst/>
          </a:prstGeom>
          <a:noFill/>
          <a:ln w="12700">
            <a:solidFill>
              <a:srgbClr val="D6E4EA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11027664" y="6327648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buNone/>
            </a:pPr>
            <a:r>
              <a:rPr lang="en-US" sz="800" dirty="0">
                <a:solidFill>
                  <a:srgbClr val="5365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14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512064" y="6419088"/>
            <a:ext cx="62179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20" dirty="0">
                <a:solidFill>
                  <a:srgbClr val="7B87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Materi Matematika Aktuaria 1 | Januari 2025</a:t>
            </a:r>
            <a:endParaRPr lang="en-US" sz="720" dirty="0"/>
          </a:p>
        </p:txBody>
      </p:sp>
      <p:sp>
        <p:nvSpPr>
          <p:cNvPr id="11" name="Shape 8"/>
          <p:cNvSpPr/>
          <p:nvPr/>
        </p:nvSpPr>
        <p:spPr>
          <a:xfrm>
            <a:off x="822960" y="2148840"/>
            <a:ext cx="2926080" cy="1097280"/>
          </a:xfrm>
          <a:prstGeom prst="roundRect">
            <a:avLst/>
          </a:prstGeom>
          <a:solidFill>
            <a:srgbClr val="FFF4E8"/>
          </a:solidFill>
          <a:ln w="12700">
            <a:solidFill>
              <a:srgbClr val="D7E2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896112" y="2231136"/>
            <a:ext cx="2779776" cy="93268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2364A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Whole life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2364A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membayar saat kematian kapan pun terjadi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4526280" y="2148840"/>
            <a:ext cx="2926080" cy="1097280"/>
          </a:xfrm>
          <a:prstGeom prst="roundRect">
            <a:avLst/>
          </a:prstGeom>
          <a:solidFill>
            <a:srgbClr val="EEF5F6"/>
          </a:solidFill>
          <a:ln w="12700">
            <a:solidFill>
              <a:srgbClr val="D7E2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4599432" y="2231136"/>
            <a:ext cx="2779776" cy="93268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B99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Term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1B99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membayar jika kematian terjadi dalam n tahun</a:t>
            </a:r>
            <a:endParaRPr lang="en-US" sz="1200" dirty="0"/>
          </a:p>
        </p:txBody>
      </p:sp>
      <p:sp>
        <p:nvSpPr>
          <p:cNvPr id="15" name="Shape 12"/>
          <p:cNvSpPr/>
          <p:nvPr/>
        </p:nvSpPr>
        <p:spPr>
          <a:xfrm>
            <a:off x="8229600" y="2148840"/>
            <a:ext cx="2926080" cy="1097280"/>
          </a:xfrm>
          <a:prstGeom prst="roundRect">
            <a:avLst/>
          </a:prstGeom>
          <a:solidFill>
            <a:srgbClr val="FFF4E8"/>
          </a:solidFill>
          <a:ln w="12700">
            <a:solidFill>
              <a:srgbClr val="D7E2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8302752" y="2231136"/>
            <a:ext cx="2779776" cy="93268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58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Endowment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F58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membayar saat kematian atau hidup sampai jatuh tempo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1051560" y="4005072"/>
            <a:ext cx="4754880" cy="786384"/>
          </a:xfrm>
          <a:prstGeom prst="roundRect">
            <a:avLst/>
          </a:prstGeom>
          <a:solidFill>
            <a:srgbClr val="EEF5F6"/>
          </a:solidFill>
          <a:ln w="12700">
            <a:solidFill>
              <a:srgbClr val="B9CB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/>
          <p:nvPr/>
        </p:nvSpPr>
        <p:spPr>
          <a:xfrm>
            <a:off x="1188720" y="4123944"/>
            <a:ext cx="4480560" cy="56692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1235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A_x = Σ_{k≥0} v^{k+1} · {}_k p_x · q_{x+k}</a:t>
            </a:r>
            <a:endParaRPr lang="en-US" sz="1450" dirty="0"/>
          </a:p>
        </p:txBody>
      </p:sp>
      <p:sp>
        <p:nvSpPr>
          <p:cNvPr id="19" name="Shape 16"/>
          <p:cNvSpPr/>
          <p:nvPr/>
        </p:nvSpPr>
        <p:spPr>
          <a:xfrm>
            <a:off x="6355080" y="4005072"/>
            <a:ext cx="4754880" cy="786384"/>
          </a:xfrm>
          <a:prstGeom prst="roundRect">
            <a:avLst/>
          </a:prstGeom>
          <a:solidFill>
            <a:srgbClr val="EEF5F6"/>
          </a:solidFill>
          <a:ln w="12700">
            <a:solidFill>
              <a:srgbClr val="B9CB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/>
          <p:nvPr/>
        </p:nvSpPr>
        <p:spPr>
          <a:xfrm>
            <a:off x="6492240" y="4123944"/>
            <a:ext cx="4480560" cy="56692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1235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Ā_x = ∫_0^∞ v^t · {}_t p_x · μ_{x+t} dt</a:t>
            </a:r>
            <a:endParaRPr lang="en-US" sz="1450" dirty="0"/>
          </a:p>
        </p:txBody>
      </p:sp>
      <p:sp>
        <p:nvSpPr>
          <p:cNvPr id="21" name="Text 18"/>
          <p:cNvSpPr/>
          <p:nvPr/>
        </p:nvSpPr>
        <p:spPr>
          <a:xfrm>
            <a:off x="1234440" y="5138928"/>
            <a:ext cx="9601200" cy="68580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190500" indent="-190500">
              <a:buSzPct val="100000"/>
              <a:buChar char="•"/>
            </a:pPr>
            <a:r>
              <a:rPr lang="en-US" sz="1250" dirty="0">
                <a:solidFill>
                  <a:srgbClr val="1B26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Model diskrit membayar pada akhir tahun kematian.</a:t>
            </a:r>
            <a:endParaRPr lang="en-US" sz="1250" dirty="0"/>
          </a:p>
          <a:p>
            <a:pPr marL="190500" indent="-190500">
              <a:buSzPct val="100000"/>
              <a:buChar char="•"/>
            </a:pPr>
            <a:r>
              <a:rPr lang="en-US" sz="1250" dirty="0">
                <a:solidFill>
                  <a:srgbClr val="1B26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Model kontinu membayar tepat saat kematian.</a:t>
            </a:r>
            <a:endParaRPr lang="en-US" sz="1250" dirty="0"/>
          </a:p>
          <a:p>
            <a:pPr marL="190500" indent="-190500">
              <a:buSzPct val="100000"/>
              <a:buChar char="•"/>
            </a:pPr>
            <a:r>
              <a:rPr lang="en-US" sz="1250" dirty="0">
                <a:solidFill>
                  <a:srgbClr val="1B26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Untuk tingkat bunga positif, pembayaran lebih awal biasanya memiliki nilai sekarang lebih tinggi.</a:t>
            </a:r>
            <a:endParaRPr lang="en-US" sz="12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F5822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201168"/>
            <a:ext cx="12191695" cy="73152"/>
          </a:xfrm>
          <a:prstGeom prst="rect">
            <a:avLst/>
          </a:prstGeom>
          <a:solidFill>
            <a:srgbClr val="1B998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" name="Image 0" descr="/mnt/data/unpad_logo_adwt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4048" y="393192"/>
            <a:ext cx="438912" cy="43891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14400" y="429768"/>
            <a:ext cx="6949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5365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S2 Statistika Terapan | FMIPA Universitas Padjadjaran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502920" y="868680"/>
            <a:ext cx="8961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1235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Penghitungan Premi Asuransi Jiwa</a:t>
            </a:r>
            <a:endParaRPr lang="en-US" sz="2500" dirty="0"/>
          </a:p>
        </p:txBody>
      </p:sp>
      <p:sp>
        <p:nvSpPr>
          <p:cNvPr id="7" name="Text 4"/>
          <p:cNvSpPr/>
          <p:nvPr/>
        </p:nvSpPr>
        <p:spPr>
          <a:xfrm>
            <a:off x="512064" y="1325880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5365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Prinsip ekivalensi sebagai dasar premi bersih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502920" y="1682496"/>
            <a:ext cx="11183112" cy="0"/>
          </a:xfrm>
          <a:prstGeom prst="line">
            <a:avLst/>
          </a:prstGeom>
          <a:noFill/>
          <a:ln w="12700">
            <a:solidFill>
              <a:srgbClr val="D6E4EA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11027664" y="6327648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buNone/>
            </a:pPr>
            <a:r>
              <a:rPr lang="en-US" sz="800" dirty="0">
                <a:solidFill>
                  <a:srgbClr val="5365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15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512064" y="6419088"/>
            <a:ext cx="62179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20" dirty="0">
                <a:solidFill>
                  <a:srgbClr val="7B87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Materi Matematika Aktuaria 1 | Januari 2025</a:t>
            </a:r>
            <a:endParaRPr lang="en-US" sz="720" dirty="0"/>
          </a:p>
        </p:txBody>
      </p:sp>
      <p:sp>
        <p:nvSpPr>
          <p:cNvPr id="11" name="Text 8"/>
          <p:cNvSpPr/>
          <p:nvPr/>
        </p:nvSpPr>
        <p:spPr>
          <a:xfrm>
            <a:off x="658368" y="1920240"/>
            <a:ext cx="5623560" cy="7132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235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Premi bersih ditentukan agar nilai sekarang aktuaria premi sama dengan nilai sekarang aktuaria manfaat.</a:t>
            </a:r>
            <a:endParaRPr lang="en-US" sz="1800" dirty="0"/>
          </a:p>
        </p:txBody>
      </p:sp>
      <p:sp>
        <p:nvSpPr>
          <p:cNvPr id="12" name="Shape 9"/>
          <p:cNvSpPr/>
          <p:nvPr/>
        </p:nvSpPr>
        <p:spPr>
          <a:xfrm>
            <a:off x="868680" y="2816352"/>
            <a:ext cx="4937760" cy="685800"/>
          </a:xfrm>
          <a:prstGeom prst="roundRect">
            <a:avLst/>
          </a:prstGeom>
          <a:solidFill>
            <a:srgbClr val="EEF5F6"/>
          </a:solidFill>
          <a:ln w="12700">
            <a:solidFill>
              <a:srgbClr val="B9CB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1005840" y="2935224"/>
            <a:ext cx="4663440" cy="46634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1235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EPV(Premi) = EPV(Manfaat)</a:t>
            </a:r>
            <a:endParaRPr lang="en-US" sz="1450" dirty="0"/>
          </a:p>
        </p:txBody>
      </p:sp>
      <p:sp>
        <p:nvSpPr>
          <p:cNvPr id="14" name="Shape 11"/>
          <p:cNvSpPr/>
          <p:nvPr/>
        </p:nvSpPr>
        <p:spPr>
          <a:xfrm>
            <a:off x="868680" y="3703320"/>
            <a:ext cx="4937760" cy="685800"/>
          </a:xfrm>
          <a:prstGeom prst="roundRect">
            <a:avLst/>
          </a:prstGeom>
          <a:solidFill>
            <a:srgbClr val="EEF5F6"/>
          </a:solidFill>
          <a:ln w="12700">
            <a:solidFill>
              <a:srgbClr val="B9CB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1005840" y="3822192"/>
            <a:ext cx="4663440" cy="466344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1235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 = APV manfaat / APV anuitas premi</a:t>
            </a:r>
            <a:endParaRPr lang="en-US" sz="1450" dirty="0"/>
          </a:p>
        </p:txBody>
      </p:sp>
      <p:sp>
        <p:nvSpPr>
          <p:cNvPr id="16" name="Shape 13"/>
          <p:cNvSpPr/>
          <p:nvPr/>
        </p:nvSpPr>
        <p:spPr>
          <a:xfrm>
            <a:off x="6537960" y="1965960"/>
            <a:ext cx="4251960" cy="2423160"/>
          </a:xfrm>
          <a:prstGeom prst="roundRect">
            <a:avLst/>
          </a:prstGeom>
          <a:solidFill>
            <a:srgbClr val="EEF5F6"/>
          </a:solidFill>
          <a:ln w="12700">
            <a:solidFill>
              <a:srgbClr val="D7E2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6812280" y="2240280"/>
            <a:ext cx="3291840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700" b="1" dirty="0">
                <a:solidFill>
                  <a:srgbClr val="1235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Contoh praktikum</a:t>
            </a:r>
            <a:endParaRPr lang="en-US" sz="1700" dirty="0"/>
          </a:p>
        </p:txBody>
      </p:sp>
      <p:sp>
        <p:nvSpPr>
          <p:cNvPr id="18" name="Text 15"/>
          <p:cNvSpPr/>
          <p:nvPr/>
        </p:nvSpPr>
        <p:spPr>
          <a:xfrm>
            <a:off x="6812280" y="2788920"/>
            <a:ext cx="3566160" cy="123444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260" dirty="0">
                <a:solidFill>
                  <a:srgbClr val="1B26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Jika APV manfaat = 0,25 dan APV anuitas premi = 14, maka premi bersih per satuan manfaat adalah 0,25/14. Untuk manfaat Rp100 juta, nilai premi diperoleh dengan mengalikan hasil tersebut dengan 100.000.000.</a:t>
            </a:r>
            <a:endParaRPr lang="en-US" sz="1260" dirty="0"/>
          </a:p>
        </p:txBody>
      </p:sp>
      <p:sp>
        <p:nvSpPr>
          <p:cNvPr id="19" name="Shape 16"/>
          <p:cNvSpPr/>
          <p:nvPr/>
        </p:nvSpPr>
        <p:spPr>
          <a:xfrm>
            <a:off x="6812280" y="4736592"/>
            <a:ext cx="1325880" cy="292608"/>
          </a:xfrm>
          <a:prstGeom prst="roundRect">
            <a:avLst/>
          </a:prstGeom>
          <a:solidFill>
            <a:srgbClr val="1B998B"/>
          </a:solidFill>
          <a:ln w="6350">
            <a:solidFill>
              <a:srgbClr val="1B99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/>
          <p:nvPr/>
        </p:nvSpPr>
        <p:spPr>
          <a:xfrm>
            <a:off x="6867144" y="4809744"/>
            <a:ext cx="12161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8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Fully continuous</a:t>
            </a:r>
            <a:endParaRPr lang="en-US" sz="820" dirty="0"/>
          </a:p>
        </p:txBody>
      </p:sp>
      <p:sp>
        <p:nvSpPr>
          <p:cNvPr id="21" name="Shape 18"/>
          <p:cNvSpPr/>
          <p:nvPr/>
        </p:nvSpPr>
        <p:spPr>
          <a:xfrm>
            <a:off x="8302752" y="4736592"/>
            <a:ext cx="1234440" cy="292608"/>
          </a:xfrm>
          <a:prstGeom prst="roundRect">
            <a:avLst/>
          </a:prstGeom>
          <a:solidFill>
            <a:srgbClr val="F58220"/>
          </a:solidFill>
          <a:ln w="6350">
            <a:solidFill>
              <a:srgbClr val="F582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19"/>
          <p:cNvSpPr/>
          <p:nvPr/>
        </p:nvSpPr>
        <p:spPr>
          <a:xfrm>
            <a:off x="8357616" y="4809744"/>
            <a:ext cx="112471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8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Fully discrete</a:t>
            </a:r>
            <a:endParaRPr lang="en-US" sz="820" dirty="0"/>
          </a:p>
        </p:txBody>
      </p:sp>
      <p:sp>
        <p:nvSpPr>
          <p:cNvPr id="23" name="Shape 20"/>
          <p:cNvSpPr/>
          <p:nvPr/>
        </p:nvSpPr>
        <p:spPr>
          <a:xfrm>
            <a:off x="9656064" y="4736592"/>
            <a:ext cx="1325880" cy="292608"/>
          </a:xfrm>
          <a:prstGeom prst="roundRect">
            <a:avLst/>
          </a:prstGeom>
          <a:solidFill>
            <a:srgbClr val="2364AA"/>
          </a:solidFill>
          <a:ln w="6350">
            <a:solidFill>
              <a:srgbClr val="2364A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1"/>
          <p:cNvSpPr/>
          <p:nvPr/>
        </p:nvSpPr>
        <p:spPr>
          <a:xfrm>
            <a:off x="9710928" y="4809744"/>
            <a:ext cx="12161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buNone/>
            </a:pPr>
            <a:r>
              <a:rPr lang="en-US" sz="82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Semi-continuous</a:t>
            </a:r>
            <a:endParaRPr lang="en-US" sz="82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F5822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201168"/>
            <a:ext cx="12191695" cy="73152"/>
          </a:xfrm>
          <a:prstGeom prst="rect">
            <a:avLst/>
          </a:prstGeom>
          <a:solidFill>
            <a:srgbClr val="1B998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" name="Image 0" descr="/mnt/data/unpad_logo_adwt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4048" y="393192"/>
            <a:ext cx="438912" cy="43891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14400" y="429768"/>
            <a:ext cx="6949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5365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S2 Statistika Terapan | FMIPA Universitas Padjadjaran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502920" y="868680"/>
            <a:ext cx="8961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1235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Cadangan Manfaat Asuransi Jiwa</a:t>
            </a:r>
            <a:endParaRPr lang="en-US" sz="2500" dirty="0"/>
          </a:p>
        </p:txBody>
      </p:sp>
      <p:sp>
        <p:nvSpPr>
          <p:cNvPr id="7" name="Text 4"/>
          <p:cNvSpPr/>
          <p:nvPr/>
        </p:nvSpPr>
        <p:spPr>
          <a:xfrm>
            <a:off x="512064" y="1325880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5365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Valuasi kewajiban masa depan sepanjang durasi polis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502920" y="1682496"/>
            <a:ext cx="11183112" cy="0"/>
          </a:xfrm>
          <a:prstGeom prst="line">
            <a:avLst/>
          </a:prstGeom>
          <a:noFill/>
          <a:ln w="12700">
            <a:solidFill>
              <a:srgbClr val="D6E4EA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11027664" y="6327648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buNone/>
            </a:pPr>
            <a:r>
              <a:rPr lang="en-US" sz="800" dirty="0">
                <a:solidFill>
                  <a:srgbClr val="5365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16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512064" y="6419088"/>
            <a:ext cx="62179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20" dirty="0">
                <a:solidFill>
                  <a:srgbClr val="7B87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Materi Matematika Aktuaria 1 | Januari 2025</a:t>
            </a:r>
            <a:endParaRPr lang="en-US" sz="720" dirty="0"/>
          </a:p>
        </p:txBody>
      </p:sp>
      <p:sp>
        <p:nvSpPr>
          <p:cNvPr id="11" name="Text 8"/>
          <p:cNvSpPr/>
          <p:nvPr/>
        </p:nvSpPr>
        <p:spPr>
          <a:xfrm>
            <a:off x="658368" y="1901952"/>
            <a:ext cx="5303520" cy="56692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800" b="1" dirty="0">
                <a:solidFill>
                  <a:srgbClr val="1235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Cadangan prospektif adalah selisih antara EPV manfaat masa depan dan EPV premi masa depan.</a:t>
            </a:r>
            <a:endParaRPr lang="en-US" sz="1800" dirty="0"/>
          </a:p>
        </p:txBody>
      </p:sp>
      <p:sp>
        <p:nvSpPr>
          <p:cNvPr id="12" name="Shape 9"/>
          <p:cNvSpPr/>
          <p:nvPr/>
        </p:nvSpPr>
        <p:spPr>
          <a:xfrm>
            <a:off x="777240" y="2743200"/>
            <a:ext cx="5074920" cy="786384"/>
          </a:xfrm>
          <a:prstGeom prst="roundRect">
            <a:avLst/>
          </a:prstGeom>
          <a:solidFill>
            <a:srgbClr val="EEF5F6"/>
          </a:solidFill>
          <a:ln w="12700">
            <a:solidFill>
              <a:srgbClr val="B9CB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Text 10"/>
          <p:cNvSpPr/>
          <p:nvPr/>
        </p:nvSpPr>
        <p:spPr>
          <a:xfrm>
            <a:off x="914400" y="2862072"/>
            <a:ext cx="4800600" cy="56692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1235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{}_tV = EPV_t(benefit masa depan) − EPV_t(premi masa depan)</a:t>
            </a:r>
            <a:endParaRPr lang="en-US" sz="1450" dirty="0"/>
          </a:p>
        </p:txBody>
      </p:sp>
      <p:sp>
        <p:nvSpPr>
          <p:cNvPr id="14" name="Text 11"/>
          <p:cNvSpPr/>
          <p:nvPr/>
        </p:nvSpPr>
        <p:spPr>
          <a:xfrm>
            <a:off x="777240" y="3822192"/>
            <a:ext cx="5074920" cy="13258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ctr">
            <a:normAutofit/>
          </a:bodyPr>
          <a:lstStyle/>
          <a:p>
            <a:pPr marL="190500" indent="-190500">
              <a:buSzPct val="100000"/>
              <a:buChar char="•"/>
            </a:pPr>
            <a:r>
              <a:rPr lang="en-US" sz="1280" dirty="0">
                <a:solidFill>
                  <a:srgbClr val="1B26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Awal polis dapat mendekati nol di bawah prinsip ekivalensi.</a:t>
            </a:r>
            <a:endParaRPr lang="en-US" sz="1280" dirty="0"/>
          </a:p>
          <a:p>
            <a:pPr marL="190500" indent="-190500">
              <a:buSzPct val="100000"/>
              <a:buChar char="•"/>
            </a:pPr>
            <a:r>
              <a:rPr lang="en-US" sz="1280" dirty="0">
                <a:solidFill>
                  <a:srgbClr val="1B26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Seiring durasi polis, cadangan dapat meningkat karena risiko manfaat makin dekat.</a:t>
            </a:r>
            <a:endParaRPr lang="en-US" sz="1280" dirty="0"/>
          </a:p>
          <a:p>
            <a:pPr marL="190500" indent="-190500">
              <a:buSzPct val="100000"/>
              <a:buChar char="•"/>
            </a:pPr>
            <a:r>
              <a:rPr lang="en-US" sz="1280" dirty="0">
                <a:solidFill>
                  <a:srgbClr val="1B26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Analisis sensitivitas diperlukan untuk bunga, mortalitas, dan asumsi pembayaran.</a:t>
            </a:r>
            <a:endParaRPr lang="en-US" sz="1280" dirty="0"/>
          </a:p>
        </p:txBody>
      </p:sp>
      <p:graphicFrame>
        <p:nvGraphicFramePr>
          <p:cNvPr id="15" name="Chart 0"/>
          <p:cNvGraphicFramePr/>
          <p:nvPr/>
        </p:nvGraphicFramePr>
        <p:xfrm>
          <a:off x="6217920" y="2057400"/>
          <a:ext cx="4892040" cy="31089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B1F3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309360"/>
            <a:ext cx="12191695" cy="548640"/>
          </a:xfrm>
          <a:prstGeom prst="rect">
            <a:avLst/>
          </a:prstGeom>
          <a:solidFill>
            <a:srgbClr val="F5822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3" name="Image 0" descr="/mnt/data/unpad_logo_adwt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" y="530352"/>
            <a:ext cx="566928" cy="566928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61872" y="621792"/>
            <a:ext cx="6766560" cy="2286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E8F1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Pertemuan 13–16 | SubCPMK4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658368" y="2331720"/>
            <a:ext cx="8961120" cy="10972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42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Bagian IV</a:t>
            </a:r>
            <a:endParaRPr lang="en-US" sz="4200" dirty="0"/>
          </a:p>
          <a:p>
            <a:pPr marL="0" indent="0" algn="l">
              <a:buNone/>
            </a:pPr>
            <a:r>
              <a:rPr lang="en-US" sz="42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Komputasi, Inovasi &amp; Proyek</a:t>
            </a:r>
            <a:endParaRPr lang="en-US" sz="4200" dirty="0"/>
          </a:p>
        </p:txBody>
      </p:sp>
      <p:sp>
        <p:nvSpPr>
          <p:cNvPr id="6" name="Shape 3"/>
          <p:cNvSpPr/>
          <p:nvPr/>
        </p:nvSpPr>
        <p:spPr>
          <a:xfrm>
            <a:off x="658368" y="3621024"/>
            <a:ext cx="3182112" cy="0"/>
          </a:xfrm>
          <a:prstGeom prst="line">
            <a:avLst/>
          </a:prstGeom>
          <a:noFill/>
          <a:ln w="63500">
            <a:solidFill>
              <a:srgbClr val="F58220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F5822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201168"/>
            <a:ext cx="12191695" cy="73152"/>
          </a:xfrm>
          <a:prstGeom prst="rect">
            <a:avLst/>
          </a:prstGeom>
          <a:solidFill>
            <a:srgbClr val="1B998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" name="Image 0" descr="/mnt/data/unpad_logo_adwt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4048" y="393192"/>
            <a:ext cx="438912" cy="43891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14400" y="429768"/>
            <a:ext cx="6949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5365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S2 Statistika Terapan | FMIPA Universitas Padjadjaran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502920" y="868680"/>
            <a:ext cx="8961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1235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Praktikum Komputasi R</a:t>
            </a:r>
            <a:endParaRPr lang="en-US" sz="2500" dirty="0"/>
          </a:p>
        </p:txBody>
      </p:sp>
      <p:sp>
        <p:nvSpPr>
          <p:cNvPr id="7" name="Text 4"/>
          <p:cNvSpPr/>
          <p:nvPr/>
        </p:nvSpPr>
        <p:spPr>
          <a:xfrm>
            <a:off x="512064" y="1325880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5365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Template kode sebagai titik awal, bukan akhir perjalanan ilmiah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502920" y="1682496"/>
            <a:ext cx="11183112" cy="0"/>
          </a:xfrm>
          <a:prstGeom prst="line">
            <a:avLst/>
          </a:prstGeom>
          <a:noFill/>
          <a:ln w="12700">
            <a:solidFill>
              <a:srgbClr val="D6E4EA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11027664" y="6327648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buNone/>
            </a:pPr>
            <a:r>
              <a:rPr lang="en-US" sz="800" dirty="0">
                <a:solidFill>
                  <a:srgbClr val="5365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18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512064" y="6419088"/>
            <a:ext cx="62179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20" dirty="0">
                <a:solidFill>
                  <a:srgbClr val="7B87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Materi Matematika Aktuaria 1 | Januari 2025</a:t>
            </a:r>
            <a:endParaRPr lang="en-US" sz="720" dirty="0"/>
          </a:p>
        </p:txBody>
      </p:sp>
      <p:sp>
        <p:nvSpPr>
          <p:cNvPr id="11" name="Shape 8"/>
          <p:cNvSpPr/>
          <p:nvPr/>
        </p:nvSpPr>
        <p:spPr>
          <a:xfrm>
            <a:off x="1883664" y="2743200"/>
            <a:ext cx="566928" cy="0"/>
          </a:xfrm>
          <a:prstGeom prst="line">
            <a:avLst/>
          </a:prstGeom>
          <a:noFill/>
          <a:ln w="17780">
            <a:solidFill>
              <a:srgbClr val="53657D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3995928" y="2743200"/>
            <a:ext cx="566928" cy="0"/>
          </a:xfrm>
          <a:prstGeom prst="line">
            <a:avLst/>
          </a:prstGeom>
          <a:noFill/>
          <a:ln w="17780">
            <a:solidFill>
              <a:srgbClr val="53657D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0"/>
          <p:cNvSpPr/>
          <p:nvPr/>
        </p:nvSpPr>
        <p:spPr>
          <a:xfrm>
            <a:off x="6108192" y="2743200"/>
            <a:ext cx="566928" cy="0"/>
          </a:xfrm>
          <a:prstGeom prst="line">
            <a:avLst/>
          </a:prstGeom>
          <a:noFill/>
          <a:ln w="17780">
            <a:solidFill>
              <a:srgbClr val="53657D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1"/>
          <p:cNvSpPr/>
          <p:nvPr/>
        </p:nvSpPr>
        <p:spPr>
          <a:xfrm>
            <a:off x="8220456" y="2743200"/>
            <a:ext cx="566928" cy="0"/>
          </a:xfrm>
          <a:prstGeom prst="line">
            <a:avLst/>
          </a:prstGeom>
          <a:noFill/>
          <a:ln w="17780">
            <a:solidFill>
              <a:srgbClr val="53657D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2"/>
          <p:cNvSpPr/>
          <p:nvPr/>
        </p:nvSpPr>
        <p:spPr>
          <a:xfrm>
            <a:off x="658368" y="2240280"/>
            <a:ext cx="1188720" cy="1005840"/>
          </a:xfrm>
          <a:prstGeom prst="roundRect">
            <a:avLst/>
          </a:prstGeom>
          <a:solidFill>
            <a:srgbClr val="FFF4E8"/>
          </a:solidFill>
          <a:ln w="12700">
            <a:solidFill>
              <a:srgbClr val="D7E2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731520" y="2322576"/>
            <a:ext cx="1042416" cy="84124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2364A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Input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b="1" dirty="0">
                <a:solidFill>
                  <a:srgbClr val="2364A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parameter</a:t>
            </a:r>
            <a:endParaRPr lang="en-US" sz="1250" dirty="0"/>
          </a:p>
        </p:txBody>
      </p:sp>
      <p:sp>
        <p:nvSpPr>
          <p:cNvPr id="17" name="Shape 14"/>
          <p:cNvSpPr/>
          <p:nvPr/>
        </p:nvSpPr>
        <p:spPr>
          <a:xfrm>
            <a:off x="2770632" y="2240280"/>
            <a:ext cx="1188720" cy="1005840"/>
          </a:xfrm>
          <a:prstGeom prst="roundRect">
            <a:avLst/>
          </a:prstGeom>
          <a:solidFill>
            <a:srgbClr val="EEF5F6"/>
          </a:solidFill>
          <a:ln w="12700">
            <a:solidFill>
              <a:srgbClr val="D7E2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/>
          <p:nvPr/>
        </p:nvSpPr>
        <p:spPr>
          <a:xfrm>
            <a:off x="2843784" y="2322576"/>
            <a:ext cx="1042416" cy="84124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B99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Hitung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b="1" dirty="0">
                <a:solidFill>
                  <a:srgbClr val="1B99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fungsi</a:t>
            </a:r>
            <a:endParaRPr lang="en-US" sz="1250" dirty="0"/>
          </a:p>
        </p:txBody>
      </p:sp>
      <p:sp>
        <p:nvSpPr>
          <p:cNvPr id="19" name="Shape 16"/>
          <p:cNvSpPr/>
          <p:nvPr/>
        </p:nvSpPr>
        <p:spPr>
          <a:xfrm>
            <a:off x="4882896" y="2240280"/>
            <a:ext cx="1188720" cy="1005840"/>
          </a:xfrm>
          <a:prstGeom prst="roundRect">
            <a:avLst/>
          </a:prstGeom>
          <a:solidFill>
            <a:srgbClr val="FFF4E8"/>
          </a:solidFill>
          <a:ln w="12700">
            <a:solidFill>
              <a:srgbClr val="D7E2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/>
          <p:nvPr/>
        </p:nvSpPr>
        <p:spPr>
          <a:xfrm>
            <a:off x="4956048" y="2322576"/>
            <a:ext cx="1042416" cy="84124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58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Skenario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b="1" dirty="0">
                <a:solidFill>
                  <a:srgbClr val="F58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sensitivitas</a:t>
            </a:r>
            <a:endParaRPr lang="en-US" sz="1250" dirty="0"/>
          </a:p>
        </p:txBody>
      </p:sp>
      <p:sp>
        <p:nvSpPr>
          <p:cNvPr id="21" name="Shape 18"/>
          <p:cNvSpPr/>
          <p:nvPr/>
        </p:nvSpPr>
        <p:spPr>
          <a:xfrm>
            <a:off x="6995160" y="2240280"/>
            <a:ext cx="1188720" cy="1005840"/>
          </a:xfrm>
          <a:prstGeom prst="roundRect">
            <a:avLst/>
          </a:prstGeom>
          <a:solidFill>
            <a:srgbClr val="EEF5F6"/>
          </a:solidFill>
          <a:ln w="12700">
            <a:solidFill>
              <a:srgbClr val="D7E2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19"/>
          <p:cNvSpPr/>
          <p:nvPr/>
        </p:nvSpPr>
        <p:spPr>
          <a:xfrm>
            <a:off x="7068312" y="2322576"/>
            <a:ext cx="1042416" cy="84124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006B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Tabel &amp;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b="1" dirty="0">
                <a:solidFill>
                  <a:srgbClr val="006B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visualisasi</a:t>
            </a:r>
            <a:endParaRPr lang="en-US" sz="1250" dirty="0"/>
          </a:p>
        </p:txBody>
      </p:sp>
      <p:sp>
        <p:nvSpPr>
          <p:cNvPr id="23" name="Shape 20"/>
          <p:cNvSpPr/>
          <p:nvPr/>
        </p:nvSpPr>
        <p:spPr>
          <a:xfrm>
            <a:off x="9107424" y="2240280"/>
            <a:ext cx="1188720" cy="1005840"/>
          </a:xfrm>
          <a:prstGeom prst="roundRect">
            <a:avLst/>
          </a:prstGeom>
          <a:solidFill>
            <a:srgbClr val="FFF4E8"/>
          </a:solidFill>
          <a:ln w="12700">
            <a:solidFill>
              <a:srgbClr val="D7E2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1"/>
          <p:cNvSpPr/>
          <p:nvPr/>
        </p:nvSpPr>
        <p:spPr>
          <a:xfrm>
            <a:off x="9180576" y="2322576"/>
            <a:ext cx="1042416" cy="84124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C845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Interpretasi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b="1" dirty="0">
                <a:solidFill>
                  <a:srgbClr val="C845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risiko</a:t>
            </a:r>
            <a:endParaRPr lang="en-US" sz="1250" dirty="0"/>
          </a:p>
        </p:txBody>
      </p:sp>
      <p:sp>
        <p:nvSpPr>
          <p:cNvPr id="25" name="Shape 22"/>
          <p:cNvSpPr/>
          <p:nvPr/>
        </p:nvSpPr>
        <p:spPr>
          <a:xfrm>
            <a:off x="1097280" y="3977640"/>
            <a:ext cx="9966960" cy="1005840"/>
          </a:xfrm>
          <a:prstGeom prst="roundRect">
            <a:avLst/>
          </a:prstGeom>
          <a:solidFill>
            <a:srgbClr val="0B1F36"/>
          </a:solidFill>
          <a:ln w="12700">
            <a:solidFill>
              <a:srgbClr val="0B1F3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3"/>
          <p:cNvSpPr/>
          <p:nvPr/>
        </p:nvSpPr>
        <p:spPr>
          <a:xfrm>
            <a:off x="1371600" y="4343400"/>
            <a:ext cx="9418320" cy="31089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R: modifikasi input → tambah skenario → simpan output dalam tabel → jelaskan asumsi → tulis keterbatasan.</a:t>
            </a:r>
            <a:endParaRPr lang="en-US" sz="1600" dirty="0"/>
          </a:p>
        </p:txBody>
      </p:sp>
      <p:sp>
        <p:nvSpPr>
          <p:cNvPr id="27" name="Text 24"/>
          <p:cNvSpPr/>
          <p:nvPr/>
        </p:nvSpPr>
        <p:spPr>
          <a:xfrm>
            <a:off x="1188720" y="5376672"/>
            <a:ext cx="9738360" cy="384048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ctr">
              <a:buNone/>
            </a:pPr>
            <a:r>
              <a:rPr lang="en-US" sz="1320" i="1" dirty="0">
                <a:solidFill>
                  <a:srgbClr val="5365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Kualitas praktikum dinilai dari logika model, bukan hanya “kode jalan”. Kalau hanya jalan, ojek online juga jalan.</a:t>
            </a:r>
            <a:endParaRPr lang="en-US" sz="132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F5822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201168"/>
            <a:ext cx="12191695" cy="73152"/>
          </a:xfrm>
          <a:prstGeom prst="rect">
            <a:avLst/>
          </a:prstGeom>
          <a:solidFill>
            <a:srgbClr val="1B998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" name="Image 0" descr="/mnt/data/unpad_logo_adwt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4048" y="393192"/>
            <a:ext cx="438912" cy="43891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14400" y="429768"/>
            <a:ext cx="6949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5365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S2 Statistika Terapan | FMIPA Universitas Padjadjaran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502920" y="868680"/>
            <a:ext cx="8961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1235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UTS, UAS, dan Mini Project</a:t>
            </a:r>
            <a:endParaRPr lang="en-US" sz="2500" dirty="0"/>
          </a:p>
        </p:txBody>
      </p:sp>
      <p:sp>
        <p:nvSpPr>
          <p:cNvPr id="7" name="Text 4"/>
          <p:cNvSpPr/>
          <p:nvPr/>
        </p:nvSpPr>
        <p:spPr>
          <a:xfrm>
            <a:off x="512064" y="1325880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5365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Mendorong mahasiswa membangun argumentasi aktuaria yang utuh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502920" y="1682496"/>
            <a:ext cx="11183112" cy="0"/>
          </a:xfrm>
          <a:prstGeom prst="line">
            <a:avLst/>
          </a:prstGeom>
          <a:noFill/>
          <a:ln w="12700">
            <a:solidFill>
              <a:srgbClr val="D6E4EA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11027664" y="6327648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buNone/>
            </a:pPr>
            <a:r>
              <a:rPr lang="en-US" sz="800" dirty="0">
                <a:solidFill>
                  <a:srgbClr val="5365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19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512064" y="6419088"/>
            <a:ext cx="62179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20" dirty="0">
                <a:solidFill>
                  <a:srgbClr val="7B87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Materi Matematika Aktuaria 1 | Januari 2025</a:t>
            </a:r>
            <a:endParaRPr lang="en-US" sz="720" dirty="0"/>
          </a:p>
        </p:txBody>
      </p:sp>
      <p:sp>
        <p:nvSpPr>
          <p:cNvPr id="11" name="Shape 8"/>
          <p:cNvSpPr/>
          <p:nvPr/>
        </p:nvSpPr>
        <p:spPr>
          <a:xfrm>
            <a:off x="822960" y="2148840"/>
            <a:ext cx="3063240" cy="2331720"/>
          </a:xfrm>
          <a:prstGeom prst="roundRect">
            <a:avLst/>
          </a:prstGeom>
          <a:solidFill>
            <a:srgbClr val="FFF4E8"/>
          </a:solidFill>
          <a:ln w="12700">
            <a:solidFill>
              <a:srgbClr val="D7E2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1051560" y="2487168"/>
            <a:ext cx="2560320" cy="31089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006B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UTS</a:t>
            </a:r>
            <a:endParaRPr lang="en-US" sz="2100" dirty="0"/>
          </a:p>
        </p:txBody>
      </p:sp>
      <p:sp>
        <p:nvSpPr>
          <p:cNvPr id="13" name="Text 10"/>
          <p:cNvSpPr/>
          <p:nvPr/>
        </p:nvSpPr>
        <p:spPr>
          <a:xfrm>
            <a:off x="1115568" y="3108960"/>
            <a:ext cx="2487168" cy="9601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280" dirty="0">
                <a:solidFill>
                  <a:srgbClr val="1B26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Proyek pendahuluan: validasi asumsi, laporan ilmiah, presentasi, peer feedback.</a:t>
            </a:r>
            <a:endParaRPr lang="en-US" sz="1280" dirty="0"/>
          </a:p>
        </p:txBody>
      </p:sp>
      <p:sp>
        <p:nvSpPr>
          <p:cNvPr id="14" name="Shape 11"/>
          <p:cNvSpPr/>
          <p:nvPr/>
        </p:nvSpPr>
        <p:spPr>
          <a:xfrm>
            <a:off x="4526280" y="2148840"/>
            <a:ext cx="3063240" cy="2331720"/>
          </a:xfrm>
          <a:prstGeom prst="roundRect">
            <a:avLst/>
          </a:prstGeom>
          <a:solidFill>
            <a:srgbClr val="EEF5F6"/>
          </a:solidFill>
          <a:ln w="12700">
            <a:solidFill>
              <a:srgbClr val="D7E2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4754880" y="2487168"/>
            <a:ext cx="2560320" cy="31089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1B99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Mini Project</a:t>
            </a:r>
            <a:endParaRPr lang="en-US" sz="2100" dirty="0"/>
          </a:p>
        </p:txBody>
      </p:sp>
      <p:sp>
        <p:nvSpPr>
          <p:cNvPr id="16" name="Text 13"/>
          <p:cNvSpPr/>
          <p:nvPr/>
        </p:nvSpPr>
        <p:spPr>
          <a:xfrm>
            <a:off x="4818888" y="3108960"/>
            <a:ext cx="2487168" cy="9601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280" dirty="0">
                <a:solidFill>
                  <a:srgbClr val="1B26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Konstruksi kasus: nilai waktu uang, tabel kehidupan, APV, premi, atau cadangan.</a:t>
            </a:r>
            <a:endParaRPr lang="en-US" sz="1280" dirty="0"/>
          </a:p>
        </p:txBody>
      </p:sp>
      <p:sp>
        <p:nvSpPr>
          <p:cNvPr id="17" name="Shape 14"/>
          <p:cNvSpPr/>
          <p:nvPr/>
        </p:nvSpPr>
        <p:spPr>
          <a:xfrm>
            <a:off x="8229600" y="2148840"/>
            <a:ext cx="3063240" cy="2331720"/>
          </a:xfrm>
          <a:prstGeom prst="roundRect">
            <a:avLst/>
          </a:prstGeom>
          <a:solidFill>
            <a:srgbClr val="FFF4E8"/>
          </a:solidFill>
          <a:ln w="12700">
            <a:solidFill>
              <a:srgbClr val="D7E2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/>
          <p:nvPr/>
        </p:nvSpPr>
        <p:spPr>
          <a:xfrm>
            <a:off x="8458200" y="2487168"/>
            <a:ext cx="2560320" cy="31089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F58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UAS</a:t>
            </a:r>
            <a:endParaRPr lang="en-US" sz="2100" dirty="0"/>
          </a:p>
        </p:txBody>
      </p:sp>
      <p:sp>
        <p:nvSpPr>
          <p:cNvPr id="19" name="Text 16"/>
          <p:cNvSpPr/>
          <p:nvPr/>
        </p:nvSpPr>
        <p:spPr>
          <a:xfrm>
            <a:off x="8522208" y="3108960"/>
            <a:ext cx="2487168" cy="9601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280" dirty="0">
                <a:solidFill>
                  <a:srgbClr val="1B26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Proyek akhir: laporan profesional, presentasi hasil, rekomendasi aktuaria.</a:t>
            </a:r>
            <a:endParaRPr lang="en-US" sz="1280" dirty="0"/>
          </a:p>
        </p:txBody>
      </p:sp>
      <p:sp>
        <p:nvSpPr>
          <p:cNvPr id="20" name="Shape 17"/>
          <p:cNvSpPr/>
          <p:nvPr/>
        </p:nvSpPr>
        <p:spPr>
          <a:xfrm>
            <a:off x="1143000" y="5074920"/>
            <a:ext cx="9875520" cy="749808"/>
          </a:xfrm>
          <a:prstGeom prst="roundRect">
            <a:avLst/>
          </a:prstGeom>
          <a:solidFill>
            <a:srgbClr val="EEF5F6"/>
          </a:solidFill>
          <a:ln w="12700">
            <a:solidFill>
              <a:srgbClr val="B9CBD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8"/>
          <p:cNvSpPr/>
          <p:nvPr/>
        </p:nvSpPr>
        <p:spPr>
          <a:xfrm>
            <a:off x="1280160" y="5193792"/>
            <a:ext cx="9601200" cy="53035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 algn="ctr">
              <a:buNone/>
            </a:pPr>
            <a:r>
              <a:rPr lang="en-US" sz="1450" b="1" dirty="0">
                <a:solidFill>
                  <a:srgbClr val="1235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Pertanyaan proyek yang baik = konteks nyata + asumsi eksplisit + model terukur + interpretasi dapat dipahami.</a:t>
            </a:r>
            <a:endParaRPr lang="en-US" sz="14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7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F5822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201168"/>
            <a:ext cx="12191695" cy="73152"/>
          </a:xfrm>
          <a:prstGeom prst="rect">
            <a:avLst/>
          </a:prstGeom>
          <a:solidFill>
            <a:srgbClr val="1B998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4" name="Image 0" descr="/mnt/data/unpad_logo_adwt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4048" y="393192"/>
            <a:ext cx="438912" cy="43891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914400" y="429768"/>
            <a:ext cx="6949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850" b="1" dirty="0">
                <a:solidFill>
                  <a:srgbClr val="5365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S2 Statistika Terapan | FMIPA Universitas Padjadjaran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502920" y="868680"/>
            <a:ext cx="8961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1235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Rubrik Ringkas Penilaian Proyek</a:t>
            </a:r>
            <a:endParaRPr lang="en-US" sz="2500" dirty="0"/>
          </a:p>
        </p:txBody>
      </p:sp>
      <p:sp>
        <p:nvSpPr>
          <p:cNvPr id="7" name="Text 4"/>
          <p:cNvSpPr/>
          <p:nvPr/>
        </p:nvSpPr>
        <p:spPr>
          <a:xfrm>
            <a:off x="512064" y="1325880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1050" dirty="0">
                <a:solidFill>
                  <a:srgbClr val="5365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Menilai konsep, komputasi, interpretasi, komunikasi, dan orisinalitas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502920" y="1682496"/>
            <a:ext cx="11183112" cy="0"/>
          </a:xfrm>
          <a:prstGeom prst="line">
            <a:avLst/>
          </a:prstGeom>
          <a:noFill/>
          <a:ln w="12700">
            <a:solidFill>
              <a:srgbClr val="D6E4EA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11027664" y="6327648"/>
            <a:ext cx="548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r">
              <a:buNone/>
            </a:pPr>
            <a:r>
              <a:rPr lang="en-US" sz="800" dirty="0">
                <a:solidFill>
                  <a:srgbClr val="5365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512064" y="6419088"/>
            <a:ext cx="621792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buNone/>
            </a:pPr>
            <a:r>
              <a:rPr lang="en-US" sz="720" dirty="0">
                <a:solidFill>
                  <a:srgbClr val="7B879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Materi Matematika Aktuaria 1 | Januari 2025</a:t>
            </a:r>
            <a:endParaRPr lang="en-US" sz="720" dirty="0"/>
          </a:p>
        </p:txBody>
      </p:sp>
      <p:sp>
        <p:nvSpPr>
          <p:cNvPr id="11" name="Shape 8"/>
          <p:cNvSpPr/>
          <p:nvPr/>
        </p:nvSpPr>
        <p:spPr>
          <a:xfrm>
            <a:off x="914400" y="1965960"/>
            <a:ext cx="8961120" cy="5669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2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1170432" y="2121408"/>
            <a:ext cx="3657600" cy="21945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450" b="1" dirty="0">
                <a:solidFill>
                  <a:srgbClr val="1235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Ketepatan konsep</a:t>
            </a:r>
            <a:endParaRPr lang="en-US" sz="1450" dirty="0"/>
          </a:p>
        </p:txBody>
      </p:sp>
      <p:sp>
        <p:nvSpPr>
          <p:cNvPr id="13" name="Shape 10"/>
          <p:cNvSpPr/>
          <p:nvPr/>
        </p:nvSpPr>
        <p:spPr>
          <a:xfrm>
            <a:off x="5074920" y="2130552"/>
            <a:ext cx="4206240" cy="201168"/>
          </a:xfrm>
          <a:prstGeom prst="roundRect">
            <a:avLst/>
          </a:prstGeom>
          <a:solidFill>
            <a:srgbClr val="2364AA"/>
          </a:solidFill>
          <a:ln w="6350">
            <a:solidFill>
              <a:srgbClr val="2364A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10040112" y="2103120"/>
            <a:ext cx="640080" cy="21945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2364A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25%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914400" y="2752344"/>
            <a:ext cx="8961120" cy="566928"/>
          </a:xfrm>
          <a:prstGeom prst="roundRect">
            <a:avLst/>
          </a:prstGeom>
          <a:solidFill>
            <a:srgbClr val="EEF5F6"/>
          </a:solidFill>
          <a:ln w="12700">
            <a:solidFill>
              <a:srgbClr val="D7E2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3"/>
          <p:cNvSpPr/>
          <p:nvPr/>
        </p:nvSpPr>
        <p:spPr>
          <a:xfrm>
            <a:off x="1170432" y="2907792"/>
            <a:ext cx="3657600" cy="21945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450" b="1" dirty="0">
                <a:solidFill>
                  <a:srgbClr val="1235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Ketepatan komputasi</a:t>
            </a:r>
            <a:endParaRPr lang="en-US" sz="1450" dirty="0"/>
          </a:p>
        </p:txBody>
      </p:sp>
      <p:sp>
        <p:nvSpPr>
          <p:cNvPr id="17" name="Shape 14"/>
          <p:cNvSpPr/>
          <p:nvPr/>
        </p:nvSpPr>
        <p:spPr>
          <a:xfrm>
            <a:off x="5074920" y="2916936"/>
            <a:ext cx="4206240" cy="201168"/>
          </a:xfrm>
          <a:prstGeom prst="roundRect">
            <a:avLst/>
          </a:prstGeom>
          <a:solidFill>
            <a:srgbClr val="1B998B"/>
          </a:solidFill>
          <a:ln w="6350">
            <a:solidFill>
              <a:srgbClr val="1B998B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5"/>
          <p:cNvSpPr/>
          <p:nvPr/>
        </p:nvSpPr>
        <p:spPr>
          <a:xfrm>
            <a:off x="10040112" y="2889504"/>
            <a:ext cx="640080" cy="21945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1B99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25%</a:t>
            </a:r>
            <a:endParaRPr lang="en-US" sz="1300" dirty="0"/>
          </a:p>
        </p:txBody>
      </p:sp>
      <p:sp>
        <p:nvSpPr>
          <p:cNvPr id="19" name="Shape 16"/>
          <p:cNvSpPr/>
          <p:nvPr/>
        </p:nvSpPr>
        <p:spPr>
          <a:xfrm>
            <a:off x="914400" y="3538728"/>
            <a:ext cx="8961120" cy="5669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2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/>
          <p:nvPr/>
        </p:nvSpPr>
        <p:spPr>
          <a:xfrm>
            <a:off x="1170432" y="3694176"/>
            <a:ext cx="3657600" cy="21945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450" b="1" dirty="0">
                <a:solidFill>
                  <a:srgbClr val="1235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Interpretasi</a:t>
            </a:r>
            <a:endParaRPr lang="en-US" sz="1450" dirty="0"/>
          </a:p>
        </p:txBody>
      </p:sp>
      <p:sp>
        <p:nvSpPr>
          <p:cNvPr id="21" name="Shape 18"/>
          <p:cNvSpPr/>
          <p:nvPr/>
        </p:nvSpPr>
        <p:spPr>
          <a:xfrm>
            <a:off x="5074920" y="3703320"/>
            <a:ext cx="4206240" cy="201168"/>
          </a:xfrm>
          <a:prstGeom prst="roundRect">
            <a:avLst/>
          </a:prstGeom>
          <a:solidFill>
            <a:srgbClr val="F58220"/>
          </a:solidFill>
          <a:ln w="6350">
            <a:solidFill>
              <a:srgbClr val="F5822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19"/>
          <p:cNvSpPr/>
          <p:nvPr/>
        </p:nvSpPr>
        <p:spPr>
          <a:xfrm>
            <a:off x="10040112" y="3675888"/>
            <a:ext cx="640080" cy="21945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F5822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25%</a:t>
            </a:r>
            <a:endParaRPr lang="en-US" sz="1300" dirty="0"/>
          </a:p>
        </p:txBody>
      </p:sp>
      <p:sp>
        <p:nvSpPr>
          <p:cNvPr id="23" name="Shape 20"/>
          <p:cNvSpPr/>
          <p:nvPr/>
        </p:nvSpPr>
        <p:spPr>
          <a:xfrm>
            <a:off x="914400" y="4325112"/>
            <a:ext cx="8961120" cy="566928"/>
          </a:xfrm>
          <a:prstGeom prst="roundRect">
            <a:avLst/>
          </a:prstGeom>
          <a:solidFill>
            <a:srgbClr val="EEF5F6"/>
          </a:solidFill>
          <a:ln w="12700">
            <a:solidFill>
              <a:srgbClr val="D7E2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1"/>
          <p:cNvSpPr/>
          <p:nvPr/>
        </p:nvSpPr>
        <p:spPr>
          <a:xfrm>
            <a:off x="1170432" y="4480560"/>
            <a:ext cx="3657600" cy="21945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450" b="1" dirty="0">
                <a:solidFill>
                  <a:srgbClr val="1235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Komunikasi</a:t>
            </a:r>
            <a:endParaRPr lang="en-US" sz="1450" dirty="0"/>
          </a:p>
        </p:txBody>
      </p:sp>
      <p:sp>
        <p:nvSpPr>
          <p:cNvPr id="25" name="Shape 22"/>
          <p:cNvSpPr/>
          <p:nvPr/>
        </p:nvSpPr>
        <p:spPr>
          <a:xfrm>
            <a:off x="5074920" y="4489704"/>
            <a:ext cx="2523744" cy="201168"/>
          </a:xfrm>
          <a:prstGeom prst="roundRect">
            <a:avLst/>
          </a:prstGeom>
          <a:solidFill>
            <a:srgbClr val="006B3F"/>
          </a:solidFill>
          <a:ln w="6350">
            <a:solidFill>
              <a:srgbClr val="006B3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3"/>
          <p:cNvSpPr/>
          <p:nvPr/>
        </p:nvSpPr>
        <p:spPr>
          <a:xfrm>
            <a:off x="10040112" y="4462272"/>
            <a:ext cx="640080" cy="21945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006B3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15%</a:t>
            </a:r>
            <a:endParaRPr lang="en-US" sz="1300" dirty="0"/>
          </a:p>
        </p:txBody>
      </p:sp>
      <p:sp>
        <p:nvSpPr>
          <p:cNvPr id="27" name="Shape 24"/>
          <p:cNvSpPr/>
          <p:nvPr/>
        </p:nvSpPr>
        <p:spPr>
          <a:xfrm>
            <a:off x="914400" y="5111496"/>
            <a:ext cx="8961120" cy="5669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7E2E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5"/>
          <p:cNvSpPr/>
          <p:nvPr/>
        </p:nvSpPr>
        <p:spPr>
          <a:xfrm>
            <a:off x="1170432" y="5266944"/>
            <a:ext cx="3657600" cy="21945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450" b="1" dirty="0">
                <a:solidFill>
                  <a:srgbClr val="12355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Orisinalitas</a:t>
            </a:r>
            <a:endParaRPr lang="en-US" sz="1450" dirty="0"/>
          </a:p>
        </p:txBody>
      </p:sp>
      <p:sp>
        <p:nvSpPr>
          <p:cNvPr id="29" name="Shape 26"/>
          <p:cNvSpPr/>
          <p:nvPr/>
        </p:nvSpPr>
        <p:spPr>
          <a:xfrm>
            <a:off x="5074920" y="5276088"/>
            <a:ext cx="1682496" cy="201168"/>
          </a:xfrm>
          <a:prstGeom prst="roundRect">
            <a:avLst/>
          </a:prstGeom>
          <a:solidFill>
            <a:srgbClr val="C8452D"/>
          </a:solidFill>
          <a:ln w="6350">
            <a:solidFill>
              <a:srgbClr val="C8452D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7"/>
          <p:cNvSpPr/>
          <p:nvPr/>
        </p:nvSpPr>
        <p:spPr>
          <a:xfrm>
            <a:off x="10040112" y="5248656"/>
            <a:ext cx="640080" cy="219456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r">
              <a:buNone/>
            </a:pPr>
            <a:r>
              <a:rPr lang="en-US" sz="1300" b="1" dirty="0">
                <a:solidFill>
                  <a:srgbClr val="C8452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10%</a:t>
            </a:r>
            <a:endParaRPr lang="en-US" sz="1300" dirty="0"/>
          </a:p>
        </p:txBody>
      </p:sp>
      <p:sp>
        <p:nvSpPr>
          <p:cNvPr id="31" name="Text 28"/>
          <p:cNvSpPr/>
          <p:nvPr/>
        </p:nvSpPr>
        <p:spPr>
          <a:xfrm>
            <a:off x="1005840" y="5897880"/>
            <a:ext cx="10058400" cy="34747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ctr">
              <a:buNone/>
            </a:pPr>
            <a:r>
              <a:rPr lang="en-US" sz="1300" dirty="0">
                <a:solidFill>
                  <a:srgbClr val="53657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Sangat baik: notasi dan asumsi tepat, kode berjalan, output benar, interpretasi kontekstual, visualisasi jelas, dan ada perluasan kasus.</a:t>
            </a:r>
            <a:endParaRPr lang="en-US" sz="13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B1F36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a_high_resolution_stylized_conceptual_finance_ac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43800" y="1097280"/>
            <a:ext cx="3611880" cy="2029968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>
              <a:alpha val="24000"/>
            </a:srgbClr>
          </a:solidFill>
          <a:ln w="12700">
            <a:solidFill>
              <a:srgbClr val="000000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1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F58220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2"/>
          <p:cNvSpPr/>
          <p:nvPr/>
        </p:nvSpPr>
        <p:spPr>
          <a:xfrm>
            <a:off x="0" y="256032"/>
            <a:ext cx="12191695" cy="73152"/>
          </a:xfrm>
          <a:prstGeom prst="rect">
            <a:avLst/>
          </a:prstGeom>
          <a:solidFill>
            <a:srgbClr val="1B998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pic>
        <p:nvPicPr>
          <p:cNvPr id="6" name="Image 1" descr="/mnt/data/unpad_logo_adwt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658368"/>
            <a:ext cx="694944" cy="694944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463040" y="850392"/>
            <a:ext cx="4389120" cy="256032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DCECF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Matematika Aktuaria 1</a:t>
            </a:r>
            <a:endParaRPr lang="en-US" sz="1200" dirty="0"/>
          </a:p>
        </p:txBody>
      </p:sp>
      <p:sp>
        <p:nvSpPr>
          <p:cNvPr id="8" name="Text 4"/>
          <p:cNvSpPr/>
          <p:nvPr/>
        </p:nvSpPr>
        <p:spPr>
          <a:xfrm>
            <a:off x="713232" y="2148840"/>
            <a:ext cx="6126480" cy="11887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39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Dari rumus menuju</a:t>
            </a:r>
            <a:endParaRPr lang="en-US" sz="3900" dirty="0"/>
          </a:p>
          <a:p>
            <a:pPr marL="0" indent="0" algn="l">
              <a:buNone/>
            </a:pPr>
            <a:r>
              <a:rPr lang="en-US" sz="39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keputusan risiko</a:t>
            </a:r>
            <a:endParaRPr lang="en-US" sz="3900" dirty="0"/>
          </a:p>
        </p:txBody>
      </p:sp>
      <p:sp>
        <p:nvSpPr>
          <p:cNvPr id="9" name="Shape 5"/>
          <p:cNvSpPr/>
          <p:nvPr/>
        </p:nvSpPr>
        <p:spPr>
          <a:xfrm>
            <a:off x="749808" y="3584448"/>
            <a:ext cx="3044952" cy="0"/>
          </a:xfrm>
          <a:prstGeom prst="line">
            <a:avLst/>
          </a:prstGeom>
          <a:noFill/>
          <a:ln w="63500">
            <a:solidFill>
              <a:srgbClr val="F58220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6"/>
          <p:cNvSpPr/>
          <p:nvPr/>
        </p:nvSpPr>
        <p:spPr>
          <a:xfrm>
            <a:off x="758952" y="4069080"/>
            <a:ext cx="6400800" cy="91440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l">
              <a:buNone/>
            </a:pPr>
            <a:r>
              <a:rPr lang="en-US" sz="1600" dirty="0">
                <a:solidFill>
                  <a:srgbClr val="E8F1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Mahasiswa diharapkan mampu membangun model aktuaria yang logis, komputasional, dan komunikatif—karena premi dan cadangan bukan sekadar angka, tetapi janji yang harus bisa dipenuhi.</a:t>
            </a:r>
            <a:endParaRPr lang="en-US" sz="1600" dirty="0"/>
          </a:p>
        </p:txBody>
      </p:sp>
      <p:sp>
        <p:nvSpPr>
          <p:cNvPr id="11" name="Text 7"/>
          <p:cNvSpPr/>
          <p:nvPr/>
        </p:nvSpPr>
        <p:spPr>
          <a:xfrm>
            <a:off x="11064240" y="6355080"/>
            <a:ext cx="548640" cy="18288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>
            <a:normAutofit/>
          </a:bodyPr>
          <a:lstStyle/>
          <a:p>
            <a:pPr marL="0" indent="0" algn="r">
              <a:buNone/>
            </a:pPr>
            <a:r>
              <a:rPr lang="en-US" sz="800" dirty="0">
                <a:solidFill>
                  <a:srgbClr val="D6E4E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21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1710</Words>
  <Application>Microsoft Macintosh PowerPoint</Application>
  <PresentationFormat>Widescreen</PresentationFormat>
  <Paragraphs>312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5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S2 Statistika Terapan FMIPA Universitas Padjadjaran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Matematika Aktuaria 1</dc:title>
  <dc:subject>Materi Pembelajaran Matematika Aktuaria 1</dc:subject>
  <dc:creator>OpenAI</dc:creator>
  <cp:lastModifiedBy>Mindra</cp:lastModifiedBy>
  <cp:revision>1</cp:revision>
  <dcterms:created xsi:type="dcterms:W3CDTF">2026-06-22T02:58:50Z</dcterms:created>
  <dcterms:modified xsi:type="dcterms:W3CDTF">2026-06-22T03:12:19Z</dcterms:modified>
</cp:coreProperties>
</file>