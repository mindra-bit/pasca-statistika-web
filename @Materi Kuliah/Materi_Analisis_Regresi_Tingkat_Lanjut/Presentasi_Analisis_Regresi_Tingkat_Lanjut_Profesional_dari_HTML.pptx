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d5d09bf9574629" /><Relationship Type="http://schemas.openxmlformats.org/officeDocument/2006/relationships/extended-properties" Target="/docProps/app.xml" Id="Rdc90ec69206a439a" /><Relationship Type="http://schemas.openxmlformats.org/officeDocument/2006/relationships/officeDocument" Target="/ppt/presentation.xml" Id="R481d0be8a0e54b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6ebfe0743749c2"/>
  </p:sldMasterIdLst>
  <p:notesMasterIdLst>
    <p:notesMasterId xmlns:r="http://schemas.openxmlformats.org/officeDocument/2006/relationships" r:id="Rab5001a383674d69"/>
  </p:notesMasterIdLst>
  <p:sldIdLst>
    <p:sldId xmlns:r="http://schemas.openxmlformats.org/officeDocument/2006/relationships" id="256" r:id="R412b556978654398"/>
    <p:sldId xmlns:r="http://schemas.openxmlformats.org/officeDocument/2006/relationships" id="257" r:id="Rc8427db0b52649ec"/>
    <p:sldId xmlns:r="http://schemas.openxmlformats.org/officeDocument/2006/relationships" id="258" r:id="R9c023fe101f74948"/>
    <p:sldId xmlns:r="http://schemas.openxmlformats.org/officeDocument/2006/relationships" id="259" r:id="R582cbca433a14ddb"/>
    <p:sldId xmlns:r="http://schemas.openxmlformats.org/officeDocument/2006/relationships" id="260" r:id="Re136ddc834df4271"/>
    <p:sldId xmlns:r="http://schemas.openxmlformats.org/officeDocument/2006/relationships" id="261" r:id="R1552b4d095fb4cfc"/>
    <p:sldId xmlns:r="http://schemas.openxmlformats.org/officeDocument/2006/relationships" id="262" r:id="Rb899453b551941e7"/>
    <p:sldId xmlns:r="http://schemas.openxmlformats.org/officeDocument/2006/relationships" id="263" r:id="R20b4841c173b4960"/>
    <p:sldId xmlns:r="http://schemas.openxmlformats.org/officeDocument/2006/relationships" id="264" r:id="Reecc37d2dc294a1c"/>
    <p:sldId xmlns:r="http://schemas.openxmlformats.org/officeDocument/2006/relationships" id="265" r:id="R9e45f55e7ed142e1"/>
    <p:sldId xmlns:r="http://schemas.openxmlformats.org/officeDocument/2006/relationships" id="266" r:id="Rcb7b868a151d4863"/>
    <p:sldId xmlns:r="http://schemas.openxmlformats.org/officeDocument/2006/relationships" id="267" r:id="R46e307a3892440ac"/>
    <p:sldId xmlns:r="http://schemas.openxmlformats.org/officeDocument/2006/relationships" id="268" r:id="Rd177a63e5822461c"/>
    <p:sldId xmlns:r="http://schemas.openxmlformats.org/officeDocument/2006/relationships" id="269" r:id="R3ff64e25aff04e90"/>
    <p:sldId xmlns:r="http://schemas.openxmlformats.org/officeDocument/2006/relationships" id="270" r:id="Rff57a9b8852b4b9c"/>
    <p:sldId xmlns:r="http://schemas.openxmlformats.org/officeDocument/2006/relationships" id="271" r:id="Re429d842de144214"/>
    <p:sldId xmlns:r="http://schemas.openxmlformats.org/officeDocument/2006/relationships" id="272" r:id="R62fcffc11f5e487d"/>
    <p:sldId xmlns:r="http://schemas.openxmlformats.org/officeDocument/2006/relationships" id="273" r:id="R13668667085f4313"/>
    <p:sldId xmlns:r="http://schemas.openxmlformats.org/officeDocument/2006/relationships" id="274" r:id="R82e1a85e70a24493"/>
    <p:sldId xmlns:r="http://schemas.openxmlformats.org/officeDocument/2006/relationships" id="275" r:id="Rf6d22f4f97844e9e"/>
    <p:sldId xmlns:r="http://schemas.openxmlformats.org/officeDocument/2006/relationships" id="276" r:id="R5c4eadae8dca41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6896db5ffc4f4c" /><Relationship Type="http://schemas.openxmlformats.org/officeDocument/2006/relationships/slideMaster" Target="/ppt/slideMasters/slideMaster1.xml" Id="Rb36ebfe0743749c2" /><Relationship Type="http://schemas.openxmlformats.org/officeDocument/2006/relationships/notesMaster" Target="/ppt/notesMasters/notesMaster1.xml" Id="Rab5001a383674d69" /><Relationship Type="http://schemas.openxmlformats.org/officeDocument/2006/relationships/presProps" Target="/ppt/presProps.xml" Id="R19223b1fcfd344c9" /><Relationship Type="http://schemas.openxmlformats.org/officeDocument/2006/relationships/tableStyles" Target="/ppt/tableStyles.xml" Id="R771e69336d9f4f37" /><Relationship Type="http://schemas.openxmlformats.org/officeDocument/2006/relationships/slide" Target="/ppt/slides/slide1.xml" Id="R412b556978654398" /><Relationship Type="http://schemas.openxmlformats.org/officeDocument/2006/relationships/slide" Target="/ppt/slides/slide2.xml" Id="Rc8427db0b52649ec" /><Relationship Type="http://schemas.openxmlformats.org/officeDocument/2006/relationships/slide" Target="/ppt/slides/slide3.xml" Id="R9c023fe101f74948" /><Relationship Type="http://schemas.openxmlformats.org/officeDocument/2006/relationships/slide" Target="/ppt/slides/slide4.xml" Id="R582cbca433a14ddb" /><Relationship Type="http://schemas.openxmlformats.org/officeDocument/2006/relationships/slide" Target="/ppt/slides/slide5.xml" Id="Re136ddc834df4271" /><Relationship Type="http://schemas.openxmlformats.org/officeDocument/2006/relationships/slide" Target="/ppt/slides/slide6.xml" Id="R1552b4d095fb4cfc" /><Relationship Type="http://schemas.openxmlformats.org/officeDocument/2006/relationships/slide" Target="/ppt/slides/slide7.xml" Id="Rb899453b551941e7" /><Relationship Type="http://schemas.openxmlformats.org/officeDocument/2006/relationships/slide" Target="/ppt/slides/slide8.xml" Id="R20b4841c173b4960" /><Relationship Type="http://schemas.openxmlformats.org/officeDocument/2006/relationships/slide" Target="/ppt/slides/slide9.xml" Id="Reecc37d2dc294a1c" /><Relationship Type="http://schemas.openxmlformats.org/officeDocument/2006/relationships/slide" Target="/ppt/slides/slide10.xml" Id="R9e45f55e7ed142e1" /><Relationship Type="http://schemas.openxmlformats.org/officeDocument/2006/relationships/slide" Target="/ppt/slides/slide11.xml" Id="Rcb7b868a151d4863" /><Relationship Type="http://schemas.openxmlformats.org/officeDocument/2006/relationships/slide" Target="/ppt/slides/slide12.xml" Id="R46e307a3892440ac" /><Relationship Type="http://schemas.openxmlformats.org/officeDocument/2006/relationships/slide" Target="/ppt/slides/slide13.xml" Id="Rd177a63e5822461c" /><Relationship Type="http://schemas.openxmlformats.org/officeDocument/2006/relationships/slide" Target="/ppt/slides/slide14.xml" Id="R3ff64e25aff04e90" /><Relationship Type="http://schemas.openxmlformats.org/officeDocument/2006/relationships/slide" Target="/ppt/slides/slide15.xml" Id="Rff57a9b8852b4b9c" /><Relationship Type="http://schemas.openxmlformats.org/officeDocument/2006/relationships/slide" Target="/ppt/slides/slide16.xml" Id="Re429d842de144214" /><Relationship Type="http://schemas.openxmlformats.org/officeDocument/2006/relationships/slide" Target="/ppt/slides/slide17.xml" Id="R62fcffc11f5e487d" /><Relationship Type="http://schemas.openxmlformats.org/officeDocument/2006/relationships/slide" Target="/ppt/slides/slide18.xml" Id="R13668667085f4313" /><Relationship Type="http://schemas.openxmlformats.org/officeDocument/2006/relationships/slide" Target="/ppt/slides/slide19.xml" Id="R82e1a85e70a24493" /><Relationship Type="http://schemas.openxmlformats.org/officeDocument/2006/relationships/slide" Target="/ppt/slides/slide20.xml" Id="Rf6d22f4f97844e9e" /><Relationship Type="http://schemas.openxmlformats.org/officeDocument/2006/relationships/slide" Target="/ppt/slides/slide21.xml" Id="R5c4eadae8dca41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5eca2204f74c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53123aec614163" /><Relationship Type="http://schemas.openxmlformats.org/officeDocument/2006/relationships/notesMaster" Target="/ppt/notesMasters/notesMaster1.xml" Id="R65a8703725e148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0b60a6492242dd" /><Relationship Type="http://schemas.openxmlformats.org/officeDocument/2006/relationships/notesMaster" Target="/ppt/notesMasters/notesMaster1.xml" Id="R2d4d40e761f745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891b2367b046a7" /><Relationship Type="http://schemas.openxmlformats.org/officeDocument/2006/relationships/notesMaster" Target="/ppt/notesMasters/notesMaster1.xml" Id="R1e26ac3d104349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9e2f9a04ed4b60" /><Relationship Type="http://schemas.openxmlformats.org/officeDocument/2006/relationships/notesMaster" Target="/ppt/notesMasters/notesMaster1.xml" Id="R328694efec8e4a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1f062436e34168" /><Relationship Type="http://schemas.openxmlformats.org/officeDocument/2006/relationships/notesMaster" Target="/ppt/notesMasters/notesMaster1.xml" Id="R7ed512eccbe24e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e9760ef60447dc" /><Relationship Type="http://schemas.openxmlformats.org/officeDocument/2006/relationships/notesMaster" Target="/ppt/notesMasters/notesMaster1.xml" Id="R6f95b65fb28e45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81be06e0c6424b" /><Relationship Type="http://schemas.openxmlformats.org/officeDocument/2006/relationships/notesMaster" Target="/ppt/notesMasters/notesMaster1.xml" Id="Raf8739b69aa247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798788922441cf" /><Relationship Type="http://schemas.openxmlformats.org/officeDocument/2006/relationships/notesMaster" Target="/ppt/notesMasters/notesMaster1.xml" Id="R21cfdd2653384d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532c705d1f42a6" /><Relationship Type="http://schemas.openxmlformats.org/officeDocument/2006/relationships/notesMaster" Target="/ppt/notesMasters/notesMaster1.xml" Id="R98833d03bb3448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cd44a46bb04d61" /><Relationship Type="http://schemas.openxmlformats.org/officeDocument/2006/relationships/notesMaster" Target="/ppt/notesMasters/notesMaster1.xml" Id="R3337cbc5701043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24f5312e4b4683" /><Relationship Type="http://schemas.openxmlformats.org/officeDocument/2006/relationships/notesMaster" Target="/ppt/notesMasters/notesMaster1.xml" Id="Rdb34e75890f143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39898fec51c44f0" /><Relationship Type="http://schemas.openxmlformats.org/officeDocument/2006/relationships/notesMaster" Target="/ppt/notesMasters/notesMaster1.xml" Id="Rc79e7eb54455453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36b96137af4117" /><Relationship Type="http://schemas.openxmlformats.org/officeDocument/2006/relationships/notesMaster" Target="/ppt/notesMasters/notesMaster1.xml" Id="R3de5c23047d2427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292f60d1c540e3" /><Relationship Type="http://schemas.openxmlformats.org/officeDocument/2006/relationships/notesMaster" Target="/ppt/notesMasters/notesMaster1.xml" Id="R1fc9179d403d49f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c84e34e17f741cd" /><Relationship Type="http://schemas.openxmlformats.org/officeDocument/2006/relationships/notesMaster" Target="/ppt/notesMasters/notesMaster1.xml" Id="Rd5dad0045e8c4f2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0f4cb1fb2794bbc" /><Relationship Type="http://schemas.openxmlformats.org/officeDocument/2006/relationships/notesMaster" Target="/ppt/notesMasters/notesMaster1.xml" Id="R072c208bcf5c49a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832cb25b49c450d" /><Relationship Type="http://schemas.openxmlformats.org/officeDocument/2006/relationships/notesMaster" Target="/ppt/notesMasters/notesMaster1.xml" Id="R47b4f4d932714bc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7fd42afcb924405" /><Relationship Type="http://schemas.openxmlformats.org/officeDocument/2006/relationships/notesMaster" Target="/ppt/notesMasters/notesMaster1.xml" Id="R4418cb20f65040f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f1a148c618c49e6" /><Relationship Type="http://schemas.openxmlformats.org/officeDocument/2006/relationships/notesMaster" Target="/ppt/notesMasters/notesMaster1.xml" Id="Rd02efced68754c3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226d4cdbfa14a0b" /><Relationship Type="http://schemas.openxmlformats.org/officeDocument/2006/relationships/notesMaster" Target="/ppt/notesMasters/notesMaster1.xml" Id="Raf7092bdef8d439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e74a18e4409424f" /><Relationship Type="http://schemas.openxmlformats.org/officeDocument/2006/relationships/notesMaster" Target="/ppt/notesMasters/notesMaster1.xml" Id="R8d59f383660d4b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RPS mata kuliah Revisi AI 2026, Program Studi S2 Statistika Terapan FMIPA Universitas Padjadjaran.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Penutup: CPL tetap. AI adalah akselerator ketercapaian CPMK/Sub-CPMK, bukan pengganti penalaran statistika. Tekankan kewajiban prompt log ringkas, sumber, kode/notebook reproducible, validasi, dan audit trail.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a86b76ade7472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258d57d9a0406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"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3e827fe81c4f46" /><Relationship Type="http://schemas.openxmlformats.org/officeDocument/2006/relationships/slideLayout" Target="/ppt/slideLayouts/slideLayout1.xml" Id="Rf566b7492db847ce" /><Relationship Type="http://schemas.openxmlformats.org/officeDocument/2006/relationships/slideLayout" Target="/ppt/slideLayouts/slideLayout2.xml" Id="R73c7470e98a64ee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66b7492db847ce"/>
    <p:sldLayoutId xmlns:r="http://schemas.openxmlformats.org/officeDocument/2006/relationships" id="2147483650" r:id="R73c7470e98a64ee3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c7c8b0e3a0411c" /><Relationship Type="http://schemas.openxmlformats.org/officeDocument/2006/relationships/image" Target="/ppt/media/image.png" Id="R33daae2f2520478c" /><Relationship Type="http://schemas.openxmlformats.org/officeDocument/2006/relationships/image" Target="/ppt/media/image2.png" Id="Rd46f6ab9f3d04e5c" /><Relationship Type="http://schemas.openxmlformats.org/officeDocument/2006/relationships/notesSlide" Target="/ppt/notesSlides/notesSlide1.xml" Id="R4d86f1d3814949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57a0d8eef94941" /><Relationship Type="http://schemas.openxmlformats.org/officeDocument/2006/relationships/image" Target="/ppt/media/image2.png" Id="R03f0f06c636146d5" /><Relationship Type="http://schemas.openxmlformats.org/officeDocument/2006/relationships/notesSlide" Target="/ppt/notesSlides/notesSlide2.xml" Id="R4b67efd0d17449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3a6f4cb6d04652" /><Relationship Type="http://schemas.openxmlformats.org/officeDocument/2006/relationships/image" Target="/ppt/media/image2.png" Id="R4ef57b1275144ecb" /><Relationship Type="http://schemas.openxmlformats.org/officeDocument/2006/relationships/notesSlide" Target="/ppt/notesSlides/notesSlide3.xml" Id="R6f691935e81e41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e2658610f04a5f" /><Relationship Type="http://schemas.openxmlformats.org/officeDocument/2006/relationships/image" Target="/ppt/media/image2.png" Id="R0d1d07729b594595" /><Relationship Type="http://schemas.openxmlformats.org/officeDocument/2006/relationships/notesSlide" Target="/ppt/notesSlides/notesSlide4.xml" Id="R0e08c10e7abf42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5025c0054b4a6a" /><Relationship Type="http://schemas.openxmlformats.org/officeDocument/2006/relationships/image" Target="/ppt/media/image2.png" Id="R6612d2c587ab4d6f" /><Relationship Type="http://schemas.openxmlformats.org/officeDocument/2006/relationships/notesSlide" Target="/ppt/notesSlides/notesSlide5.xml" Id="R50c95ac874e744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bc4d5091c844bd" /><Relationship Type="http://schemas.openxmlformats.org/officeDocument/2006/relationships/image" Target="/ppt/media/image2.png" Id="R65d09cd20fa247d8" /><Relationship Type="http://schemas.openxmlformats.org/officeDocument/2006/relationships/notesSlide" Target="/ppt/notesSlides/notesSlide6.xml" Id="R443f527324b848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5f9c5d189143ce" /><Relationship Type="http://schemas.openxmlformats.org/officeDocument/2006/relationships/image" Target="/ppt/media/image2.png" Id="R94ec7cfe03bc4460" /><Relationship Type="http://schemas.openxmlformats.org/officeDocument/2006/relationships/notesSlide" Target="/ppt/notesSlides/notesSlide7.xml" Id="R2d14d2e8367b47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14cf77bbc344bd" /><Relationship Type="http://schemas.openxmlformats.org/officeDocument/2006/relationships/image" Target="/ppt/media/image2.png" Id="R5b8521b289604961" /><Relationship Type="http://schemas.openxmlformats.org/officeDocument/2006/relationships/notesSlide" Target="/ppt/notesSlides/notesSlide8.xml" Id="R9f07db0b9b8c4c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ba90ad5d324651" /><Relationship Type="http://schemas.openxmlformats.org/officeDocument/2006/relationships/image" Target="/ppt/media/image2.png" Id="R4837f9612cf04874" /><Relationship Type="http://schemas.openxmlformats.org/officeDocument/2006/relationships/notesSlide" Target="/ppt/notesSlides/notesSlide9.xml" Id="R178999ca123246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89d34e0b6b45be" /><Relationship Type="http://schemas.openxmlformats.org/officeDocument/2006/relationships/image" Target="/ppt/media/image2.png" Id="R55726f12a956449a" /><Relationship Type="http://schemas.openxmlformats.org/officeDocument/2006/relationships/notesSlide" Target="/ppt/notesSlides/notesSlide10.xml" Id="Rf850ecb8c31b47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0e291a4c784914" /><Relationship Type="http://schemas.openxmlformats.org/officeDocument/2006/relationships/image" Target="/ppt/media/image2.png" Id="Rd6c8ca5337554614" /><Relationship Type="http://schemas.openxmlformats.org/officeDocument/2006/relationships/notesSlide" Target="/ppt/notesSlides/notesSlide11.xml" Id="Rc397c0b2aa9c435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42e892a33e4fbf" /><Relationship Type="http://schemas.openxmlformats.org/officeDocument/2006/relationships/image" Target="/ppt/media/image2.png" Id="R0fc2cf5cca464a59" /><Relationship Type="http://schemas.openxmlformats.org/officeDocument/2006/relationships/notesSlide" Target="/ppt/notesSlides/notesSlide12.xml" Id="R2376c6f5cf3d4e0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f2666fb3e544e7" /><Relationship Type="http://schemas.openxmlformats.org/officeDocument/2006/relationships/image" Target="/ppt/media/image2.png" Id="R6180b85a35e84f3f" /><Relationship Type="http://schemas.openxmlformats.org/officeDocument/2006/relationships/notesSlide" Target="/ppt/notesSlides/notesSlide13.xml" Id="Rfc50e00ab68c4aa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33f32a93a04dee" /><Relationship Type="http://schemas.openxmlformats.org/officeDocument/2006/relationships/image" Target="/ppt/media/image2.png" Id="Rd586e6715c4f4409" /><Relationship Type="http://schemas.openxmlformats.org/officeDocument/2006/relationships/notesSlide" Target="/ppt/notesSlides/notesSlide14.xml" Id="R32b9d00deeec495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48cd9e611a44a6" /><Relationship Type="http://schemas.openxmlformats.org/officeDocument/2006/relationships/image" Target="/ppt/media/image2.png" Id="Rbcd1137f9dc44212" /><Relationship Type="http://schemas.openxmlformats.org/officeDocument/2006/relationships/notesSlide" Target="/ppt/notesSlides/notesSlide15.xml" Id="R51cb3f8d4db646c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0cb6121dbc462b" /><Relationship Type="http://schemas.openxmlformats.org/officeDocument/2006/relationships/image" Target="/ppt/media/image2.png" Id="R54293597ef424c9f" /><Relationship Type="http://schemas.openxmlformats.org/officeDocument/2006/relationships/notesSlide" Target="/ppt/notesSlides/notesSlide16.xml" Id="R3335d0499261430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0f72e09dcf4808" /><Relationship Type="http://schemas.openxmlformats.org/officeDocument/2006/relationships/image" Target="/ppt/media/image2.png" Id="Ra4eaba7c29634751" /><Relationship Type="http://schemas.openxmlformats.org/officeDocument/2006/relationships/notesSlide" Target="/ppt/notesSlides/notesSlide17.xml" Id="Rd1e7c61bff174a4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71cc4f81124603" /><Relationship Type="http://schemas.openxmlformats.org/officeDocument/2006/relationships/image" Target="/ppt/media/image2.png" Id="R38f5bfbee8e24531" /><Relationship Type="http://schemas.openxmlformats.org/officeDocument/2006/relationships/notesSlide" Target="/ppt/notesSlides/notesSlide18.xml" Id="R907f0ad4ac5e4fd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772f07376543a2" /><Relationship Type="http://schemas.openxmlformats.org/officeDocument/2006/relationships/image" Target="/ppt/media/image2.png" Id="Rca7ce224ed7943de" /><Relationship Type="http://schemas.openxmlformats.org/officeDocument/2006/relationships/notesSlide" Target="/ppt/notesSlides/notesSlide19.xml" Id="Rf5737a3ba9894b4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2859793ab94b16" /><Relationship Type="http://schemas.openxmlformats.org/officeDocument/2006/relationships/image" Target="/ppt/media/image2.png" Id="Rf753b2e73cf24b78" /><Relationship Type="http://schemas.openxmlformats.org/officeDocument/2006/relationships/notesSlide" Target="/ppt/notesSlides/notesSlide20.xml" Id="R0f90ef03d40e41d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2cd711d35c4b0d" /><Relationship Type="http://schemas.openxmlformats.org/officeDocument/2006/relationships/image" Target="/ppt/media/image.png" Id="Re302448b29d24f48" /><Relationship Type="http://schemas.openxmlformats.org/officeDocument/2006/relationships/image" Target="/ppt/media/image2.png" Id="Rdb227671b696452b" /><Relationship Type="http://schemas.openxmlformats.org/officeDocument/2006/relationships/notesSlide" Target="/ppt/notesSlides/notesSlide21.xml" Id="Rd4df8306b2454c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daae2f252047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03CCFC52-29D0-4B2B-B0C6-702D3A97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8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82CB3EA-73F5-4734-9957-7FC337AE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565DFE0-9A05-44D0-AC6A-307554B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f6ab9f3d04e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" y="676656"/>
            <a:ext cx="713232" cy="713232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57244F0-7EDC-4115-8F15-93A0613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850392"/>
            <a:ext cx="5623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CE5F019-A97F-4FC9-8A7F-0D599461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428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Analisis Regresi</a:t>
            </a:r>
          </a:p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Tingkat Lanjut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8253394-2F18-46A0-9DC3-02FE96C1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64992"/>
            <a:ext cx="6492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D6E4EA"/>
                </a:solidFill>
                <a:latin typeface="Aptos"/>
                <a:ea typeface="Aptos"/>
                <a:cs typeface="Aptos"/>
              </a:rPr>
              <a:t>Deck pembelajaran profesional berbasis materi HTML mata kuliah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5BC0897-9614-4ABE-843F-45659272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840480"/>
            <a:ext cx="3136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22DC2D-7AD8-4EB4-B64B-DF3D7A8D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45152"/>
            <a:ext cx="7589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Penulis materi: I Gede Nyoman Mindra Jaya, Ph.D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Program: S2 Statistika Terapan FMIPA UNPAD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Sumber: materi HTML mata kuliah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87180B1-BFE6-4902-BC9D-A5780F0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69EAD68-AB04-4A53-B3AD-33C930AC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Regresi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67990FB-7B51-4145-A6C2-944953BA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DCD49DE-10D0-4DC9-9FBF-E58EAD9A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Terapan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6FBE0FA-08D3-4EA2-A730-21E2788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50854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179F762-93FE-4B75-9AEA-4EE71342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AEC3692-6480-4202-8B8F-071A0FF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0f06c636146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ED73F2B-C950-4C94-A5AA-0DE879F0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9208EC-8DD8-4FAF-830D-BAAD08F9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Mengapa Analisis Regresi Lanjut Penting?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71FF16D-61A3-40B8-93A7-21E64032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Peran mata kuliah dalam statistika terapan, komputasi, riset, dan pengambilan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1351A25-941C-49D5-AC28-B8757D8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40024BA-3953-40EA-81DB-A8A86CE4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00F534B-6ADE-46C8-9537-485107E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Regresi Lanjut | Sumber HTML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5EC4388-2145-43EB-BC97-8CCBAA2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38528"/>
            <a:ext cx="5532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Analisis regresi merupakan salah satu bahasa utama dalam statistika terapan.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84F6C0C-8306-48D8-8FB8-753B24C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44368"/>
            <a:ext cx="53949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analisis regresi tingkat lanjut dan orientasi…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regresi robust: m-estimator pada data dan persoalan…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 model melalui asumsi, validasi, dan diagnostik yang…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194D75A-7A64-4250-AA27-39E4796B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93392"/>
            <a:ext cx="43434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1CCF099-E33B-421B-A556-3F7C44D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2677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53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Domain Aplikasi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5F494D5-93D0-4477-994D-9AC21F5B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635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FDA8B61-F616-4F05-AE5F-194A0E2C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Kesehatan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E97AF0F-C4C9-40D2-8033-5D53E5E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635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20A9426-3FC1-4F55-855F-EC2A07F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Industri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190EC18-869E-48BB-A688-E5DEFE3C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635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E20AA35-48E0-486E-A8DA-744B70E7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Sosial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1104143-246D-4117-B001-40AF7CF7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C196DC8-8BD1-487B-A81E-543E929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Ekonomi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5C21172-837B-4DE8-BF6D-B0811C25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B5FC7"/>
          </a:solidFill>
          <a:ln xmlns:a="http://schemas.openxmlformats.org/drawingml/2006/main" w="6350">
            <a:solidFill>
              <a:srgbClr val="5B5F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23D0344-0E69-4B7A-B7C6-4E73E02C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Pemerintahan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6600F9C-7C0D-424F-9266-24B07DAD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EE34E90-BAAD-4EAA-93BA-9CEDC119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Sains data</a:t>
            </a:r>
          </a:p>
        </p:txBody>
      </p:sp>
    </p:spTree>
    <p:extLst>
      <p:ext uri="{BB962C8B-B14F-4D97-AF65-F5344CB8AC3E}">
        <p14:creationId xmlns:p14="http://schemas.microsoft.com/office/powerpoint/2010/main" val="741171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402F31-DBAB-409E-821D-AC3679BA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DFEC572-1CF3-4AA8-B05D-C1EE799C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57b1275144e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9D243BE-D7A5-4D03-9E01-9B182EFC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2F5A01-6D6C-4B82-8493-3401171A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Capaian Pembelajaran Mata Kuliah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33DB7E-F1AE-4225-B4EE-CD54BEF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Empat capaian inti: fondasi, metode, validasi, dan komunikasi ilmiah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505FC8C-740F-4B25-AEE8-88DD24CD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9B8B6A4-A8CD-4742-9F6E-EE9976C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5E4A9C9-056F-4DF2-96D6-77F9A170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Regresi Lanjut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E8F7A14-21F8-4CF8-A271-0E117875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3DF1D5A-37AD-4118-BCC9-0A9D270B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825939A-F369-4B81-81F1-A2673B3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CPMK1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8B7A8AC-8550-42E7-BEAE-C923B119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analisis regresi tingkat lanjut dan orientasi regresi tingkat secara…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5403F97-2708-4ADF-B9ED-23FD4DED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73A2BBD-B692-41CE-BB44-1FEEF3ED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BB51C7-33D0-42A9-805F-75CA0BE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CPMK2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66C81E5-3240-4228-AE60-B098340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regresi robust: m-estimator pada data dan persoalan terapan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267B242-D7AE-4A9F-8CB4-A6D115C8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FD47383-90CA-480D-8731-CBA15C1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8E225BB-AD60-49A7-8D14-2362E29C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CPMK3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AD08D18-37AA-48AB-9C2D-837BFAE5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4B75CEA-5305-40EE-97A6-4C66A83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9A68E61-1271-4AD6-83E0-BF60F0B4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BE008A4-E6D1-47FF-8D24-B27B0ACF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CPMK4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5ED4DBE-AF71-4FB6-92D6-1431DE10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Mengevaluasi, menginterpretasi, dan mengomunikasikan hasil analisis secara bertanggung jawab.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7CD9FA5-C19E-462D-893E-B4D195DD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349240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7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Kunci: mahasiswa bergerak dari memahami konsep menjadi menghasilkan keputusan berbasis data yang terukur dan dapat diuji.</a:t>
            </a:r>
          </a:p>
        </p:txBody>
      </p:sp>
    </p:spTree>
    <p:extLst>
      <p:ext uri="{BB962C8B-B14F-4D97-AF65-F5344CB8AC3E}">
        <p14:creationId xmlns:p14="http://schemas.microsoft.com/office/powerpoint/2010/main" val="960748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AAEAF5-CF6A-4CDE-B06F-3FFB5A7E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81830B8-D15C-4023-A9FE-58398117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d07729b5945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06F40EF-8B02-454A-A47B-9317CCBF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7F7229E-ADA2-45FA-9945-2D8BD29E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Peta Sub-CPMK dan Pertemuan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012076D-1A37-4793-97E6-0B077CF2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16 pertemuan disusun spiral: fondasi → metode → evaluasi → integrasi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44D0DEF-4C8D-4FBA-B160-2E19071E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7C3AABB-3E12-49E8-8901-F101A4C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1B01E9D-7953-4BB3-8E0B-E96C80E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Regresi Lanjut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4863CA9-07E8-44ED-8510-64DC4833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938528"/>
            <a:ext cx="1417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56DC82-1495-4E09-B3E9-C2FE5FE3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093976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Sub-CPMK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F7FAABF-8034-4274-85A4-4C6FCB6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938528"/>
            <a:ext cx="960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7796BCF-CC7A-4C41-8DD8-F2609F54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093976"/>
            <a:ext cx="8138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Pertemuan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34719CF-C94B-48A8-8730-C12A7E5F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938528"/>
            <a:ext cx="31546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4B6A047-5861-40E7-B134-B722ECC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093976"/>
            <a:ext cx="3008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Kemampuan Akhir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2A302C6-99D3-483B-ACA8-1B6D8E3E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938528"/>
            <a:ext cx="541324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3AEEFC2-D3E2-448F-AA80-4FBDBF44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93976"/>
            <a:ext cx="52669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Fokus Pembelajaran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E05CC1E-DBCD-418D-BBC3-4EB941A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41448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A8FFEAC-DFDB-4AA3-BD9B-52791D0A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0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SubCPMK1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BF8FCBD-4C3D-495C-890E-E4F0C863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441448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9A7BA03-65C6-4664-B9E3-47FC3EE6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560320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1–4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B4227B2-5CD3-4402-AAE2-E9D7178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441448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8DE6B03-D82D-4CD0-8A2F-74CF092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560320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Fondasi &amp; struktur data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69C786B-EC79-4DD6-AEF4-06C36F54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441448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B4C344A-12C9-44C2-9358-DA8CF137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560320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Orientasi Analisis, Regresi Linear, Regresi Nonlinier, Regresi Nonlinier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AF25F6D6-19EB-4996-97EE-A41B2978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27832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928691D-A840-4F5C-819A-A44CBB4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346704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SubCPMK2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387B6D6-0B3E-4DD9-BF31-3328FAAF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227832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0117A56-7928-46AE-BA80-C2F58FC0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3346704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5–8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4174A44-0A3F-43F7-9F9A-70F25AA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227832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13ADCABB-5F8D-49DC-9A64-F586AB85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3346704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inti &amp; desain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F9B68B2A-F49D-45AF-AAFE-29205FE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227832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E62A589-DC97-455E-89A5-4895E466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3346704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Regresi Penalized, Regresi Penalized, Regresi Robust, Regresi Bayesian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1EE8550F-58D5-4799-8E71-A4275505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014216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71E8E03-FC60-4265-AF2C-29788A7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33088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SubCPMK3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B0AEF522-9920-46B0-A73E-5E98E899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014216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DB0FE1AD-2441-4333-AAB8-6584F889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133088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9–12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3052AC2-E36A-4AD1-8451-13CA1D6A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014216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F3DA6BDA-5090-466D-9620-DE796255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133088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Pemodelan &amp; evaluasi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087378EC-09E3-473C-BCE0-40095FD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014216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2793BAEC-63F6-441A-9C31-1CC207EF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33088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Regresi Bayesian, Teknik Sampling, Desain Eksperimen, Regresi Lanjutan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96B7B3BF-2C14-4744-B728-63C9BC50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800600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DE628E54-BB81-442C-B610-DB56898A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919472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SubCPMK4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7636DDE-A546-4F57-B82A-E3F5279D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800600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B3C7D3-2DD4-4E68-B991-C08F64F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919472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13–16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C93A2340-8474-4B3C-8A2D-143103E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800600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56A1C456-58FB-42DC-B36D-889D9CDE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919472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Integrasi &amp; proyek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72B07C1B-F06C-45B3-A334-672C85A7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800600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1B3E5F9E-A52A-4E5E-96B8-EA47C68B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919472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Regresi Lanjutan, Evaluasi dan, Penyusunan Laporan, Presentasi Proyek</a:t>
            </a:r>
          </a:p>
        </p:txBody>
      </p:sp>
    </p:spTree>
    <p:extLst>
      <p:ext uri="{BB962C8B-B14F-4D97-AF65-F5344CB8AC3E}">
        <p14:creationId xmlns:p14="http://schemas.microsoft.com/office/powerpoint/2010/main" val="572040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65A7F5-FE1D-4862-8635-122B6D07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B21D301-E09B-4E63-9CC5-108F1F5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2d2c587ab4d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EAF1377-D164-40A1-9D4A-6C68BF7A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CCB39BE-623C-4241-8F2E-87B21352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Workflow Analisis Regresi Lanjut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6FA2BD5-829D-4167-8250-8DDE579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Pipeline kerja: dari masalah dan data menuju model, validasi, dan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289377F-2A6B-4139-BBE5-6F084E36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C3B82F4-203F-4876-AE9F-C86B619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212EA9D-9A69-4520-9B65-E21F6E79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Regresi Lanjut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0F6E542-F11E-4A2D-A8BC-78AD4BAA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A36278C-8F37-46D2-8062-4EC705B9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38296A8-1EC0-46DA-8FF2-9533088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2DEC783-E245-4549-891F-54567953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1410071-DC0F-41FB-8947-21E88CC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E8174F4-DD84-40AD-9A48-D49C7AD8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D9805B-4841-4831-922F-40155814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Masalah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&amp; tujuan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8A2B594-344E-49BF-9481-957451A7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061D66E-F69C-453A-969E-F9885B42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Audit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&amp; kurasi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93E0E2B-F1E9-451F-8FFC-AB93FB1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00D06B2-85EF-4A18-BEDB-00125847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Eksplorasi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pola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3693F34-BDC3-450B-B568-22D38C39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9C9DB86-78A3-437B-A68D-88818CAC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kandidat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EEFC249-1BE2-4960-8DE9-6F0AC14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D32E0C2-B4F8-4001-BDFA-7E4E505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C4E2359-A6BC-46C7-B81F-F010E212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4A8D3A8-C741-48DA-85A7-E98CEE0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ilmiah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9DDF04A-AD7C-4C0E-9494-33EA5A5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2412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CBB91E9-EB9D-4158-A661-7500F0D6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645152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38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Prinsip kelas: rumuskan masalah → pahami data → pilih metode → uji asumsi → validasi hasil → jelaskan dampak.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7A244F9-94A4-46FD-B139-454EE6D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3212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yang baik bukan hanya akurat, tetapi juga transparan, dapat direplikasi, dan masuk akal dalam konteks masalah.</a:t>
            </a:r>
          </a:p>
        </p:txBody>
      </p:sp>
    </p:spTree>
    <p:extLst>
      <p:ext uri="{BB962C8B-B14F-4D97-AF65-F5344CB8AC3E}">
        <p14:creationId xmlns:p14="http://schemas.microsoft.com/office/powerpoint/2010/main" val="537274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544C64-F915-4C32-B129-0A31BE78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d09cd20fa247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1D45BAB-BEB3-47E5-8FA2-F0672404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1–8 | Fondasi, struktur data, metode inti, dan evaluasi tengah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B72A252-C019-45C4-9EB6-A57111FF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Fondasi &amp; Metode Inti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2598C16-B45B-487B-BB27-D44029C9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77864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BF97D5-C77C-4627-AEB7-F7A9C03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6865C1A-325E-4E19-AE30-DA3A2492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c7cfe03bc44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DA6FB27-2B92-496A-AE51-3AAD791D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66FD4-A804-4C3A-840C-3FBFF3C1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Fondasi dan Struktur Data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B031CC9-5C52-42FF-B48E-AE1A29B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Orientasi Analisis, Regresi Linear, Regresi Nonlinier, Regresi Nonlinier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CCF86DF-3C3B-4DE3-B873-FF950840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6BCAD63-BED2-40B1-8A16-F173C14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2F7727E-A3BE-4F7B-A98D-5BE37399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Regresi Lanjut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8813E68-C186-4D8B-917E-EB5528FA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901952"/>
            <a:ext cx="2761488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12B59EC-F263-4214-ADFA-8D422701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6CDE1AB-7F32-4358-B629-74189B16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0D0680B-5843-497D-9253-7F0AF06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27B427D-7214-4DA1-9308-4CCE3295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45CD9EF-DF2F-4A0B-B04A-FAD94EA9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B274713-F900-48C2-9D05-2246F487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6AADCA0-0EB6-4A38-8D90-2F9B18C8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8020D8E-27DC-4632-B27A-01DFF3C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154125C-DE0B-461C-9451-0015C793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B2896D2-BC8A-4001-88EA-B5B48949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66B9C99-E4FA-412D-83F6-8E9978F6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3E4B19F-6566-42B8-97A3-A42D3774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B0DF8A0-0ED4-4C65-82F6-8562E520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3BA9CD5-C12C-4823-8C63-A2673B56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CC246D7-F75A-4AF7-8292-AE208A74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3BAB0F7-F47B-4FFE-8DBB-0005333D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2478FE1-40C2-41D3-B403-FD838F1F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9983138-ABA2-4CD4-8BA1-198502B9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AA8AFE9-D964-4838-8360-BB36068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79F62BD-83FC-41DC-BEA7-A6E88956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8E1F10D-1853-46CD-B34D-B4E2CD5F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F3CE931-768E-4D67-B899-3FCA1EB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C29BA42F-36D5-400F-893A-B041F76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A5FE1A2-696F-4E4F-9A2B-F4EF1A7D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1867F12E-DB8D-4258-AB11-2E8696D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1F97FD91-0422-47FD-82DC-739E81DE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CA56582-DD69-48B9-9448-9272D2D8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B7D2CFF7-4FDD-471F-A94B-5DFFB6C0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C070C254-B99F-479D-82EB-3C88EE60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10A8C250-AA0B-4D00-85F1-1641DA08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D96DD7C2-7EF2-4B08-91C6-1BF44413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0740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Peta konsep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CA2F39ED-09EA-4BD8-82D3-F642013C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93392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EDD8A7BE-1EC8-4DC6-828F-87A547A9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112264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Orientasi Analisis Regresi Tingkat…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E81D7CF1-4453-4E92-B347-CE15BD20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880360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F738E7B2-C60B-4434-BB82-356E6AA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999232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12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Regresi Linear sebagai Baseline…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17DC0F88-3951-4C41-BEAA-2A5D0D2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767328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4EE7C42A-37D1-4B9A-9A6F-4B8BAB2A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886200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Regresi Nonlinier I: Model…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28017A4B-8BF7-4D95-AA04-3BE64F5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965960"/>
            <a:ext cx="3063240" cy="2578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F0E53656-4333-4C73-BFDE-1061AE2F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267712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Karakteristik Utama</a:t>
            </a:r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76385269-C9F9-4CCA-B82B-9CA2534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743200"/>
            <a:ext cx="2514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Orientasi Analisis Regresi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Regresi Linear sebagai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Regresi Nonlinier I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Regresi Nonlinier II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Regresi Penalized I: Ridge</a:t>
            </a:r>
          </a:p>
        </p:txBody>
      </p:sp>
    </p:spTree>
    <p:extLst>
      <p:ext uri="{BB962C8B-B14F-4D97-AF65-F5344CB8AC3E}">
        <p14:creationId xmlns:p14="http://schemas.microsoft.com/office/powerpoint/2010/main" val="5537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66F773D-418D-4B70-BCDC-7800395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76109F-9712-4307-A6A5-CAB642FD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8521b2896049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E10EA04-02B0-4905-917D-15FA6ED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7DD101-333B-476A-95B0-78B9A4B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Operasi Dasar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B82F97-72E8-4275-B517-95E2D1DB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Regresi Nonlinier, Regresi Nonlinier, Regresi Penalized, Regresi Penalized, Regresi Robust…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4469493-775C-4770-87C6-C748D79D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CAFA59-1D82-4389-8C8E-BC4884CF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051F41D-03E8-4436-ADA1-2AB707D9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Regresi Lanjut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FD2717A-DF9E-4FA7-BBA5-02FA6090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2856E20-EBC1-47F7-9762-57837FAF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Regresi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78217AE-C089-4886-AF4F-BB265C9E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Fokus pembelajaran: Model pertumbuhan…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8353D6B-0626-474D-8A20-789F9FA1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85670B9-D39D-4763-8123-85527F7E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Regresi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EA96809-3271-40CF-9AE5-FC32FB5E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Fokus pembelajaran: NLS, Gauss-Newton…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B5A256D-1B0F-4C69-9EFB-E7098BA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12875EF-9FED-4331-9428-57BB9C5F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Regresi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3CCAD5E-5D90-4629-8DC6-3163FE6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Fokus pembelajaran: Multikolinearitas…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9619191-D9B9-416B-BF77-995CB96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73B4C43-E1F3-43E5-AD43-CBE5F7D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Regresi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D6641F6-7CAC-4B2C-91DF-7D2BC8E4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Fokus pembelajaran: Seleksi variabel…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45C15A3-551D-4310-B333-067E152F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D2F7D79-EA26-4752-803D-6F763EE0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742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Regresi Robust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9B93416-39FE-4A0F-BFFC-2C922311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Fokus pembelajaran: Pencilan, heavy-tailed…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3D1EDF8-028F-4A1D-991C-76C20E9D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CA1A717-60D2-4314-88D9-CF23C135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0774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Regresi Bayesian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5A74799-B8E2-4EAD-A2BF-6432A8C7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Fokus pembelajaran: Filosofi Bayesian…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55A8D25-1CAB-4945-BC77-EB10EEED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FF81AFB-A857-423A-B3B7-798E458E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Regresi Nonlinier II: Estimasi, Konvergensi, dan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8C7E457C-BB22-4367-B29F-5C89F23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5FCFCFE-5F8B-486B-8669-2BE1203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Lasso meminimalkan Σ_i=1^n(y_i-x_i^β)^2 + λΣ_j=1^p|β_j|…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97B36D0-1400-44B5-BC76-C486F1B7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dasar adalah grammar analisis: pahami asumsi dan tujuan sebelum menyusun model yang lebih kompleks.</a:t>
            </a:r>
          </a:p>
        </p:txBody>
      </p:sp>
    </p:spTree>
    <p:extLst>
      <p:ext uri="{BB962C8B-B14F-4D97-AF65-F5344CB8AC3E}">
        <p14:creationId xmlns:p14="http://schemas.microsoft.com/office/powerpoint/2010/main" val="1564454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F11EF0-8E94-46E3-99E2-604C6765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6D729B-A0CC-4F80-AA4F-F26E907A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37f9612cf048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3D2A783-01C1-4783-86C7-1ED87C21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E461EDD-C72F-40AA-9731-122F00C6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Estimasi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DAF830D-3942-4BFE-AEB0-F45D409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Formulasi, estimasi, komputasi, diagnostik, dan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FA6D8C6-FD21-4CC6-9CFE-B7C6CFA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8EC0585-75AE-4780-B4F6-97C438ED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84ABCD5-1CC0-4DE7-9A0D-BF9A62F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Regresi Lanjut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DD03C6B-7591-4B16-8CA9-B96FC4AC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51663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436B718-EA5B-425E-A55C-7386F4F4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20824"/>
            <a:ext cx="48920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Lasso meminimalkan Σ_i=1^n(y_i-x_i^β)^2 + λΣ_j=1^p|β_j|, sedangkan Elastic…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BF3A685-581D-4430-BBF1-88923271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DD4BE42-1D2A-4863-8199-51D4A40C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D08A3E5-EB02-4FCF-A04B-0EC81E41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46D3265-5459-4914-82EA-D92F62AB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1EBCD19-6799-46B1-B902-B4C0547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BDE50F8-4A00-4641-9C23-E4FF5450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8AF35A6-BD0E-4CFA-9384-2755B8D9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55E3F6B-20CE-4B27-A524-7DC4A046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2F5BB81-2E48-4D04-A3AC-C841F95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F78ACBF-E71C-4B4C-BAAD-A3D44EB0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B0178F9-ADD5-432A-8728-763231CB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2644E69-6B4C-435D-A757-6B793859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8E1DA85-9D5B-4181-B46E-DAB022FE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7775253-3E0A-4873-BD91-253587C7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4B314B3-7B2D-4612-81BD-D3F89C96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5570A2B-698B-4F35-AE68-F7CA13EB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0D59396-683F-452E-9CA9-92556F79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5AED85F-33AB-4396-B1AA-E07986C1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366663A-9260-49C2-A875-18B4CBD4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55371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Matriks struktur ilustratif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18013C7-9190-46FE-AE2B-D7010CEB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DA09354-A1BD-41BA-974E-A9FB6974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Regresi Penalized I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Fokus…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6CCDE9E5-3640-45B4-8EA3-E4996506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7732FBC-681F-422B-AA27-C1EEEA93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Regresi Penalized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Fokus…</a:t>
            </a:r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90EE8D1-A915-4281-ACD8-E9CDF80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098901A-D231-4589-8CFF-E84CD4A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Regresi Robust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Fokus…</a:t>
            </a:r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D2D0D8B-2DB5-4776-B88F-81835F0F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5A00D8B8-88FF-421C-A0C7-C0A713C8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Regresi Bayesian I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Fokus…</a:t>
            </a:r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A4279141-BC90-46E3-9C41-28AB91D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877056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6D3A6068-8A5C-4E0B-8A42-93311240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59352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Regresi Bayesian II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Fokus…</a:t>
            </a:r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43EB3938-BB41-4FC9-8965-E1E672C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59552"/>
            <a:ext cx="10469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Catatan: model dipilih karena sesuai dengan struktur data dan tujuan analisis, bukan karena tampak paling kompleks.</a:t>
            </a:r>
          </a:p>
        </p:txBody>
      </p:sp>
    </p:spTree>
    <p:extLst>
      <p:ext uri="{BB962C8B-B14F-4D97-AF65-F5344CB8AC3E}">
        <p14:creationId xmlns:p14="http://schemas.microsoft.com/office/powerpoint/2010/main" val="694584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724B30-3C93-4E9D-90C7-1274F6E4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732AB50-10AE-40F9-81C6-600B777E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26f12a95644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2570206-816E-49B7-96E9-1418E9B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7790376-BC46-4532-B68C-728DDC3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Integrasi Model dan Diagnostik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E67439B-3FFE-4EF7-B43C-C7D69531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keputusan dari data, model, diagnostik, revisi, sampai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33CDD49-9C3C-4177-908B-85C1E05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BBC516C-5F4E-4C25-94FC-5D5FA185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FCA5D0B-C16C-46AA-91C9-CF63B63B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Regresi Lanjut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ED03937-3D67-4E2C-AFC3-D3E2D4F2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969764-E52B-449E-B968-9C06CB4A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22B0E42-FEAB-4EC0-9569-7C3EE91E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0B554ED-4498-47AC-89D7-D4CE02F6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1DDADEE-102D-4E6F-9250-D644DC30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D3BD445-DB99-47C5-9224-BC33DEBA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464CAC9-9C4A-44AA-96B6-0CE75D8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A144F18-305A-4DCF-86F1-5586672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05208EE-C737-4488-8371-5B62A8B5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B540AA7-5EB9-49DB-9116-B7C41349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1953158-32B9-4063-B2AC-794C88DE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332EED8-6BB8-494C-88D9-240F8A86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2F3263F-A8F5-4B82-8DA4-9897154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9AD185B-0F27-4DFE-BC3D-9CECAF9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D8F0B44-6023-428A-A940-E275251E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90123E3-6FCB-4E2A-B3B2-4DB7502D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6C89EBE-BAAD-42AB-8D97-7AA91615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A8475DC-3A09-40CB-BC4A-C6CB84A3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8D09D93-E682-484E-9DDD-FBFD08EB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B973104-F20E-4E5B-B5AC-2E99546F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8A39AFA-2988-4545-8ABD-2F423D4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78F1EC64-B8EA-497F-B21B-056800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520CA17-9C28-4693-BB46-6CC34BF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Diagnostik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5DA71E29-FA67-4154-95C9-BE6CC258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BC564CB-F08F-4A5E-9E0C-3458520B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F908229C-37E1-4397-B031-60318030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62B09414-1473-4BF7-AEEC-BD3E2AF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9D8F383-4C83-44E4-81C9-A7628E6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ECB4E1C9-516E-4AA8-A10A-00B3E070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D840328B-0A3A-4449-82E1-10EEA3DB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E6F0301-1EFE-4E51-8445-DA8986D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II</a:t>
            </a:r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D391D3E-7B58-45DD-8732-4FDE63A1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D987536C-5743-4E54-A868-EAA3346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D01A2A07-0AD6-4B06-B878-D012E02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005BE38-CBEC-4548-A570-63DE310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E7466E75-F1E9-4FE7-A5B8-759FAC6A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473324C2-E21C-48D5-B797-599E8A34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8A72E411-72E7-42F9-9CBD-46F1518A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2199BEFF-6789-4874-B37B-AE7C3FC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D90C557F-1AB8-46BB-9959-F3B0EC9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97383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D609B40-C9E4-48FF-9670-D6D64B06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07408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86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Intuisi pemodelan</a:t>
            </a:r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E0117D23-C8E4-4873-B4B7-E2B87EF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6675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1B263B"/>
                </a:solidFill>
                <a:latin typeface="Aptos"/>
                <a:ea typeface="Aptos"/>
                <a:cs typeface="Aptos"/>
              </a:rPr>
              <a:t>Analisis dimulai dari struktur data, dilanjutkan dengan model kandidat, pemeriksaan asumsi, revisi, dan interpretasi substantif.</a:t>
            </a:r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727E93D1-9FDC-40D5-B28C-F4B1C8D6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32120"/>
            <a:ext cx="804672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2AC10A70-F864-4842-8318-E49A9DF2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650992"/>
            <a:ext cx="7772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Dalam sampling berstrata, estimator rata-rata populasi dapat ditulis sebagai…</a:t>
            </a:r>
          </a:p>
        </p:txBody>
      </p:sp>
    </p:spTree>
    <p:extLst>
      <p:ext uri="{BB962C8B-B14F-4D97-AF65-F5344CB8AC3E}">
        <p14:creationId xmlns:p14="http://schemas.microsoft.com/office/powerpoint/2010/main" val="65516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998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8E04DC0-C1BE-45EF-A60F-85E45C6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8ca53375546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47DEBCB-2643-4F0A-96C2-0DAF5817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9–12 | Pemodelan lanjut, komputasi, validasi, dan aplikasi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8D396E8-C049-4489-808F-1896B4A7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Pemodelan &amp; Evaluasi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2A30F76-1E71-49F7-8D0D-A37E6B8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3214309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83CFC8-0557-46DA-B06D-E2AA5AE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54AF12-C672-4ABA-B6D9-5199636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2cf5cca464a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F2BF350-A7B0-48DC-BFE5-54402D79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B333C7F-461E-4CBD-834F-DBFA4A70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Arsitektur Analisis Terintegrasi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2EEB65E-2416-40A0-8DC0-5B004B5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Dari data mentah menuju keluaran yang tervalidasi dan dapat dikomunikasikan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858C6E-12EB-40BF-BE7F-41DEE4BB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84A034-917F-4F83-98D4-6D7712FA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9BBD3B-DD06-4F88-84D0-1C39DBC3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Regresi Lanjut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947FB0E-5648-4824-BEF4-FA68571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88820"/>
            <a:ext cx="9601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D54520F-9DB1-485F-90BD-3123AD48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78608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56D5213-49E0-4509-B5D5-71FA7B97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3251D24-2E5E-42C5-A33D-775F3709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71700"/>
            <a:ext cx="9144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263968F-0657-4DB8-96E7-6ABB9544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578608"/>
            <a:ext cx="822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Pra-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proses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56F77C2-FEE8-484D-A42C-60FB368D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677328C-143F-41D9-BDE5-227A5017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295144"/>
            <a:ext cx="80467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FE7F61-BFB2-4EF2-921D-2A2E8419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578608"/>
            <a:ext cx="713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EE5EDE5-E5A7-4454-9386-32FB5FE9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A11EBEC-DE5B-4B55-9F07-9F294E0E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386584"/>
            <a:ext cx="694944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5A75D0-43FB-4F87-9A86-75409B17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2578608"/>
            <a:ext cx="6035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lanjut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8ACC894-4F4C-48FF-8E5C-2104502D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C806FBF-92BC-4045-9DCE-AFD0663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478024"/>
            <a:ext cx="56692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12700">
            <a:solidFill>
              <a:srgbClr val="F8C5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57310C7-64C3-4017-AB39-CC075F8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578608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CA3CE94-782C-4080-B4A9-6F638203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2A5BAB7-E01E-400A-9BA9-71997EB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560320"/>
            <a:ext cx="93268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F1F0658-F918-44BF-8742-92BD247D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578608"/>
            <a:ext cx="8412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0E0651B-D3EB-4410-AC1A-5BFCE40E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370832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2E8B4F84-991D-43EB-9183-727BB89B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Komponen utama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D7715D6-3387-4620-9BC6-8BC13E32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544568"/>
            <a:ext cx="2194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77593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Representasi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Model kandidat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Interpretasi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6B0E5EA7-8FDB-4B36-956A-5E04354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70832"/>
            <a:ext cx="466344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6EBCA70-9C32-4C4E-BF62-A567EEA3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Risiko analisis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F5FBADA-DAFC-47FF-87D5-F66C7FEB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44568"/>
            <a:ext cx="2148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96991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Data leakage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Bias sampel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keliru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 lemah</a:t>
            </a:r>
          </a:p>
        </p:txBody>
      </p:sp>
    </p:spTree>
    <p:extLst>
      <p:ext uri="{BB962C8B-B14F-4D97-AF65-F5344CB8AC3E}">
        <p14:creationId xmlns:p14="http://schemas.microsoft.com/office/powerpoint/2010/main" val="1935873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B219F9-0A70-48AF-9F49-C0E8B717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4D14E98-DF55-4EEE-9F4A-AD4675A7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0b85a35e84f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A7A2D63-5414-45C5-9A87-E2EB844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BD299-AD89-454B-BF6A-886CF659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Pemodelan Lanjut dan Formulasi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EBC65B-E363-46E9-A520-649A81BD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Regresi Bayesian, Teknik Sampling, Desain Eksperimen, Regresi Lanjutan, Regresi Lanjutan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2F516F8-524F-4568-808C-C38312AD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DFEDD93-7DB4-4E49-BB65-C12C1B3D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3B02C03-0544-48C1-8E16-F62C0334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Regresi Lanjut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A7ACBC6-1D5C-4674-B0D9-7996FB23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7F8C15-DD4B-462A-B5CC-DB06AEAE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4832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Dalam sampling berstrata, estimator rata-rata populasi…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7E19E63-567A-43B7-9FB9-02A1D7E0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70632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1A7F865-D555-4155-8D5E-763A1479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9504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Dalam aplikasi kebijakan, koefisien regresi perlu dibaca…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44EA049-D1A3-4F87-9B4D-C6FFD730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75304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90A92F8-3C7F-420E-80BD-78F0E1C8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4176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AIC dan BIC: AIC=-2(θ)+2k, BIC=-2(θ)+k(n). Keduanya…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A15D32D-1E9D-499F-B4B8-8E7EC204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D6422ED-754C-4114-A3B8-0092E03D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Regresi Bayesian II dan Review UTS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B6F9FC2-3AA1-407E-907D-FB9F0E0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CAC20B6-6FF4-47B9-8E53-AB93426A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Teknik Sampling untuk Analisis Regresi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24A4213-3E71-4C46-9EC6-29BC804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27F58CD-4F96-4CFE-A9A6-ECB4B339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Desain Eksperimen dan Kualitas Data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987FD20-E0DC-4810-9DFD-85E121A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EC254D7-B69F-4453-93A7-695C516E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Aplikasi Regresi Lanjutan pada Data…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7CC19F8-15A1-474E-B23F-B5FA0D0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02736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9AE5965-B3E7-4D44-9B7A-0D39AA0A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685032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Aplikasi Regresi Lanjutan pada Aktuaria…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D8F91FBB-0E68-4370-B179-30A0E84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66360"/>
            <a:ext cx="9966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A8AC469-480C-4352-A712-8675491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376672"/>
            <a:ext cx="9372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Praktikum diarahkan pada eksperimen reproducible: baseline → model lanjut → validasi → interpretasi kesalahan.</a:t>
            </a:r>
          </a:p>
        </p:txBody>
      </p:sp>
    </p:spTree>
    <p:extLst>
      <p:ext uri="{BB962C8B-B14F-4D97-AF65-F5344CB8AC3E}">
        <p14:creationId xmlns:p14="http://schemas.microsoft.com/office/powerpoint/2010/main" val="2723656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86e6715c4f44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Validasi, Diagnostik, dan Evaluasi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Kualitas analisis dinilai dari data, asumsi, stabilitas, interpretasi, dan dampaknya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Regresi Lanjut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kelengkapan &amp; konsistensi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Asumsi model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&amp; dependensi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skema sesuai tujuan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Diagnostik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residual &amp; sensitivitas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Perbandingan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kinerja &amp; kompleksitas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Interpretasi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konteks &amp; keterbatasan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Kinerja = akurasi + stabilitas + interpretabilitas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85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Bukti kuat = validasi + diagnostik + transparansi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Validasi yang baik memastikan hasil tetap masuk akal, dapat dijelaskan, dan dapat dipertanggungjawabkan pada data baru.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E8A0993-4901-4A79-BD9D-F172E028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01DD22F-BDC8-4D7C-8431-9EBEA7D3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1137f9dc442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656B7DE-AA37-478B-A617-791EA8ED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B2E5F4B-8D7B-469B-BF4A-B110955F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Aplikasi Lanjut dan Studi Kasus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CA2B5E4-A045-4344-AC3B-B76AAE5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Menerjemahkan teori, data, metode, dan evaluasi menjadi solusi terapan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A13ED6D-153D-4074-8050-AAA232A2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DA92211-D233-46A4-8CFA-3E0A914C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F346CBF-C4DE-4D7A-931A-A65A6E9E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Regresi Lanjut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E3638E3-8EC8-4B52-A6F4-84E543AE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4206240" cy="2834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1CDB36-4A42-4692-A5DE-F81EE76D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331720"/>
            <a:ext cx="333756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2700">
            <a:solidFill>
              <a:srgbClr val="DDECF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E8CD180-FDC8-4BD2-A043-FD1C57AC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697480"/>
            <a:ext cx="1143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3931987-3DA2-4363-8929-4B03323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250545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Kasus A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data nyata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F893B32-A10D-4209-84BD-5D37A13A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99232"/>
            <a:ext cx="9601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43612FC-71A5-4D46-8936-4991B80A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798064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Kasus B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hasil model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D0D113F-826E-46D8-B90D-0721627E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69260DF-8CB6-497A-958E-333960A4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Teknik Sampling untuk Analisis Regresi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14DDC3C-7443-4100-B06A-C3BBBCED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68474F0-A088-4BFA-8646-13B67944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Desain Eksperimen dan Kualitas Data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2DD6A80-5191-4D05-85BF-BC3E432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430460D-9B59-468A-A2B9-93BF09E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Aplikasi Regresi Lanjutan pada Data…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D53D36E-E609-4065-BB56-E99FF8B4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232815C-8EF7-4319-8FD2-505755B5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Aplikasi Regresi Lanjutan pada…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74E3235-C649-4CC0-8918-B7D5689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15BF345-B831-40EA-861A-3DD93BD8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Evaluasi dan Perbandingan Model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6506593-8087-4056-9BD5-A6E7F8A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2629C1C-24AB-46C5-BF79-A690166C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Penyusunan Laporan Ilmiah…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9B38C01-C1F7-4EC2-903A-02620184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44068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Aplikasi lanjut menuntut definisi masalah yang jelas, data yang layak, metode yang tepat, validasi yang kuat, dan komunikasi yang…</a:t>
            </a:r>
          </a:p>
        </p:txBody>
      </p:sp>
    </p:spTree>
    <p:extLst>
      <p:ext uri="{BB962C8B-B14F-4D97-AF65-F5344CB8AC3E}">
        <p14:creationId xmlns:p14="http://schemas.microsoft.com/office/powerpoint/2010/main" val="7119018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316800-1217-4870-B87E-DB0A883C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293597ef424c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B010563-C701-4760-A308-EB1D6B2A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13–16 | Integrasi, riset, reproducibility, presentasi, dan proyek akhir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D6BFF51-F364-4AF3-8950-A8034167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Riset, Reproducibility &amp; Project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5F92641-CD3F-44E2-A69D-9D20B169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937984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eaba7c296347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Riset, Reproducibility, dan Proposal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Kontribusi ilmiah tumbuh dari masalah, bukti, metode,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Regresi Lanjut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Rumusan masalah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pertanyaan yang jelas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Peta literatur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dan kelemahan studi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Kontribusi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nilai tambah yang dapat diuji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Data &amp; desain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sumber, unit, dan kualitas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 eksternal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uji generalisasi 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hasil bekerja/gagal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kode, seed, dan environment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Etika &amp; governance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privasi, akses, dan dampak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5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Struktur proyek: masalah → data → metode → asumsi → validasi → hasil → keterbatasan → rekomendasi → dampak.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6B9EFED-611A-44E7-A3E3-2A5F2AB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870BBB-C9D7-4DB6-99AC-0146D311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f5bfbee8e245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06CF4F2-4357-497B-A90A-A7244F35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D4DB348-7FF5-4457-9081-4AD13618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Penilaian dan Ide Proyek Akhir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A40EE87-0094-4EA5-B899-96B62570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Bobot penilaian menggabungkan konsep, implementasi, validasi, komunikasi, dan riset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754EFCF-5AE7-4128-9699-393BF9BC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3D9CA6C-2CC3-466B-A2B6-B7F42D53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9E90992-DC11-44DB-AABB-3D10F82A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Regresi Lanjut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1793C0C-1112-44F7-8F9D-DDB50631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3852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709FFDA-0499-4E90-854D-3D58C2DE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02082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Partisipasi, diskusi, kehadiran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A26CE89-D4B3-447B-81A3-101F3BE6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02082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DB9CA46-D6A4-45B6-AD39-04B165D4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ED2EABB-5F6B-4922-B9E6-17CE153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5973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Kuis reflektif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1A5187F-129E-43DB-97EE-F31057E6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45973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7F65E2B-E66D-49F0-B8EE-4906A15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1635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EFBEDD-A609-470B-9FE2-D051FDEC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9864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Tugas konsep dan praktikum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D055EF2-5A1C-4CC5-A4FD-71A01DFE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89864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1A47932-68BE-4714-A077-E286B26C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55264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ECC41BF-F55D-4C43-89E7-8969EFA0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37560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Presentasi hasil analisis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04A271E-2BA0-43BF-AA28-8EB8C37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337560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8E07469-9DD6-41E1-AE0E-AEC5F903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94176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C60E042-F716-4B7F-8B9F-DD837CE7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76472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UTS berbasis kasus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D159A37-0956-455C-8881-6721CB2F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776472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2BE7D48-ADCB-4CE4-AD8B-35C405E2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3308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A0968BA-8AF8-474A-9275-FC2C00B3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1538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Laporan/proyek analisis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46309E4-BB92-4E47-B568-1D199EF0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21538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98270D5C-92CC-4908-8C17-2BAF66F9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DEF6F74-CBB5-45DE-8442-3BE63BAD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65429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Proposal riset dan presentasi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BEC9ACA-EDC2-4E04-AE51-59C12964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65429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5020008F-63B9-4EF6-81BE-D02B2263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1091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BF85BD2-B55A-424E-B0B6-FB6890E3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09320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UAS proyek akhir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95C2AE80-C129-4A8A-8D9A-2D938B3E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09320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C7D28216-92C9-4C57-BED3-31D62A9A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1FC3704-F8AF-4B5A-BD79-0E402AD2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Desain Eksperimen dan Kualitas…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2E648738-0414-404D-AA88-C4933B2E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74DB9B7-AF65-4D18-8398-47CE6BFA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Aplikasi Regresi Lanjutan pada…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DDD4247-EF11-40CC-A301-3C8701B7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661DD391-B789-484D-8331-8060B192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Aplikasi Regresi Lanjutan pada…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E9F5C8AA-FD58-495B-97DB-89A1941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1C626B5C-9759-4298-9CAE-6849625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Evaluasi dan Perbandingan Model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FD33845F-F8D8-427A-A3B4-11503FE5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FD92DE7F-D5AA-4B6D-A34A-2B28C72E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Penyusunan Laporan Ilmiah…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AE5FD935-AAE1-4895-B820-A040201E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093043-65B6-4AB8-A856-A4D8E6F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Presentasi Proyek, Etika…</a:t>
            </a:r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09440E2F-DEAC-49B4-B441-9F302FF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9788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>
                <a:solidFill>
                  <a:srgbClr val="53657D"/>
                </a:solidFill>
                <a:latin typeface="Aptos"/>
                <a:ea typeface="Aptos"/>
                <a:cs typeface="Aptos"/>
              </a:rPr>
              <a:t>Rubrik proyek: relevansi 20%, metodologi 25%, evaluasi 20%, interpretasi 15%, reproducibility 10%, komunikasi 10%.</a:t>
            </a:r>
          </a:p>
        </p:txBody>
      </p:sp>
    </p:spTree>
    <p:extLst>
      <p:ext uri="{BB962C8B-B14F-4D97-AF65-F5344CB8AC3E}">
        <p14:creationId xmlns:p14="http://schemas.microsoft.com/office/powerpoint/2010/main" val="12190758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ce224ed7943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Matriks Pemilihan Metode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Menautkan karakteristik masalah dengan pendekatan dan strategi evaluasi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Regresi Lanjut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Fondasi masalah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Orientasi Analisis…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Regresi Linear sebagai…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Metode inti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Regresi Penalized I…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Evaluasi tengah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Regresi Bayesian I: Prior…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Pemodelan lanjut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Teknik Sampling untuk…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Integrasi &amp; proyek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Penyusunan Laporan Ilmiah…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870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Pilihan metode = tujuan + struktur data + asumsi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229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 model = validasi + interpretasi + dampak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terbaik adalah metode yang menjawab masalah secara sahih, transparan, stabil, dan proporsional.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53b2e73cf24b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Pertanyaan Diskusi Kelas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Menguji penalaran mahasiswa terhadap asumsi, data, model,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Regresi Lanjut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Q1 · Apa kondisi…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kondisi data yang membuat…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Q2 · Bagaimana cara…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cara menjelaskan…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Q3 · Apa risiko…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risiko interpretasi yang…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Q4 · Bagaimana…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bentuk validasi atau…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Q5 · Bagaimana…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menyampaikan…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Q6 · Apa risiko bias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risiko bias dan kegagalan…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Q7 · Asumsi apa yang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paling…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Q8 · Bagaimana…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membandingkan dua…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2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Diskusi kuat = asumsi eksplisit → bukti relevan → perbandingan adil → keterbatasan jujur → rekomendasi proporsional.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2448b29d24f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FC45BF7-19EF-4C6A-B5F8-5CE4FF20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6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90578D3-3870-442C-9FE1-5C0301CD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E676937-F275-4418-A394-523D8069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27671b69645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658368"/>
            <a:ext cx="694944" cy="694944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8DBB001-47A9-4DA0-95C1-E4ABA958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5039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Analisis Regresi Lanjut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BC4EEE9-D41F-4061-879D-9838FB37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57400"/>
            <a:ext cx="6766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mempercepat proses,</a:t>
            </a:r>
          </a:p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penalaran tetap memimpin</a:t>
            </a:r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2FB0791-7395-4489-9311-6079AA3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47872"/>
            <a:ext cx="3044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6FFFF1D-C58B-464C-9FCC-36923274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069080"/>
            <a:ext cx="6492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362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E8F1F2"/>
                </a:solidFill>
                <a:latin typeface="Aptos"/>
                <a:ea typeface="Aptos"/>
                <a:cs typeface="Aptos"/>
              </a:rPr>
              <a:t>Analisis Regresi Tingkat Lanjut memadukan teori, data, komputasi, validasi, dan komunikasi. AI mempercepat eksplorasi dan pemeriksaan awal; mahasiswa tetap memverifikasi asumsi, kode, hasil numerik, ketidakpastian, sumber, dan dampak sebelum mengambil keputusan.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DB6A87-009C-4BA2-92BC-3430825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041011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2026-07-26T23:34:13.3660000Z</dcterms:created>
  <dcterms:modified xsi:type="dcterms:W3CDTF">2026-07-26T23:34:13.3660000Z</dcterms:modified>
</coreProperties>
</file>