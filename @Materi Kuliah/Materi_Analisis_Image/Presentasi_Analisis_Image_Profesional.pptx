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ptos"/>
              </a:rPr>
              <a:t>Ilustrasi Histogram Intensitas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Sebelum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32</c:v>
                </c:pt>
                <c:pt idx="2">
                  <c:v>64</c:v>
                </c:pt>
                <c:pt idx="3">
                  <c:v>96</c:v>
                </c:pt>
                <c:pt idx="4">
                  <c:v>128</c:v>
                </c:pt>
                <c:pt idx="5">
                  <c:v>160</c:v>
                </c:pt>
                <c:pt idx="6">
                  <c:v>192</c:v>
                </c:pt>
                <c:pt idx="7">
                  <c:v>224</c:v>
                </c:pt>
                <c:pt idx="8">
                  <c:v>255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6</c:v>
                </c:pt>
                <c:pt idx="2">
                  <c:v>11</c:v>
                </c:pt>
                <c:pt idx="3">
                  <c:v>20</c:v>
                </c:pt>
                <c:pt idx="4">
                  <c:v>27</c:v>
                </c:pt>
                <c:pt idx="5">
                  <c:v>18</c:v>
                </c:pt>
                <c:pt idx="6">
                  <c:v>8</c:v>
                </c:pt>
                <c:pt idx="7">
                  <c:v>4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9C-1B4E-94A0-9AB901B2E07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Sesudah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32</c:v>
                </c:pt>
                <c:pt idx="2">
                  <c:v>64</c:v>
                </c:pt>
                <c:pt idx="3">
                  <c:v>96</c:v>
                </c:pt>
                <c:pt idx="4">
                  <c:v>128</c:v>
                </c:pt>
                <c:pt idx="5">
                  <c:v>160</c:v>
                </c:pt>
                <c:pt idx="6">
                  <c:v>192</c:v>
                </c:pt>
                <c:pt idx="7">
                  <c:v>224</c:v>
                </c:pt>
                <c:pt idx="8">
                  <c:v>255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</c:v>
                </c:pt>
                <c:pt idx="1">
                  <c:v>9</c:v>
                </c:pt>
                <c:pt idx="2">
                  <c:v>15</c:v>
                </c:pt>
                <c:pt idx="3">
                  <c:v>17</c:v>
                </c:pt>
                <c:pt idx="4">
                  <c:v>15</c:v>
                </c:pt>
                <c:pt idx="5">
                  <c:v>13</c:v>
                </c:pt>
                <c:pt idx="6">
                  <c:v>11</c:v>
                </c:pt>
                <c:pt idx="7">
                  <c:v>9</c:v>
                </c:pt>
                <c:pt idx="8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9C-1B4E-94A0-9AB901B2E0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ptos"/>
              </a:rPr>
              <a:t>Contoh Evaluasi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Metrik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Akurasi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AUC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0.88</c:v>
                </c:pt>
                <c:pt idx="1">
                  <c:v>0.82</c:v>
                </c:pt>
                <c:pt idx="2">
                  <c:v>0.79</c:v>
                </c:pt>
                <c:pt idx="3">
                  <c:v>0.80500000000000005</c:v>
                </c:pt>
                <c:pt idx="4">
                  <c:v>0.91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6F-7E42-BB6A-360C535081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130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mage_analysis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/mnt/data/unpad_logo_adwt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676656"/>
            <a:ext cx="713232" cy="7132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81328" y="850392"/>
            <a:ext cx="5623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EC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58368" y="1874520"/>
            <a:ext cx="630936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Analisis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704088" y="3364992"/>
            <a:ext cx="64922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D6E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pembelajaran profesional berbasis materi R Markdown HTML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04088" y="3840480"/>
            <a:ext cx="3136392" cy="0"/>
          </a:xfrm>
          <a:prstGeom prst="line">
            <a:avLst/>
          </a:prstGeom>
          <a:noFill/>
          <a:ln w="63500">
            <a:solidFill>
              <a:srgbClr val="F5822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713232" y="4645152"/>
            <a:ext cx="75895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F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Penulis materi: Dr. Anindya Apriliyanti Pravitasari, M.Si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EF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Program: S2 Statistika Terapan FMIPA UNPAD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EF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Januari 2025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412480" y="4709160"/>
            <a:ext cx="1325880" cy="292608"/>
          </a:xfrm>
          <a:prstGeom prst="roundRect">
            <a:avLst/>
          </a:prstGeom>
          <a:solidFill>
            <a:srgbClr val="2364AA"/>
          </a:solidFill>
          <a:ln w="6350">
            <a:solidFill>
              <a:srgbClr val="236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467344" y="478231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Analysis</a:t>
            </a:r>
            <a:endParaRPr lang="en-US" sz="820" dirty="0"/>
          </a:p>
        </p:txBody>
      </p:sp>
      <p:sp>
        <p:nvSpPr>
          <p:cNvPr id="14" name="Shape 10"/>
          <p:cNvSpPr/>
          <p:nvPr/>
        </p:nvSpPr>
        <p:spPr>
          <a:xfrm>
            <a:off x="9930384" y="4709160"/>
            <a:ext cx="1325880" cy="292608"/>
          </a:xfrm>
          <a:prstGeom prst="roundRect">
            <a:avLst/>
          </a:prstGeom>
          <a:solidFill>
            <a:srgbClr val="1B998B"/>
          </a:solidFill>
          <a:ln w="635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9985248" y="478231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Vision</a:t>
            </a:r>
            <a:endParaRPr lang="en-US" sz="820" dirty="0"/>
          </a:p>
        </p:txBody>
      </p:sp>
      <p:sp>
        <p:nvSpPr>
          <p:cNvPr id="16" name="Text 12"/>
          <p:cNvSpPr/>
          <p:nvPr/>
        </p:nvSpPr>
        <p:spPr>
          <a:xfrm>
            <a:off x="11064240" y="6355080"/>
            <a:ext cx="5486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D6E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Mengapa Analisis Image Penting?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Citra digital sebagai data kompleks: spasial, tekstural, morfologis, dan semantik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Analisis Image | Januari 2025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621792" y="1938528"/>
            <a:ext cx="55321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Analisis citra digital menjembatani statistika, komputasi, kecerdasan buatan, dan pengambilan keputusan di dunia nyata.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58368" y="2944368"/>
            <a:ext cx="539496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Citra medis, satelit, mikroskopis, industri, sosial media, dan video dapat dipandang sebagai data kuantitatif.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Mahasiswa belajar membaca pola visual sekaligus mengukur karakteristiknya secara numerik.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Fokus pembelajaran bergerak dari representasi citra menuju model deep learning dan rancangan riset.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Setiap hasil visual harus dihubungkan dengan ukuran evaluasi dan konteks masalah.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37960" y="1993392"/>
            <a:ext cx="4343400" cy="297180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839712" y="2267712"/>
            <a:ext cx="3291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Aplikasi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812280" y="2788920"/>
            <a:ext cx="1572768" cy="292608"/>
          </a:xfrm>
          <a:prstGeom prst="roundRect">
            <a:avLst/>
          </a:prstGeom>
          <a:solidFill>
            <a:srgbClr val="C8452D"/>
          </a:solidFill>
          <a:ln w="6350">
            <a:solidFill>
              <a:srgbClr val="C845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67144" y="286207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Biostatistik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8686800" y="2788920"/>
            <a:ext cx="1572768" cy="292608"/>
          </a:xfrm>
          <a:prstGeom prst="roundRect">
            <a:avLst/>
          </a:prstGeom>
          <a:solidFill>
            <a:srgbClr val="006B3F"/>
          </a:solidFill>
          <a:ln w="635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741664" y="286207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Satelit &amp; Drone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812280" y="3410712"/>
            <a:ext cx="1572768" cy="292608"/>
          </a:xfrm>
          <a:prstGeom prst="roundRect">
            <a:avLst/>
          </a:prstGeom>
          <a:solidFill>
            <a:srgbClr val="F58220"/>
          </a:solidFill>
          <a:ln w="635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867144" y="348386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Industri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686800" y="3410712"/>
            <a:ext cx="1572768" cy="292608"/>
          </a:xfrm>
          <a:prstGeom prst="roundRect">
            <a:avLst/>
          </a:prstGeom>
          <a:solidFill>
            <a:srgbClr val="2364AA"/>
          </a:solidFill>
          <a:ln w="6350">
            <a:solidFill>
              <a:srgbClr val="236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41664" y="348386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Aktuaria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12280" y="4032504"/>
            <a:ext cx="1572768" cy="292608"/>
          </a:xfrm>
          <a:prstGeom prst="roundRect">
            <a:avLst/>
          </a:prstGeom>
          <a:solidFill>
            <a:srgbClr val="5B5FC7"/>
          </a:solidFill>
          <a:ln w="6350">
            <a:solidFill>
              <a:srgbClr val="5B5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867144" y="41056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Sosial-Komputasional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8686800" y="4032504"/>
            <a:ext cx="1572768" cy="292608"/>
          </a:xfrm>
          <a:prstGeom prst="roundRect">
            <a:avLst/>
          </a:prstGeom>
          <a:solidFill>
            <a:srgbClr val="1B998B"/>
          </a:solidFill>
          <a:ln w="635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741664" y="41056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Lingkungan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Capaian Pembelajaran Mata Kuliah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Empat capaian inti: data citra, pengolahan, model, dan riset inovatif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Analisis Image | Januari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658368" y="1984248"/>
            <a:ext cx="4983480" cy="1115568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59536" y="2240280"/>
            <a:ext cx="594360" cy="594360"/>
          </a:xfrm>
          <a:prstGeom prst="ellipse">
            <a:avLst/>
          </a:prstGeom>
          <a:solidFill>
            <a:srgbClr val="2364AA"/>
          </a:solidFill>
          <a:ln w="12700">
            <a:solidFill>
              <a:srgbClr val="236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05256" y="243230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CPMK1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618488" y="2240280"/>
            <a:ext cx="370332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Menganalisis dan mengelola data citra digital dari domain aplikasi nyata secara interdisipliner.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190488" y="1984248"/>
            <a:ext cx="4983480" cy="1115568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391656" y="2240280"/>
            <a:ext cx="594360" cy="5943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37376" y="243230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CPMK2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150608" y="2240280"/>
            <a:ext cx="370332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Mengembangkan solusi filtering, konvolusi, dan operasi morfologi citra untuk data kompleks.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58368" y="3566160"/>
            <a:ext cx="4983480" cy="1115568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59536" y="3822192"/>
            <a:ext cx="594360" cy="59436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05256" y="40142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CPMK3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618488" y="3822192"/>
            <a:ext cx="370332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Merancang algoritma klasifikasi dan segmentasi citra berbasis software statistika dan deep learning.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190488" y="3566160"/>
            <a:ext cx="4983480" cy="1115568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391656" y="3822192"/>
            <a:ext cx="594360" cy="594360"/>
          </a:xfrm>
          <a:prstGeom prst="ellipse">
            <a:avLst/>
          </a:prstGeom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437376" y="40142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CPMK4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50608" y="3822192"/>
            <a:ext cx="370332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Memformulasikan dan mengkomunikasikan solusi inovatif melalui riset berdampak nasional/internasional.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04672" y="5349240"/>
            <a:ext cx="105156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Kunci: mahasiswa bergerak dari “melihat gambar” menjadi “membuat keputusan berbasis bukti visual dan statistik”.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Peta Sub-CPMK dan Pertemuan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16 pertemuan disusun spiral: konsep → praktik → evaluasi → riset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Analisis Image | Januari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530352" y="1938528"/>
            <a:ext cx="1417320" cy="502920"/>
          </a:xfrm>
          <a:prstGeom prst="rect">
            <a:avLst/>
          </a:prstGeom>
          <a:solidFill>
            <a:srgbClr val="12355B"/>
          </a:solidFill>
          <a:ln w="635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3504" y="2093976"/>
            <a:ext cx="1271016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Sub-CPMK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947672" y="1938528"/>
            <a:ext cx="960120" cy="502920"/>
          </a:xfrm>
          <a:prstGeom prst="rect">
            <a:avLst/>
          </a:prstGeom>
          <a:solidFill>
            <a:srgbClr val="12355B"/>
          </a:solidFill>
          <a:ln w="635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020824" y="2093976"/>
            <a:ext cx="813816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907792" y="1938528"/>
            <a:ext cx="3154680" cy="502920"/>
          </a:xfrm>
          <a:prstGeom prst="rect">
            <a:avLst/>
          </a:prstGeom>
          <a:solidFill>
            <a:srgbClr val="12355B"/>
          </a:solidFill>
          <a:ln w="635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980944" y="2093976"/>
            <a:ext cx="3008376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Kemampuan Akhir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062472" y="1938528"/>
            <a:ext cx="5413248" cy="502920"/>
          </a:xfrm>
          <a:prstGeom prst="rect">
            <a:avLst/>
          </a:prstGeom>
          <a:solidFill>
            <a:srgbClr val="12355B"/>
          </a:solidFill>
          <a:ln w="635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135624" y="2093976"/>
            <a:ext cx="5266944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Fokus Pembelajaran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30352" y="2441448"/>
            <a:ext cx="1417320" cy="786384"/>
          </a:xfrm>
          <a:prstGeom prst="rect">
            <a:avLst/>
          </a:prstGeom>
          <a:solidFill>
            <a:srgbClr val="FFFFFF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03504" y="2560320"/>
            <a:ext cx="1271016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SubCPMK1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947672" y="2441448"/>
            <a:ext cx="960120" cy="786384"/>
          </a:xfrm>
          <a:prstGeom prst="rect">
            <a:avLst/>
          </a:prstGeom>
          <a:solidFill>
            <a:srgbClr val="FFFFFF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020824" y="2560320"/>
            <a:ext cx="813816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1–3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907792" y="2441448"/>
            <a:ext cx="3154680" cy="786384"/>
          </a:xfrm>
          <a:prstGeom prst="rect">
            <a:avLst/>
          </a:prstGeom>
          <a:solidFill>
            <a:srgbClr val="FFFFFF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980944" y="2560320"/>
            <a:ext cx="3008376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Representasi citra digital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062472" y="2441448"/>
            <a:ext cx="5413248" cy="786384"/>
          </a:xfrm>
          <a:prstGeom prst="rect">
            <a:avLst/>
          </a:prstGeom>
          <a:solidFill>
            <a:srgbClr val="FFFFFF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135624" y="2560320"/>
            <a:ext cx="5266944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Konsep dasar, karakteristik, EDA, studi kasus</a:t>
            </a:r>
            <a:endParaRPr lang="en-US" sz="990" dirty="0"/>
          </a:p>
        </p:txBody>
      </p:sp>
      <p:sp>
        <p:nvSpPr>
          <p:cNvPr id="27" name="Shape 24"/>
          <p:cNvSpPr/>
          <p:nvPr/>
        </p:nvSpPr>
        <p:spPr>
          <a:xfrm>
            <a:off x="530352" y="3227832"/>
            <a:ext cx="1417320" cy="786384"/>
          </a:xfrm>
          <a:prstGeom prst="rect">
            <a:avLst/>
          </a:prstGeom>
          <a:solidFill>
            <a:srgbClr val="EEF5F6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03504" y="3346704"/>
            <a:ext cx="1271016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SubCPMK2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1947672" y="3227832"/>
            <a:ext cx="960120" cy="786384"/>
          </a:xfrm>
          <a:prstGeom prst="rect">
            <a:avLst/>
          </a:prstGeom>
          <a:solidFill>
            <a:srgbClr val="EEF5F6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020824" y="3346704"/>
            <a:ext cx="813816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4–8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2907792" y="3227832"/>
            <a:ext cx="3154680" cy="786384"/>
          </a:xfrm>
          <a:prstGeom prst="rect">
            <a:avLst/>
          </a:prstGeom>
          <a:solidFill>
            <a:srgbClr val="EEF5F6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2980944" y="3346704"/>
            <a:ext cx="3008376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Filtering, konvolusi, morfologi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062472" y="3227832"/>
            <a:ext cx="5413248" cy="786384"/>
          </a:xfrm>
          <a:prstGeom prst="rect">
            <a:avLst/>
          </a:prstGeom>
          <a:solidFill>
            <a:srgbClr val="EEF5F6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135624" y="3346704"/>
            <a:ext cx="5266944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Operasi dasar, histogram, kernel, morfologi, UTS</a:t>
            </a:r>
            <a:endParaRPr lang="en-US" sz="990" dirty="0"/>
          </a:p>
        </p:txBody>
      </p:sp>
      <p:sp>
        <p:nvSpPr>
          <p:cNvPr id="35" name="Shape 32"/>
          <p:cNvSpPr/>
          <p:nvPr/>
        </p:nvSpPr>
        <p:spPr>
          <a:xfrm>
            <a:off x="530352" y="4014216"/>
            <a:ext cx="1417320" cy="786384"/>
          </a:xfrm>
          <a:prstGeom prst="rect">
            <a:avLst/>
          </a:prstGeom>
          <a:solidFill>
            <a:srgbClr val="FFFFFF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03504" y="4133088"/>
            <a:ext cx="1271016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SubCPMK3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1947672" y="4014216"/>
            <a:ext cx="960120" cy="786384"/>
          </a:xfrm>
          <a:prstGeom prst="rect">
            <a:avLst/>
          </a:prstGeom>
          <a:solidFill>
            <a:srgbClr val="FFFFFF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2020824" y="4133088"/>
            <a:ext cx="813816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9–12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2907792" y="4014216"/>
            <a:ext cx="3154680" cy="786384"/>
          </a:xfrm>
          <a:prstGeom prst="rect">
            <a:avLst/>
          </a:prstGeom>
          <a:solidFill>
            <a:srgbClr val="FFFFFF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2980944" y="4133088"/>
            <a:ext cx="3008376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Klasifikasi dan segmentasi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6062472" y="4014216"/>
            <a:ext cx="5413248" cy="786384"/>
          </a:xfrm>
          <a:prstGeom prst="rect">
            <a:avLst/>
          </a:prstGeom>
          <a:solidFill>
            <a:srgbClr val="FFFFFF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6135624" y="4133088"/>
            <a:ext cx="5266944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CNN, arsitektur, evaluasi, interpretasi</a:t>
            </a:r>
            <a:endParaRPr lang="en-US" sz="990" dirty="0"/>
          </a:p>
        </p:txBody>
      </p:sp>
      <p:sp>
        <p:nvSpPr>
          <p:cNvPr id="43" name="Shape 40"/>
          <p:cNvSpPr/>
          <p:nvPr/>
        </p:nvSpPr>
        <p:spPr>
          <a:xfrm>
            <a:off x="530352" y="4800600"/>
            <a:ext cx="1417320" cy="786384"/>
          </a:xfrm>
          <a:prstGeom prst="rect">
            <a:avLst/>
          </a:prstGeom>
          <a:solidFill>
            <a:srgbClr val="EEF5F6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603504" y="4919472"/>
            <a:ext cx="1271016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SubCPMK4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1947672" y="4800600"/>
            <a:ext cx="960120" cy="786384"/>
          </a:xfrm>
          <a:prstGeom prst="rect">
            <a:avLst/>
          </a:prstGeom>
          <a:solidFill>
            <a:srgbClr val="EEF5F6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2020824" y="4919472"/>
            <a:ext cx="813816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13–16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2907792" y="4800600"/>
            <a:ext cx="3154680" cy="786384"/>
          </a:xfrm>
          <a:prstGeom prst="rect">
            <a:avLst/>
          </a:prstGeom>
          <a:solidFill>
            <a:srgbClr val="EEF5F6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2980944" y="4919472"/>
            <a:ext cx="3008376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riset inovatif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6062472" y="4800600"/>
            <a:ext cx="5413248" cy="786384"/>
          </a:xfrm>
          <a:prstGeom prst="rect">
            <a:avLst/>
          </a:prstGeom>
          <a:solidFill>
            <a:srgbClr val="EEF5F6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6135624" y="4919472"/>
            <a:ext cx="5266944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riset, object detection, peer review, UAS</a:t>
            </a:r>
            <a:endParaRPr lang="en-US" sz="9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Analisis Citra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kerja: dari data visual mentah menuju insight, model, dan keputusan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Analisis Image | Januari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1691640" y="2971800"/>
            <a:ext cx="484632" cy="0"/>
          </a:xfrm>
          <a:prstGeom prst="line">
            <a:avLst/>
          </a:prstGeom>
          <a:noFill/>
          <a:ln w="17780">
            <a:solidFill>
              <a:srgbClr val="5365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74720" y="2971800"/>
            <a:ext cx="484632" cy="0"/>
          </a:xfrm>
          <a:prstGeom prst="line">
            <a:avLst/>
          </a:prstGeom>
          <a:noFill/>
          <a:ln w="17780">
            <a:solidFill>
              <a:srgbClr val="5365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257800" y="2971800"/>
            <a:ext cx="484632" cy="0"/>
          </a:xfrm>
          <a:prstGeom prst="line">
            <a:avLst/>
          </a:prstGeom>
          <a:noFill/>
          <a:ln w="17780">
            <a:solidFill>
              <a:srgbClr val="5365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040880" y="2971800"/>
            <a:ext cx="484632" cy="0"/>
          </a:xfrm>
          <a:prstGeom prst="line">
            <a:avLst/>
          </a:prstGeom>
          <a:noFill/>
          <a:ln w="17780">
            <a:solidFill>
              <a:srgbClr val="5365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823960" y="2971800"/>
            <a:ext cx="484632" cy="0"/>
          </a:xfrm>
          <a:prstGeom prst="line">
            <a:avLst/>
          </a:prstGeom>
          <a:noFill/>
          <a:ln w="17780">
            <a:solidFill>
              <a:srgbClr val="5365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58368" y="2450592"/>
            <a:ext cx="1143000" cy="105156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31520" y="2532888"/>
            <a:ext cx="996696" cy="8869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citra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2441448" y="2450592"/>
            <a:ext cx="1143000" cy="105156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514600" y="2532888"/>
            <a:ext cx="996696" cy="8869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Pra-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proses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224528" y="2450592"/>
            <a:ext cx="1143000" cy="105156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297680" y="2532888"/>
            <a:ext cx="996696" cy="8869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Ekstraksi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fitur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007608" y="2450592"/>
            <a:ext cx="1143000" cy="105156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080760" y="2532888"/>
            <a:ext cx="996696" cy="8869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6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06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stat/AI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790688" y="2450592"/>
            <a:ext cx="1143000" cy="105156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863840" y="2532888"/>
            <a:ext cx="996696" cy="8869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84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Evaluasi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C84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metrik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9573768" y="2450592"/>
            <a:ext cx="1143000" cy="105156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646920" y="2532888"/>
            <a:ext cx="996696" cy="8869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Keputusan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riset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914400" y="4343400"/>
            <a:ext cx="10241280" cy="868680"/>
          </a:xfrm>
          <a:prstGeom prst="roundRect">
            <a:avLst/>
          </a:prstGeom>
          <a:solidFill>
            <a:srgbClr val="0B1F36"/>
          </a:solidFill>
          <a:ln w="12700">
            <a:solidFill>
              <a:srgbClr val="0B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234440" y="4645152"/>
            <a:ext cx="96012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Prinsip kelas: lihat citra → ukur pola → uji asumsi → validasi model → jelaskan kegagalan dan keberhasilan.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1051560" y="5532120"/>
            <a:ext cx="10058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Dalam analisis image, intuisi visual penting; tetapi intuisi tanpa metrik itu seperti GPS tanpa sinyal: yakin, tapi bisa nyasar.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5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621792"/>
            <a:ext cx="6766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F1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1–6 | Representasi, histogram, filtering, konvolusi, dan morfologi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2267712"/>
            <a:ext cx="896112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Bagian I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Fondasi Citra Digital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658368" y="3703320"/>
            <a:ext cx="3182112" cy="0"/>
          </a:xfrm>
          <a:prstGeom prst="line">
            <a:avLst/>
          </a:prstGeom>
          <a:noFill/>
          <a:ln w="63500">
            <a:solidFill>
              <a:srgbClr val="F5822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Representasi Citra Digital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Citra sebagai matriks intensitas: pixel, channel, resolusi, dan kedalaman warna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Analisis Image | Januari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676656" y="1901952"/>
            <a:ext cx="276148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96112" y="2139696"/>
            <a:ext cx="310896" cy="310896"/>
          </a:xfrm>
          <a:prstGeom prst="rect">
            <a:avLst/>
          </a:prstGeom>
          <a:solidFill>
            <a:srgbClr val="2364AA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96112" y="2487168"/>
            <a:ext cx="310896" cy="310896"/>
          </a:xfrm>
          <a:prstGeom prst="rect">
            <a:avLst/>
          </a:prstGeom>
          <a:solidFill>
            <a:srgbClr val="F58220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96112" y="2834640"/>
            <a:ext cx="310896" cy="310896"/>
          </a:xfrm>
          <a:prstGeom prst="rect">
            <a:avLst/>
          </a:prstGeom>
          <a:solidFill>
            <a:srgbClr val="EEF5F6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96112" y="3182112"/>
            <a:ext cx="310896" cy="310896"/>
          </a:xfrm>
          <a:prstGeom prst="rect">
            <a:avLst/>
          </a:prstGeom>
          <a:solidFill>
            <a:srgbClr val="2364AA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96112" y="3529584"/>
            <a:ext cx="310896" cy="310896"/>
          </a:xfrm>
          <a:prstGeom prst="rect">
            <a:avLst/>
          </a:prstGeom>
          <a:solidFill>
            <a:srgbClr val="F58220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243584" y="2139696"/>
            <a:ext cx="310896" cy="310896"/>
          </a:xfrm>
          <a:prstGeom prst="rect">
            <a:avLst/>
          </a:prstGeom>
          <a:solidFill>
            <a:srgbClr val="1B998B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243584" y="2487168"/>
            <a:ext cx="310896" cy="310896"/>
          </a:xfrm>
          <a:prstGeom prst="rect">
            <a:avLst/>
          </a:prstGeom>
          <a:solidFill>
            <a:srgbClr val="F8C537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243584" y="2834640"/>
            <a:ext cx="310896" cy="310896"/>
          </a:xfrm>
          <a:prstGeom prst="rect">
            <a:avLst/>
          </a:prstGeom>
          <a:solidFill>
            <a:srgbClr val="006B3F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243584" y="3182112"/>
            <a:ext cx="310896" cy="310896"/>
          </a:xfrm>
          <a:prstGeom prst="rect">
            <a:avLst/>
          </a:prstGeom>
          <a:solidFill>
            <a:srgbClr val="1B998B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243584" y="3529584"/>
            <a:ext cx="310896" cy="310896"/>
          </a:xfrm>
          <a:prstGeom prst="rect">
            <a:avLst/>
          </a:prstGeom>
          <a:solidFill>
            <a:srgbClr val="F8C537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591056" y="2139696"/>
            <a:ext cx="310896" cy="310896"/>
          </a:xfrm>
          <a:prstGeom prst="rect">
            <a:avLst/>
          </a:prstGeom>
          <a:solidFill>
            <a:srgbClr val="F58220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1591056" y="2487168"/>
            <a:ext cx="310896" cy="310896"/>
          </a:xfrm>
          <a:prstGeom prst="rect">
            <a:avLst/>
          </a:prstGeom>
          <a:solidFill>
            <a:srgbClr val="EEF5F6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1591056" y="2834640"/>
            <a:ext cx="310896" cy="310896"/>
          </a:xfrm>
          <a:prstGeom prst="rect">
            <a:avLst/>
          </a:prstGeom>
          <a:solidFill>
            <a:srgbClr val="2364AA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591056" y="3182112"/>
            <a:ext cx="310896" cy="310896"/>
          </a:xfrm>
          <a:prstGeom prst="rect">
            <a:avLst/>
          </a:prstGeom>
          <a:solidFill>
            <a:srgbClr val="F58220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1591056" y="3529584"/>
            <a:ext cx="310896" cy="310896"/>
          </a:xfrm>
          <a:prstGeom prst="rect">
            <a:avLst/>
          </a:prstGeom>
          <a:solidFill>
            <a:srgbClr val="EEF5F6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1938528" y="2139696"/>
            <a:ext cx="310896" cy="310896"/>
          </a:xfrm>
          <a:prstGeom prst="rect">
            <a:avLst/>
          </a:prstGeom>
          <a:solidFill>
            <a:srgbClr val="F8C537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1938528" y="2487168"/>
            <a:ext cx="310896" cy="310896"/>
          </a:xfrm>
          <a:prstGeom prst="rect">
            <a:avLst/>
          </a:prstGeom>
          <a:solidFill>
            <a:srgbClr val="006B3F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938528" y="2834640"/>
            <a:ext cx="310896" cy="310896"/>
          </a:xfrm>
          <a:prstGeom prst="rect">
            <a:avLst/>
          </a:prstGeom>
          <a:solidFill>
            <a:srgbClr val="1B998B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938528" y="3182112"/>
            <a:ext cx="310896" cy="310896"/>
          </a:xfrm>
          <a:prstGeom prst="rect">
            <a:avLst/>
          </a:prstGeom>
          <a:solidFill>
            <a:srgbClr val="F8C537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938528" y="3529584"/>
            <a:ext cx="310896" cy="310896"/>
          </a:xfrm>
          <a:prstGeom prst="rect">
            <a:avLst/>
          </a:prstGeom>
          <a:solidFill>
            <a:srgbClr val="006B3F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2286000" y="2139696"/>
            <a:ext cx="310896" cy="310896"/>
          </a:xfrm>
          <a:prstGeom prst="rect">
            <a:avLst/>
          </a:prstGeom>
          <a:solidFill>
            <a:srgbClr val="EEF5F6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2286000" y="2487168"/>
            <a:ext cx="310896" cy="310896"/>
          </a:xfrm>
          <a:prstGeom prst="rect">
            <a:avLst/>
          </a:prstGeom>
          <a:solidFill>
            <a:srgbClr val="2364AA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2286000" y="2834640"/>
            <a:ext cx="310896" cy="310896"/>
          </a:xfrm>
          <a:prstGeom prst="rect">
            <a:avLst/>
          </a:prstGeom>
          <a:solidFill>
            <a:srgbClr val="F58220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2286000" y="3182112"/>
            <a:ext cx="310896" cy="310896"/>
          </a:xfrm>
          <a:prstGeom prst="rect">
            <a:avLst/>
          </a:prstGeom>
          <a:solidFill>
            <a:srgbClr val="EEF5F6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2286000" y="3529584"/>
            <a:ext cx="310896" cy="310896"/>
          </a:xfrm>
          <a:prstGeom prst="rect">
            <a:avLst/>
          </a:prstGeom>
          <a:solidFill>
            <a:srgbClr val="2364AA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2633472" y="2139696"/>
            <a:ext cx="310896" cy="310896"/>
          </a:xfrm>
          <a:prstGeom prst="rect">
            <a:avLst/>
          </a:prstGeom>
          <a:solidFill>
            <a:srgbClr val="006B3F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2633472" y="2487168"/>
            <a:ext cx="310896" cy="310896"/>
          </a:xfrm>
          <a:prstGeom prst="rect">
            <a:avLst/>
          </a:prstGeom>
          <a:solidFill>
            <a:srgbClr val="1B998B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2633472" y="2834640"/>
            <a:ext cx="310896" cy="310896"/>
          </a:xfrm>
          <a:prstGeom prst="rect">
            <a:avLst/>
          </a:prstGeom>
          <a:solidFill>
            <a:srgbClr val="F8C537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2633472" y="3182112"/>
            <a:ext cx="310896" cy="310896"/>
          </a:xfrm>
          <a:prstGeom prst="rect">
            <a:avLst/>
          </a:prstGeom>
          <a:solidFill>
            <a:srgbClr val="006B3F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2633472" y="3529584"/>
            <a:ext cx="310896" cy="310896"/>
          </a:xfrm>
          <a:prstGeom prst="rect">
            <a:avLst/>
          </a:prstGeom>
          <a:solidFill>
            <a:srgbClr val="1B998B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1005840" y="4407408"/>
            <a:ext cx="2057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Pixel grid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4160520" y="1993392"/>
            <a:ext cx="3246120" cy="658368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297680" y="2112264"/>
            <a:ext cx="29718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Grayscale:  I(x,y) ∈ [0,255]</a:t>
            </a:r>
            <a:endParaRPr lang="en-US" sz="1450" dirty="0"/>
          </a:p>
        </p:txBody>
      </p:sp>
      <p:sp>
        <p:nvSpPr>
          <p:cNvPr id="45" name="Shape 42"/>
          <p:cNvSpPr/>
          <p:nvPr/>
        </p:nvSpPr>
        <p:spPr>
          <a:xfrm>
            <a:off x="4160520" y="2880360"/>
            <a:ext cx="3246120" cy="658368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4297680" y="2999232"/>
            <a:ext cx="29718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RGB:  I(x,y,c), c ∈ {R,G,B}</a:t>
            </a:r>
            <a:endParaRPr lang="en-US" sz="1450" dirty="0"/>
          </a:p>
        </p:txBody>
      </p:sp>
      <p:sp>
        <p:nvSpPr>
          <p:cNvPr id="47" name="Shape 44"/>
          <p:cNvSpPr/>
          <p:nvPr/>
        </p:nvSpPr>
        <p:spPr>
          <a:xfrm>
            <a:off x="4160520" y="3767328"/>
            <a:ext cx="3246120" cy="658368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297680" y="3886200"/>
            <a:ext cx="29718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Resolusi:  W × H × C</a:t>
            </a:r>
            <a:endParaRPr lang="en-US" sz="1450" dirty="0"/>
          </a:p>
        </p:txBody>
      </p:sp>
      <p:sp>
        <p:nvSpPr>
          <p:cNvPr id="49" name="Shape 46"/>
          <p:cNvSpPr/>
          <p:nvPr/>
        </p:nvSpPr>
        <p:spPr>
          <a:xfrm>
            <a:off x="8092440" y="1965960"/>
            <a:ext cx="3063240" cy="2578608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8321040" y="2267712"/>
            <a:ext cx="2606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Karakteristik Data Citra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8366760" y="2743200"/>
            <a:ext cx="251460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15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Intensitas dan warna</a:t>
            </a:r>
            <a:endParaRPr lang="en-US" sz="1150" dirty="0"/>
          </a:p>
          <a:p>
            <a:pPr marL="190500" indent="-190500">
              <a:buSzPct val="100000"/>
              <a:buChar char="•"/>
            </a:pPr>
            <a:r>
              <a:rPr lang="en-US" sz="115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Histogram channel</a:t>
            </a:r>
            <a:endParaRPr lang="en-US" sz="1150" dirty="0"/>
          </a:p>
          <a:p>
            <a:pPr marL="190500" indent="-190500">
              <a:buSzPct val="100000"/>
              <a:buChar char="•"/>
            </a:pPr>
            <a:r>
              <a:rPr lang="en-US" sz="115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Tekstur dan bentuk</a:t>
            </a:r>
            <a:endParaRPr lang="en-US" sz="1150" dirty="0"/>
          </a:p>
          <a:p>
            <a:pPr marL="190500" indent="-190500">
              <a:buSzPct val="100000"/>
              <a:buChar char="•"/>
            </a:pPr>
            <a:r>
              <a:rPr lang="en-US" sz="115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Ukuran objek dan lokasi</a:t>
            </a:r>
            <a:endParaRPr lang="en-US" sz="1150" dirty="0"/>
          </a:p>
          <a:p>
            <a:pPr marL="190500" indent="-190500">
              <a:buSzPct val="100000"/>
              <a:buChar char="•"/>
            </a:pPr>
            <a:r>
              <a:rPr lang="en-US" sz="115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 dan artefak visual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Operasi Dasar pada Data Citra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Normalisasi, transformasi geometrik, masking, dan operasi citra biner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Analisis Image | Januari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640080" y="1975104"/>
            <a:ext cx="3154680" cy="804672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04672" y="2112264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Normalisasi</a:t>
            </a:r>
            <a:endParaRPr lang="en-US" sz="1380" dirty="0"/>
          </a:p>
        </p:txBody>
      </p:sp>
      <p:sp>
        <p:nvSpPr>
          <p:cNvPr id="13" name="Text 10"/>
          <p:cNvSpPr/>
          <p:nvPr/>
        </p:nvSpPr>
        <p:spPr>
          <a:xfrm>
            <a:off x="2029968" y="2139696"/>
            <a:ext cx="16002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skala intensitas agar konsisten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4434840" y="1975104"/>
            <a:ext cx="3154680" cy="804672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99432" y="2112264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Rotasi</a:t>
            </a:r>
            <a:endParaRPr lang="en-US" sz="1380" dirty="0"/>
          </a:p>
        </p:txBody>
      </p:sp>
      <p:sp>
        <p:nvSpPr>
          <p:cNvPr id="16" name="Text 13"/>
          <p:cNvSpPr/>
          <p:nvPr/>
        </p:nvSpPr>
        <p:spPr>
          <a:xfrm>
            <a:off x="5824728" y="2139696"/>
            <a:ext cx="16002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mengubah orientasi objek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8229600" y="1975104"/>
            <a:ext cx="3154680" cy="804672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394192" y="2112264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Translasi</a:t>
            </a:r>
            <a:endParaRPr lang="en-US" sz="1380" dirty="0"/>
          </a:p>
        </p:txBody>
      </p:sp>
      <p:sp>
        <p:nvSpPr>
          <p:cNvPr id="19" name="Text 16"/>
          <p:cNvSpPr/>
          <p:nvPr/>
        </p:nvSpPr>
        <p:spPr>
          <a:xfrm>
            <a:off x="9619488" y="2139696"/>
            <a:ext cx="16002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menggeser posisi citra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40080" y="3090672"/>
            <a:ext cx="3154680" cy="804672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04672" y="3227832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006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</a:t>
            </a:r>
            <a:endParaRPr lang="en-US" sz="1380" dirty="0"/>
          </a:p>
        </p:txBody>
      </p:sp>
      <p:sp>
        <p:nvSpPr>
          <p:cNvPr id="22" name="Text 19"/>
          <p:cNvSpPr/>
          <p:nvPr/>
        </p:nvSpPr>
        <p:spPr>
          <a:xfrm>
            <a:off x="2029968" y="3255264"/>
            <a:ext cx="16002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mengubah ukuran / resolusi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4434840" y="3090672"/>
            <a:ext cx="3154680" cy="804672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599432" y="3227832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C84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Masking</a:t>
            </a:r>
            <a:endParaRPr lang="en-US" sz="1380" dirty="0"/>
          </a:p>
        </p:txBody>
      </p:sp>
      <p:sp>
        <p:nvSpPr>
          <p:cNvPr id="25" name="Text 22"/>
          <p:cNvSpPr/>
          <p:nvPr/>
        </p:nvSpPr>
        <p:spPr>
          <a:xfrm>
            <a:off x="5824728" y="3255264"/>
            <a:ext cx="16002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memilih area relevan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8229600" y="3090672"/>
            <a:ext cx="3154680" cy="804672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394192" y="3227832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B5F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operation</a:t>
            </a:r>
            <a:endParaRPr lang="en-US" sz="1380" dirty="0"/>
          </a:p>
        </p:txBody>
      </p:sp>
      <p:sp>
        <p:nvSpPr>
          <p:cNvPr id="28" name="Text 25"/>
          <p:cNvSpPr/>
          <p:nvPr/>
        </p:nvSpPr>
        <p:spPr>
          <a:xfrm>
            <a:off x="9619488" y="3255264"/>
            <a:ext cx="16002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union, intersection, difference</a:t>
            </a:r>
            <a:endParaRPr lang="en-US" sz="1080" dirty="0"/>
          </a:p>
        </p:txBody>
      </p:sp>
      <p:sp>
        <p:nvSpPr>
          <p:cNvPr id="29" name="Shape 26"/>
          <p:cNvSpPr/>
          <p:nvPr/>
        </p:nvSpPr>
        <p:spPr>
          <a:xfrm>
            <a:off x="914400" y="4617720"/>
            <a:ext cx="4800600" cy="658368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051560" y="4736592"/>
            <a:ext cx="45262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I_norm = (I − min(I)) / (max(I) − min(I))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6400800" y="4617720"/>
            <a:ext cx="4800600" cy="658368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537960" y="4736592"/>
            <a:ext cx="45262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B(x,y) = 1{ I(x,y) ≥ T }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960120" y="5623560"/>
            <a:ext cx="10241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Operasi dasar adalah “grammar” sebelum mahasiswa menulis kalimat lengkap berupa model dan interpretasi.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Histogram dan Transformasi Histogram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Menghubungkan tampilan visual dengan distribusi intensitas pixel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Analisis Image | Januari 2025</a:t>
            </a:r>
            <a:endParaRPr lang="en-US" sz="72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777240" y="1993392"/>
          <a:ext cx="502920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6400800" y="2011680"/>
            <a:ext cx="4526280" cy="269748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675120" y="2304288"/>
            <a:ext cx="3291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Teknik utama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93408" y="2788920"/>
            <a:ext cx="384048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 stretching memperlebar rentang intensitas.</a:t>
            </a:r>
            <a:endParaRPr lang="en-US" sz="1220" dirty="0"/>
          </a:p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Histogram equalization meratakan distribusi intensitas.</a:t>
            </a:r>
            <a:endParaRPr lang="en-US" sz="1220" dirty="0"/>
          </a:p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Thresholding dan Otsu mengubah citra menjadi area objek-latar.</a:t>
            </a:r>
            <a:endParaRPr lang="en-US" sz="1220" dirty="0"/>
          </a:p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Binarisasi memudahkan ekstraksi bentuk dan objek.</a:t>
            </a:r>
            <a:endParaRPr lang="en-US" sz="1220" dirty="0"/>
          </a:p>
        </p:txBody>
      </p:sp>
      <p:sp>
        <p:nvSpPr>
          <p:cNvPr id="15" name="Shape 11"/>
          <p:cNvSpPr/>
          <p:nvPr/>
        </p:nvSpPr>
        <p:spPr>
          <a:xfrm>
            <a:off x="6629400" y="5138928"/>
            <a:ext cx="3931920" cy="59436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766560" y="5257800"/>
            <a:ext cx="3657600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T* = argmax σ²_between(T)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Filtering dan Konvolusi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Kernel sebagai operator lokal untuk smoothing, sharpening, dan edge detection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Analisis Image | Januari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822960" y="1901952"/>
            <a:ext cx="5166360" cy="713232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0120" y="2020824"/>
            <a:ext cx="4892040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(I * K)(x,y) = Σᵢ Σⱼ I(x−i, y−j) K(i,j)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1417320" y="3154680"/>
            <a:ext cx="384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490472" y="3264408"/>
            <a:ext cx="265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828800" y="3154680"/>
            <a:ext cx="384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901952" y="3264408"/>
            <a:ext cx="265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240280" y="3154680"/>
            <a:ext cx="384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313432" y="3264408"/>
            <a:ext cx="265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417320" y="3566160"/>
            <a:ext cx="384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490472" y="3675888"/>
            <a:ext cx="265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828800" y="3566160"/>
            <a:ext cx="384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901952" y="3675888"/>
            <a:ext cx="265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240280" y="3566160"/>
            <a:ext cx="384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313432" y="3675888"/>
            <a:ext cx="265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417320" y="3977640"/>
            <a:ext cx="384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490472" y="4087368"/>
            <a:ext cx="265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828800" y="3977640"/>
            <a:ext cx="384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901952" y="4087368"/>
            <a:ext cx="265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240280" y="3977640"/>
            <a:ext cx="384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313432" y="4087368"/>
            <a:ext cx="265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97280" y="4553712"/>
            <a:ext cx="18288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Kernel Sobel ilustratif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419088" y="1975104"/>
            <a:ext cx="2057400" cy="676656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492240" y="2057400"/>
            <a:ext cx="1911096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filter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mengurangi noise tetapi bisa blur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8796528" y="1975104"/>
            <a:ext cx="2057400" cy="676656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869680" y="2057400"/>
            <a:ext cx="1911096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filter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baik untuk salt-and-pepper noise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419088" y="2926080"/>
            <a:ext cx="2057400" cy="676656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492240" y="3008376"/>
            <a:ext cx="1911096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Gaussian filter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smoothing berbobot jarak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8796528" y="2926080"/>
            <a:ext cx="2057400" cy="676656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8869680" y="3008376"/>
            <a:ext cx="1911096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Sharpening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6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menonjolkan detail tepi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419088" y="3877056"/>
            <a:ext cx="2057400" cy="676656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492240" y="3959352"/>
            <a:ext cx="1911096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4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detection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C84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menemukan perubahan intensitas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868680" y="5559552"/>
            <a:ext cx="10469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Catatan: pilihan kernel harus sesuai tujuan analisis, bukan sekadar karena visualnya terlihat “lebih keren”.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Morfologi Citra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Structuring element untuk memanipulasi bentuk objek pada citra biner dan grayscale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Analisis Image | Januari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868680" y="2423160"/>
            <a:ext cx="12344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353312" y="2542032"/>
            <a:ext cx="182880" cy="128016"/>
          </a:xfrm>
          <a:prstGeom prst="rect">
            <a:avLst/>
          </a:prstGeom>
          <a:solidFill>
            <a:srgbClr val="2364AA"/>
          </a:solidFill>
          <a:ln w="12700">
            <a:solidFill>
              <a:srgbClr val="2364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97280" y="2724912"/>
            <a:ext cx="182880" cy="128016"/>
          </a:xfrm>
          <a:prstGeom prst="rect">
            <a:avLst/>
          </a:prstGeom>
          <a:solidFill>
            <a:srgbClr val="2364AA"/>
          </a:solidFill>
          <a:ln w="12700">
            <a:solidFill>
              <a:srgbClr val="2364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353312" y="2724912"/>
            <a:ext cx="182880" cy="128016"/>
          </a:xfrm>
          <a:prstGeom prst="rect">
            <a:avLst/>
          </a:prstGeom>
          <a:solidFill>
            <a:srgbClr val="2364AA"/>
          </a:solidFill>
          <a:ln w="12700">
            <a:solidFill>
              <a:srgbClr val="2364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609344" y="2724912"/>
            <a:ext cx="182880" cy="128016"/>
          </a:xfrm>
          <a:prstGeom prst="rect">
            <a:avLst/>
          </a:prstGeom>
          <a:solidFill>
            <a:srgbClr val="2364AA"/>
          </a:solidFill>
          <a:ln w="12700">
            <a:solidFill>
              <a:srgbClr val="2364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353312" y="2907792"/>
            <a:ext cx="182880" cy="128016"/>
          </a:xfrm>
          <a:prstGeom prst="rect">
            <a:avLst/>
          </a:prstGeom>
          <a:solidFill>
            <a:srgbClr val="2364AA"/>
          </a:solidFill>
          <a:ln w="12700">
            <a:solidFill>
              <a:srgbClr val="2364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68680" y="335584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2194560" y="2834640"/>
            <a:ext cx="484632" cy="0"/>
          </a:xfrm>
          <a:prstGeom prst="line">
            <a:avLst/>
          </a:prstGeom>
          <a:noFill/>
          <a:ln w="17780">
            <a:solidFill>
              <a:srgbClr val="5365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788920" y="2423160"/>
            <a:ext cx="12344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273552" y="2542032"/>
            <a:ext cx="182880" cy="128016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017520" y="2724912"/>
            <a:ext cx="182880" cy="128016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273552" y="2724912"/>
            <a:ext cx="182880" cy="128016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529584" y="2724912"/>
            <a:ext cx="182880" cy="128016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3273552" y="2907792"/>
            <a:ext cx="182880" cy="128016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788920" y="335584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Dilation</a:t>
            </a:r>
            <a:endParaRPr lang="en-US" sz="840" dirty="0"/>
          </a:p>
        </p:txBody>
      </p:sp>
      <p:sp>
        <p:nvSpPr>
          <p:cNvPr id="26" name="Shape 23"/>
          <p:cNvSpPr/>
          <p:nvPr/>
        </p:nvSpPr>
        <p:spPr>
          <a:xfrm>
            <a:off x="4114800" y="2834640"/>
            <a:ext cx="484632" cy="0"/>
          </a:xfrm>
          <a:prstGeom prst="line">
            <a:avLst/>
          </a:prstGeom>
          <a:noFill/>
          <a:ln w="17780">
            <a:solidFill>
              <a:srgbClr val="5365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709160" y="2423160"/>
            <a:ext cx="12344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193792" y="2542032"/>
            <a:ext cx="182880" cy="128016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937760" y="2724912"/>
            <a:ext cx="182880" cy="128016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193792" y="2724912"/>
            <a:ext cx="182880" cy="128016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449824" y="2724912"/>
            <a:ext cx="182880" cy="128016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5193792" y="2907792"/>
            <a:ext cx="182880" cy="128016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709160" y="335584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Erosion</a:t>
            </a:r>
            <a:endParaRPr lang="en-US" sz="840" dirty="0"/>
          </a:p>
        </p:txBody>
      </p:sp>
      <p:sp>
        <p:nvSpPr>
          <p:cNvPr id="34" name="Shape 31"/>
          <p:cNvSpPr/>
          <p:nvPr/>
        </p:nvSpPr>
        <p:spPr>
          <a:xfrm>
            <a:off x="6035040" y="2834640"/>
            <a:ext cx="484632" cy="0"/>
          </a:xfrm>
          <a:prstGeom prst="line">
            <a:avLst/>
          </a:prstGeom>
          <a:noFill/>
          <a:ln w="17780">
            <a:solidFill>
              <a:srgbClr val="5365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6629400" y="2423160"/>
            <a:ext cx="12344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7114032" y="2542032"/>
            <a:ext cx="182880" cy="128016"/>
          </a:xfrm>
          <a:prstGeom prst="rect">
            <a:avLst/>
          </a:prstGeom>
          <a:solidFill>
            <a:srgbClr val="006B3F"/>
          </a:solidFill>
          <a:ln w="12700">
            <a:solidFill>
              <a:srgbClr val="006B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858000" y="2724912"/>
            <a:ext cx="182880" cy="128016"/>
          </a:xfrm>
          <a:prstGeom prst="rect">
            <a:avLst/>
          </a:prstGeom>
          <a:solidFill>
            <a:srgbClr val="006B3F"/>
          </a:solidFill>
          <a:ln w="12700">
            <a:solidFill>
              <a:srgbClr val="006B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7114032" y="2724912"/>
            <a:ext cx="182880" cy="128016"/>
          </a:xfrm>
          <a:prstGeom prst="rect">
            <a:avLst/>
          </a:prstGeom>
          <a:solidFill>
            <a:srgbClr val="006B3F"/>
          </a:solidFill>
          <a:ln w="12700">
            <a:solidFill>
              <a:srgbClr val="006B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7370064" y="2724912"/>
            <a:ext cx="182880" cy="128016"/>
          </a:xfrm>
          <a:prstGeom prst="rect">
            <a:avLst/>
          </a:prstGeom>
          <a:solidFill>
            <a:srgbClr val="006B3F"/>
          </a:solidFill>
          <a:ln w="12700">
            <a:solidFill>
              <a:srgbClr val="006B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7114032" y="2907792"/>
            <a:ext cx="182880" cy="128016"/>
          </a:xfrm>
          <a:prstGeom prst="rect">
            <a:avLst/>
          </a:prstGeom>
          <a:solidFill>
            <a:srgbClr val="006B3F"/>
          </a:solidFill>
          <a:ln w="12700">
            <a:solidFill>
              <a:srgbClr val="006B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629400" y="335584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</a:t>
            </a:r>
            <a:endParaRPr lang="en-US" sz="840" dirty="0"/>
          </a:p>
        </p:txBody>
      </p:sp>
      <p:sp>
        <p:nvSpPr>
          <p:cNvPr id="42" name="Shape 39"/>
          <p:cNvSpPr/>
          <p:nvPr/>
        </p:nvSpPr>
        <p:spPr>
          <a:xfrm>
            <a:off x="7955280" y="2834640"/>
            <a:ext cx="484632" cy="0"/>
          </a:xfrm>
          <a:prstGeom prst="line">
            <a:avLst/>
          </a:prstGeom>
          <a:noFill/>
          <a:ln w="17780">
            <a:solidFill>
              <a:srgbClr val="5365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8549640" y="2423160"/>
            <a:ext cx="12344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9034272" y="2542032"/>
            <a:ext cx="182880" cy="128016"/>
          </a:xfrm>
          <a:prstGeom prst="rect">
            <a:avLst/>
          </a:prstGeom>
          <a:solidFill>
            <a:srgbClr val="C8452D"/>
          </a:solidFill>
          <a:ln w="12700">
            <a:solidFill>
              <a:srgbClr val="C845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8778240" y="2724912"/>
            <a:ext cx="182880" cy="128016"/>
          </a:xfrm>
          <a:prstGeom prst="rect">
            <a:avLst/>
          </a:prstGeom>
          <a:solidFill>
            <a:srgbClr val="C8452D"/>
          </a:solidFill>
          <a:ln w="12700">
            <a:solidFill>
              <a:srgbClr val="C845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9034272" y="2724912"/>
            <a:ext cx="182880" cy="128016"/>
          </a:xfrm>
          <a:prstGeom prst="rect">
            <a:avLst/>
          </a:prstGeom>
          <a:solidFill>
            <a:srgbClr val="C8452D"/>
          </a:solidFill>
          <a:ln w="12700">
            <a:solidFill>
              <a:srgbClr val="C845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9290304" y="2724912"/>
            <a:ext cx="182880" cy="128016"/>
          </a:xfrm>
          <a:prstGeom prst="rect">
            <a:avLst/>
          </a:prstGeom>
          <a:solidFill>
            <a:srgbClr val="C8452D"/>
          </a:solidFill>
          <a:ln w="12700">
            <a:solidFill>
              <a:srgbClr val="C845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9034272" y="2907792"/>
            <a:ext cx="182880" cy="128016"/>
          </a:xfrm>
          <a:prstGeom prst="rect">
            <a:avLst/>
          </a:prstGeom>
          <a:solidFill>
            <a:srgbClr val="C8452D"/>
          </a:solidFill>
          <a:ln w="12700">
            <a:solidFill>
              <a:srgbClr val="C845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8549640" y="335584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</a:t>
            </a:r>
            <a:endParaRPr lang="en-US" sz="840" dirty="0"/>
          </a:p>
        </p:txBody>
      </p:sp>
      <p:sp>
        <p:nvSpPr>
          <p:cNvPr id="50" name="Shape 47"/>
          <p:cNvSpPr/>
          <p:nvPr/>
        </p:nvSpPr>
        <p:spPr>
          <a:xfrm>
            <a:off x="868680" y="4160520"/>
            <a:ext cx="9738360" cy="109728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1051560" y="4407408"/>
            <a:ext cx="1737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Intuisi morfologi</a:t>
            </a:r>
            <a:endParaRPr lang="en-US" sz="1700" dirty="0"/>
          </a:p>
        </p:txBody>
      </p:sp>
      <p:sp>
        <p:nvSpPr>
          <p:cNvPr id="52" name="Text 49"/>
          <p:cNvSpPr/>
          <p:nvPr/>
        </p:nvSpPr>
        <p:spPr>
          <a:xfrm>
            <a:off x="3429000" y="4343400"/>
            <a:ext cx="66751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Dilation memperbesar objek, erosion mengecilkan objek, opening menghapus objek kecil/noise, dan closing menutup celah kecil. Pada citra grayscale, operasi serupa digunakan untuk struktur intensitas.</a:t>
            </a:r>
            <a:endParaRPr lang="en-US" sz="1250" dirty="0"/>
          </a:p>
        </p:txBody>
      </p:sp>
      <p:sp>
        <p:nvSpPr>
          <p:cNvPr id="53" name="Shape 50"/>
          <p:cNvSpPr/>
          <p:nvPr/>
        </p:nvSpPr>
        <p:spPr>
          <a:xfrm>
            <a:off x="1828800" y="5532120"/>
            <a:ext cx="8046720" cy="530352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1965960" y="5650992"/>
            <a:ext cx="77724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⊕ B,  A ⊖ B,  A ○ B,  A ● B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99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621792"/>
            <a:ext cx="6766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F1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7–12 | CNN, arsitektur populer, klasifikasi, evaluasi, dan segmentasi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2267712"/>
            <a:ext cx="896112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Bagian II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Learning untuk Citra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658368" y="3703320"/>
            <a:ext cx="3182112" cy="0"/>
          </a:xfrm>
          <a:prstGeom prst="line">
            <a:avLst/>
          </a:prstGeom>
          <a:noFill/>
          <a:ln w="63500">
            <a:solidFill>
              <a:srgbClr val="F5822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Konsep dan Struktur CNN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belajar fitur hierarkis: dari tepi sederhana sampai representasi objek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Analisis Image | Januari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777240" y="1988820"/>
            <a:ext cx="960120" cy="1508760"/>
          </a:xfrm>
          <a:prstGeom prst="roundRect">
            <a:avLst/>
          </a:prstGeom>
          <a:solidFill>
            <a:srgbClr val="2364AA"/>
          </a:solidFill>
          <a:ln w="12700">
            <a:solidFill>
              <a:srgbClr val="236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2960" y="2578608"/>
            <a:ext cx="8686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847088" y="2743200"/>
            <a:ext cx="457200" cy="0"/>
          </a:xfrm>
          <a:prstGeom prst="line">
            <a:avLst/>
          </a:prstGeom>
          <a:noFill/>
          <a:ln w="19050">
            <a:solidFill>
              <a:srgbClr val="5365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377440" y="2171700"/>
            <a:ext cx="914400" cy="1143000"/>
          </a:xfrm>
          <a:prstGeom prst="round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423160" y="2578608"/>
            <a:ext cx="8229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ReLU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401568" y="2743200"/>
            <a:ext cx="457200" cy="0"/>
          </a:xfrm>
          <a:prstGeom prst="line">
            <a:avLst/>
          </a:prstGeom>
          <a:noFill/>
          <a:ln w="19050">
            <a:solidFill>
              <a:srgbClr val="5365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931920" y="2295144"/>
            <a:ext cx="804672" cy="896112"/>
          </a:xfrm>
          <a:prstGeom prst="round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977640" y="2578608"/>
            <a:ext cx="713232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Pooling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2743200"/>
            <a:ext cx="457200" cy="0"/>
          </a:xfrm>
          <a:prstGeom prst="line">
            <a:avLst/>
          </a:prstGeom>
          <a:noFill/>
          <a:ln w="19050">
            <a:solidFill>
              <a:srgbClr val="5365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376672" y="2386584"/>
            <a:ext cx="694944" cy="713232"/>
          </a:xfrm>
          <a:prstGeom prst="round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422392" y="2578608"/>
            <a:ext cx="60350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81344" y="2743200"/>
            <a:ext cx="457200" cy="0"/>
          </a:xfrm>
          <a:prstGeom prst="line">
            <a:avLst/>
          </a:prstGeom>
          <a:noFill/>
          <a:ln w="19050">
            <a:solidFill>
              <a:srgbClr val="5365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711696" y="2478024"/>
            <a:ext cx="566928" cy="530352"/>
          </a:xfrm>
          <a:prstGeom prst="roundRect">
            <a:avLst/>
          </a:prstGeom>
          <a:solidFill>
            <a:srgbClr val="F8C537"/>
          </a:solidFill>
          <a:ln w="12700">
            <a:solidFill>
              <a:srgbClr val="F8C5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757416" y="2578608"/>
            <a:ext cx="475488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388352" y="2743200"/>
            <a:ext cx="457200" cy="0"/>
          </a:xfrm>
          <a:prstGeom prst="line">
            <a:avLst/>
          </a:prstGeom>
          <a:noFill/>
          <a:ln w="19050">
            <a:solidFill>
              <a:srgbClr val="5365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918704" y="2560320"/>
            <a:ext cx="932688" cy="365760"/>
          </a:xfrm>
          <a:prstGeom prst="roundRect">
            <a:avLst/>
          </a:prstGeom>
          <a:solidFill>
            <a:srgbClr val="C8452D"/>
          </a:solidFill>
          <a:ln w="12700">
            <a:solidFill>
              <a:srgbClr val="C845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964424" y="2578608"/>
            <a:ext cx="841248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Softmax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41248" y="4370832"/>
            <a:ext cx="4754880" cy="105156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115568" y="4617720"/>
            <a:ext cx="1645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Komponen utama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3063240" y="4544568"/>
            <a:ext cx="219456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0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Convolutional layer</a:t>
            </a:r>
            <a:endParaRPr lang="en-US" sz="1080" dirty="0"/>
          </a:p>
          <a:p>
            <a:pPr marL="190500" indent="-190500">
              <a:buSzPct val="100000"/>
              <a:buChar char="•"/>
            </a:pPr>
            <a:r>
              <a:rPr lang="en-US" sz="10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map</a:t>
            </a:r>
            <a:endParaRPr lang="en-US" sz="1080" dirty="0"/>
          </a:p>
          <a:p>
            <a:pPr marL="190500" indent="-190500">
              <a:buSzPct val="100000"/>
              <a:buChar char="•"/>
            </a:pPr>
            <a:r>
              <a:rPr lang="en-US" sz="10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Pooling</a:t>
            </a:r>
            <a:endParaRPr lang="en-US" sz="1080" dirty="0"/>
          </a:p>
          <a:p>
            <a:pPr marL="190500" indent="-190500">
              <a:buSzPct val="100000"/>
              <a:buChar char="•"/>
            </a:pPr>
            <a:r>
              <a:rPr lang="en-US" sz="10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Fully connected layer</a:t>
            </a:r>
            <a:endParaRPr lang="en-US" sz="1080" dirty="0"/>
          </a:p>
          <a:p>
            <a:pPr marL="190500" indent="-190500">
              <a:buSzPct val="100000"/>
              <a:buChar char="•"/>
            </a:pPr>
            <a:r>
              <a:rPr lang="en-US" sz="10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function</a:t>
            </a:r>
            <a:endParaRPr lang="en-US" sz="1080" dirty="0"/>
          </a:p>
        </p:txBody>
      </p:sp>
      <p:sp>
        <p:nvSpPr>
          <p:cNvPr id="31" name="Shape 28"/>
          <p:cNvSpPr/>
          <p:nvPr/>
        </p:nvSpPr>
        <p:spPr>
          <a:xfrm>
            <a:off x="6263640" y="4370832"/>
            <a:ext cx="4663440" cy="105156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537960" y="4617720"/>
            <a:ext cx="1645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Risiko pembelajaran</a:t>
            </a:r>
            <a:endParaRPr lang="en-US" sz="1550" dirty="0"/>
          </a:p>
        </p:txBody>
      </p:sp>
      <p:sp>
        <p:nvSpPr>
          <p:cNvPr id="33" name="Text 30"/>
          <p:cNvSpPr/>
          <p:nvPr/>
        </p:nvSpPr>
        <p:spPr>
          <a:xfrm>
            <a:off x="8458200" y="4544568"/>
            <a:ext cx="21488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0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Overfitting</a:t>
            </a:r>
            <a:endParaRPr lang="en-US" sz="1080" dirty="0"/>
          </a:p>
          <a:p>
            <a:pPr marL="190500" indent="-190500">
              <a:buSzPct val="100000"/>
              <a:buChar char="•"/>
            </a:pPr>
            <a:r>
              <a:rPr lang="en-US" sz="10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leakage</a:t>
            </a:r>
            <a:endParaRPr lang="en-US" sz="1080" dirty="0"/>
          </a:p>
          <a:p>
            <a:pPr marL="190500" indent="-190500">
              <a:buSzPct val="100000"/>
              <a:buChar char="•"/>
            </a:pPr>
            <a:r>
              <a:rPr lang="en-US" sz="10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 dataset</a:t>
            </a:r>
            <a:endParaRPr lang="en-US" sz="1080" dirty="0"/>
          </a:p>
          <a:p>
            <a:pPr marL="190500" indent="-190500">
              <a:buSzPct val="100000"/>
              <a:buChar char="•"/>
            </a:pPr>
            <a:r>
              <a:rPr lang="en-US" sz="10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Validasi kurang kuat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Matematika CNN dan Arsitektur Populer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Aktivasi, optimisasi, regularisasi, dan transfer learning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Analisis Image | Januari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777240" y="1965960"/>
            <a:ext cx="3566160" cy="59436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084832"/>
            <a:ext cx="3291840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 = W * x + b,    a = f(z)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77240" y="2770632"/>
            <a:ext cx="3566160" cy="59436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2889504"/>
            <a:ext cx="3291840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θ ← θ − η ∇θ L(θ)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77240" y="3575304"/>
            <a:ext cx="3566160" cy="59436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694176"/>
            <a:ext cx="3291840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= − Σ yᵢ log(ŷᵢ)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4983480" y="1920240"/>
            <a:ext cx="2468880" cy="59436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56632" y="2002536"/>
            <a:ext cx="2322576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LeNet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klasik untuk digit kecil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7909560" y="1920240"/>
            <a:ext cx="2468880" cy="59436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982712" y="2002536"/>
            <a:ext cx="2322576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AlexNet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awal lonjakan deep CNN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4983480" y="2761488"/>
            <a:ext cx="2468880" cy="59436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056632" y="2843784"/>
            <a:ext cx="2322576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VGG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blok sederhana dan dalam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7909560" y="2761488"/>
            <a:ext cx="2468880" cy="59436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982712" y="2843784"/>
            <a:ext cx="2322576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06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ResNet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006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connection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4983480" y="3602736"/>
            <a:ext cx="2468880" cy="59436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056632" y="3685032"/>
            <a:ext cx="2322576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C84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Learning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C84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fine-tuning model pra-latih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1005840" y="5166360"/>
            <a:ext cx="9966960" cy="658368"/>
          </a:xfrm>
          <a:prstGeom prst="roundRect">
            <a:avLst/>
          </a:prstGeom>
          <a:solidFill>
            <a:srgbClr val="0B1F36"/>
          </a:solidFill>
          <a:ln w="12700">
            <a:solidFill>
              <a:srgbClr val="0B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280160" y="5376672"/>
            <a:ext cx="9372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Praktikum diarahkan pada eksperimen kecil yang reproducible: baseline sederhana → CNN → regularisasi → interpretasi kesalahan.</a:t>
            </a:r>
            <a:endParaRPr lang="en-US" sz="14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Klasifikasi Citra dan Metode Statistik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Evaluasi model harus menjawab: kelas mana yang berhasil, gagal, dan mengapa?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Analisis Image | Januari 2025</a:t>
            </a:r>
            <a:endParaRPr lang="en-US" sz="72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777240" y="2029968"/>
          <a:ext cx="484632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6400800" y="2029968"/>
            <a:ext cx="4434840" cy="2724912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720840" y="2322576"/>
            <a:ext cx="3291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Metode pembanding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720840" y="2816352"/>
            <a:ext cx="370332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PCA/LDA untuk reduksi dimensi dan representasi statistik.</a:t>
            </a:r>
            <a:endParaRPr lang="en-US" sz="1220" dirty="0"/>
          </a:p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untuk baseline fitur tekstur/warna.</a:t>
            </a:r>
            <a:endParaRPr lang="en-US" sz="1220" dirty="0"/>
          </a:p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SVM untuk pemisahan kelas pada ruang fitur.</a:t>
            </a:r>
            <a:endParaRPr lang="en-US" sz="1220" dirty="0"/>
          </a:p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untuk belajar fitur langsung dari pixel.</a:t>
            </a:r>
            <a:endParaRPr lang="en-US" sz="1220" dirty="0"/>
          </a:p>
        </p:txBody>
      </p:sp>
      <p:sp>
        <p:nvSpPr>
          <p:cNvPr id="15" name="Shape 11"/>
          <p:cNvSpPr/>
          <p:nvPr/>
        </p:nvSpPr>
        <p:spPr>
          <a:xfrm>
            <a:off x="6583680" y="5230368"/>
            <a:ext cx="4114800" cy="530352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720840" y="5349240"/>
            <a:ext cx="38404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= 2 · Precision · Recall / (Precision + Recall)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Segmentasi Citra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Dari klasifikasi seluruh gambar menuju pelabelan region/pixel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Analisis Image | Januari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713232" y="1975104"/>
            <a:ext cx="3063240" cy="713232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86384" y="2057400"/>
            <a:ext cx="291693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berbasis intensitas</a:t>
            </a:r>
            <a:endParaRPr lang="en-US" sz="1040" dirty="0"/>
          </a:p>
        </p:txBody>
      </p:sp>
      <p:sp>
        <p:nvSpPr>
          <p:cNvPr id="13" name="Shape 10"/>
          <p:cNvSpPr/>
          <p:nvPr/>
        </p:nvSpPr>
        <p:spPr>
          <a:xfrm>
            <a:off x="4416552" y="1975104"/>
            <a:ext cx="3063240" cy="713232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489704" y="2057400"/>
            <a:ext cx="291693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Edge-based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berbasis kontur</a:t>
            </a:r>
            <a:endParaRPr lang="en-US" sz="1040" dirty="0"/>
          </a:p>
        </p:txBody>
      </p:sp>
      <p:sp>
        <p:nvSpPr>
          <p:cNvPr id="15" name="Shape 12"/>
          <p:cNvSpPr/>
          <p:nvPr/>
        </p:nvSpPr>
        <p:spPr>
          <a:xfrm>
            <a:off x="8119872" y="1975104"/>
            <a:ext cx="3063240" cy="713232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193024" y="2057400"/>
            <a:ext cx="291693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 growing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berbasis kemiripan lokal</a:t>
            </a:r>
            <a:endParaRPr lang="en-US" sz="1040" dirty="0"/>
          </a:p>
        </p:txBody>
      </p:sp>
      <p:sp>
        <p:nvSpPr>
          <p:cNvPr id="17" name="Shape 14"/>
          <p:cNvSpPr/>
          <p:nvPr/>
        </p:nvSpPr>
        <p:spPr>
          <a:xfrm>
            <a:off x="713232" y="3026664"/>
            <a:ext cx="3063240" cy="713232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86384" y="3108960"/>
            <a:ext cx="291693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06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Clustering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b="1" dirty="0">
                <a:solidFill>
                  <a:srgbClr val="006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berbasis kelompok fitur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4416552" y="3026664"/>
            <a:ext cx="3063240" cy="713232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489704" y="3108960"/>
            <a:ext cx="291693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C84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segmentation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b="1" dirty="0">
                <a:solidFill>
                  <a:srgbClr val="C84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kelas per pixel</a:t>
            </a:r>
            <a:endParaRPr lang="en-US" sz="1040" dirty="0"/>
          </a:p>
        </p:txBody>
      </p:sp>
      <p:sp>
        <p:nvSpPr>
          <p:cNvPr id="21" name="Shape 18"/>
          <p:cNvSpPr/>
          <p:nvPr/>
        </p:nvSpPr>
        <p:spPr>
          <a:xfrm>
            <a:off x="8119872" y="3026664"/>
            <a:ext cx="3063240" cy="713232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193024" y="3108960"/>
            <a:ext cx="291693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5B5F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Instance segmentation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b="1" dirty="0">
                <a:solidFill>
                  <a:srgbClr val="5B5F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objek individual</a:t>
            </a:r>
            <a:endParaRPr lang="en-US" sz="1040" dirty="0"/>
          </a:p>
        </p:txBody>
      </p:sp>
      <p:sp>
        <p:nvSpPr>
          <p:cNvPr id="23" name="Shape 20"/>
          <p:cNvSpPr/>
          <p:nvPr/>
        </p:nvSpPr>
        <p:spPr>
          <a:xfrm>
            <a:off x="1005840" y="4572000"/>
            <a:ext cx="4480560" cy="59436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143000" y="4690872"/>
            <a:ext cx="4206240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Dice = 2|A ∩ B| / (|A| + |B|)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6492240" y="4572000"/>
            <a:ext cx="4480560" cy="59436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629400" y="4690872"/>
            <a:ext cx="4206240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IoU = |A ∩ B| / |A ∪ B|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1005840" y="5532120"/>
            <a:ext cx="1014984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U-Net dan Mask R-CNN menjadi contoh pendekatan modern untuk segmentasi medis, infrastruktur, lingkungan, dan objek kompleks.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 Detection dan Advanced Applications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Lokalisasi objek: kelas + bounding box + skor kepercayaan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Analisis Image | Januari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868680" y="1965960"/>
            <a:ext cx="420624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234440" y="2331720"/>
            <a:ext cx="3337560" cy="2103120"/>
          </a:xfrm>
          <a:prstGeom prst="roundRect">
            <a:avLst/>
          </a:prstGeom>
          <a:solidFill>
            <a:srgbClr val="DDECF2"/>
          </a:solidFill>
          <a:ln w="12700">
            <a:solidFill>
              <a:srgbClr val="DDEC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645920" y="2697480"/>
            <a:ext cx="1143000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700784" y="2505456"/>
            <a:ext cx="10058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A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971800" y="2999232"/>
            <a:ext cx="960120" cy="658368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980944" y="2798064"/>
            <a:ext cx="9144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B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0.87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715000" y="1993392"/>
            <a:ext cx="2148840" cy="59436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788152" y="2075688"/>
            <a:ext cx="2002536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R-CNN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 proposal + classifier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275320" y="1993392"/>
            <a:ext cx="2148840" cy="59436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348472" y="2075688"/>
            <a:ext cx="2002536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single-stage, cepat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715000" y="2834640"/>
            <a:ext cx="2148840" cy="59436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788152" y="2916936"/>
            <a:ext cx="2002536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multi-scale detection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275320" y="2834640"/>
            <a:ext cx="2148840" cy="59436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348472" y="2916936"/>
            <a:ext cx="2002536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 R-CNN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6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+ instance mask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715000" y="3675888"/>
            <a:ext cx="2148840" cy="59436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788152" y="3758184"/>
            <a:ext cx="2002536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4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C84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Average Precision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275320" y="3675888"/>
            <a:ext cx="2148840" cy="59436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348472" y="3758184"/>
            <a:ext cx="2002536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5F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5B5F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hapus box duplikat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932688" y="5440680"/>
            <a:ext cx="10332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Aplikasi lanjutan: deteksi sel, retakan jalan, objek lingkungan, produk manufaktur, dan citra sosial yang dikelola secara etis.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621792"/>
            <a:ext cx="6766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F1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13–16 | Gap riset, proposal, peer review, penilaian, dan proyek akhir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2267712"/>
            <a:ext cx="896112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Bagian III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Riset, Reproducibility &amp; Project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658368" y="3703320"/>
            <a:ext cx="3182112" cy="0"/>
          </a:xfrm>
          <a:prstGeom prst="line">
            <a:avLst/>
          </a:prstGeom>
          <a:noFill/>
          <a:ln w="63500">
            <a:solidFill>
              <a:srgbClr val="F5822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Identifikasi Gap Riset dan Proposal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Novelty bukan kata sakti; harus muncul dari literatur, data, metode, dan validasi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Analisis Image | Januari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640080" y="1920240"/>
            <a:ext cx="2423160" cy="749808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7240" y="2066544"/>
            <a:ext cx="2148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literatur</a:t>
            </a:r>
            <a:endParaRPr lang="en-US" sz="1180" dirty="0"/>
          </a:p>
        </p:txBody>
      </p:sp>
      <p:sp>
        <p:nvSpPr>
          <p:cNvPr id="13" name="Text 10"/>
          <p:cNvSpPr/>
          <p:nvPr/>
        </p:nvSpPr>
        <p:spPr>
          <a:xfrm>
            <a:off x="777240" y="2313432"/>
            <a:ext cx="2148840" cy="1554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peta metode dan kelemahan studi</a:t>
            </a:r>
            <a:endParaRPr lang="en-US" sz="890" dirty="0"/>
          </a:p>
        </p:txBody>
      </p:sp>
      <p:sp>
        <p:nvSpPr>
          <p:cNvPr id="14" name="Shape 11"/>
          <p:cNvSpPr/>
          <p:nvPr/>
        </p:nvSpPr>
        <p:spPr>
          <a:xfrm>
            <a:off x="3456432" y="1920240"/>
            <a:ext cx="2423160" cy="749808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593592" y="2066544"/>
            <a:ext cx="2148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gap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3593592" y="2313432"/>
            <a:ext cx="2148840" cy="1554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 yang belum diselesaikan</a:t>
            </a:r>
            <a:endParaRPr lang="en-US" sz="890" dirty="0"/>
          </a:p>
        </p:txBody>
      </p:sp>
      <p:sp>
        <p:nvSpPr>
          <p:cNvPr id="17" name="Shape 14"/>
          <p:cNvSpPr/>
          <p:nvPr/>
        </p:nvSpPr>
        <p:spPr>
          <a:xfrm>
            <a:off x="6272784" y="1920240"/>
            <a:ext cx="2423160" cy="749808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9944" y="2066544"/>
            <a:ext cx="2148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Novelty</a:t>
            </a:r>
            <a:endParaRPr lang="en-US" sz="1180" dirty="0"/>
          </a:p>
        </p:txBody>
      </p:sp>
      <p:sp>
        <p:nvSpPr>
          <p:cNvPr id="19" name="Text 16"/>
          <p:cNvSpPr/>
          <p:nvPr/>
        </p:nvSpPr>
        <p:spPr>
          <a:xfrm>
            <a:off x="6409944" y="2313432"/>
            <a:ext cx="2148840" cy="1554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kontribusi yang dapat diuji</a:t>
            </a:r>
            <a:endParaRPr lang="en-US" sz="890" dirty="0"/>
          </a:p>
        </p:txBody>
      </p:sp>
      <p:sp>
        <p:nvSpPr>
          <p:cNvPr id="20" name="Shape 17"/>
          <p:cNvSpPr/>
          <p:nvPr/>
        </p:nvSpPr>
        <p:spPr>
          <a:xfrm>
            <a:off x="9089136" y="1920240"/>
            <a:ext cx="2423160" cy="749808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226296" y="2066544"/>
            <a:ext cx="2148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06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dataset</a:t>
            </a:r>
            <a:endParaRPr lang="en-US" sz="1180" dirty="0"/>
          </a:p>
        </p:txBody>
      </p:sp>
      <p:sp>
        <p:nvSpPr>
          <p:cNvPr id="22" name="Text 19"/>
          <p:cNvSpPr/>
          <p:nvPr/>
        </p:nvSpPr>
        <p:spPr>
          <a:xfrm>
            <a:off x="9226296" y="2313432"/>
            <a:ext cx="2148840" cy="1554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pembanding yang jelas</a:t>
            </a:r>
            <a:endParaRPr lang="en-US" sz="890" dirty="0"/>
          </a:p>
        </p:txBody>
      </p:sp>
      <p:sp>
        <p:nvSpPr>
          <p:cNvPr id="23" name="Shape 20"/>
          <p:cNvSpPr/>
          <p:nvPr/>
        </p:nvSpPr>
        <p:spPr>
          <a:xfrm>
            <a:off x="640080" y="2944368"/>
            <a:ext cx="2423160" cy="749808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77240" y="3090672"/>
            <a:ext cx="2148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C84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Validasi eksternal</a:t>
            </a:r>
            <a:endParaRPr lang="en-US" sz="1180" dirty="0"/>
          </a:p>
        </p:txBody>
      </p:sp>
      <p:sp>
        <p:nvSpPr>
          <p:cNvPr id="25" name="Text 22"/>
          <p:cNvSpPr/>
          <p:nvPr/>
        </p:nvSpPr>
        <p:spPr>
          <a:xfrm>
            <a:off x="777240" y="3337560"/>
            <a:ext cx="2148840" cy="1554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uji generalisasi model</a:t>
            </a:r>
            <a:endParaRPr lang="en-US" sz="890" dirty="0"/>
          </a:p>
        </p:txBody>
      </p:sp>
      <p:sp>
        <p:nvSpPr>
          <p:cNvPr id="26" name="Shape 23"/>
          <p:cNvSpPr/>
          <p:nvPr/>
        </p:nvSpPr>
        <p:spPr>
          <a:xfrm>
            <a:off x="3456432" y="2944368"/>
            <a:ext cx="2423160" cy="749808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593592" y="3090672"/>
            <a:ext cx="2148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5B5F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</a:t>
            </a:r>
            <a:endParaRPr lang="en-US" sz="1180" dirty="0"/>
          </a:p>
        </p:txBody>
      </p:sp>
      <p:sp>
        <p:nvSpPr>
          <p:cNvPr id="28" name="Text 25"/>
          <p:cNvSpPr/>
          <p:nvPr/>
        </p:nvSpPr>
        <p:spPr>
          <a:xfrm>
            <a:off x="3593592" y="3337560"/>
            <a:ext cx="2148840" cy="1554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mengapa model bekerja/gagal</a:t>
            </a:r>
            <a:endParaRPr lang="en-US" sz="890" dirty="0"/>
          </a:p>
        </p:txBody>
      </p:sp>
      <p:sp>
        <p:nvSpPr>
          <p:cNvPr id="29" name="Shape 26"/>
          <p:cNvSpPr/>
          <p:nvPr/>
        </p:nvSpPr>
        <p:spPr>
          <a:xfrm>
            <a:off x="6272784" y="2944368"/>
            <a:ext cx="2423160" cy="749808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409944" y="3090672"/>
            <a:ext cx="2148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Reproducibility</a:t>
            </a:r>
            <a:endParaRPr lang="en-US" sz="1180" dirty="0"/>
          </a:p>
        </p:txBody>
      </p:sp>
      <p:sp>
        <p:nvSpPr>
          <p:cNvPr id="31" name="Text 28"/>
          <p:cNvSpPr/>
          <p:nvPr/>
        </p:nvSpPr>
        <p:spPr>
          <a:xfrm>
            <a:off x="6409944" y="3337560"/>
            <a:ext cx="2148840" cy="1554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kode, seed, environment</a:t>
            </a:r>
            <a:endParaRPr lang="en-US" sz="890" dirty="0"/>
          </a:p>
        </p:txBody>
      </p:sp>
      <p:sp>
        <p:nvSpPr>
          <p:cNvPr id="32" name="Shape 29"/>
          <p:cNvSpPr/>
          <p:nvPr/>
        </p:nvSpPr>
        <p:spPr>
          <a:xfrm>
            <a:off x="9089136" y="2944368"/>
            <a:ext cx="2423160" cy="749808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9226296" y="3090672"/>
            <a:ext cx="2148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8C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governance</a:t>
            </a:r>
            <a:endParaRPr lang="en-US" sz="1180" dirty="0"/>
          </a:p>
        </p:txBody>
      </p:sp>
      <p:sp>
        <p:nvSpPr>
          <p:cNvPr id="34" name="Text 31"/>
          <p:cNvSpPr/>
          <p:nvPr/>
        </p:nvSpPr>
        <p:spPr>
          <a:xfrm>
            <a:off x="9226296" y="3337560"/>
            <a:ext cx="2148840" cy="1554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etika, privasi, akses data</a:t>
            </a:r>
            <a:endParaRPr lang="en-US" sz="890" dirty="0"/>
          </a:p>
        </p:txBody>
      </p:sp>
      <p:sp>
        <p:nvSpPr>
          <p:cNvPr id="35" name="Shape 32"/>
          <p:cNvSpPr/>
          <p:nvPr/>
        </p:nvSpPr>
        <p:spPr>
          <a:xfrm>
            <a:off x="1051560" y="4754880"/>
            <a:ext cx="9921240" cy="786384"/>
          </a:xfrm>
          <a:prstGeom prst="roundRect">
            <a:avLst/>
          </a:prstGeom>
          <a:solidFill>
            <a:srgbClr val="0B1F36"/>
          </a:solidFill>
          <a:ln w="12700">
            <a:solidFill>
              <a:srgbClr val="0B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371600" y="5029200"/>
            <a:ext cx="92811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Struktur proposal: latar belakang → rumusan masalah → tujuan → roadmap metodologi → desain eksperimen → indikator keberhasilan → dampak inovasi.</a:t>
            </a:r>
            <a:endParaRPr lang="en-US" sz="13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Penilaian dan Ide Proyek Akhir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Bobot penilaian menggabungkan pemahaman konsep, implementasi, komunikasi, dan riset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Analisis Image | Januari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731520" y="1938528"/>
            <a:ext cx="5486400" cy="31089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32688" y="2020824"/>
            <a:ext cx="429768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Partisipasi, diskusi, kehadiran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5413248" y="2020824"/>
            <a:ext cx="512064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731520" y="2377440"/>
            <a:ext cx="5486400" cy="310896"/>
          </a:xfrm>
          <a:prstGeom prst="roundRect">
            <a:avLst/>
          </a:prstGeom>
          <a:solidFill>
            <a:srgbClr val="EEF5F6"/>
          </a:solidFill>
          <a:ln w="635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32688" y="2459736"/>
            <a:ext cx="429768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Kuis reflektif</a:t>
            </a: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5413248" y="2459736"/>
            <a:ext cx="512064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731520" y="2816352"/>
            <a:ext cx="5486400" cy="31089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32688" y="2898648"/>
            <a:ext cx="429768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Tugas filtering, konvolusi, morfologi</a:t>
            </a:r>
            <a:endParaRPr lang="en-US" sz="880" dirty="0"/>
          </a:p>
        </p:txBody>
      </p:sp>
      <p:sp>
        <p:nvSpPr>
          <p:cNvPr id="19" name="Text 16"/>
          <p:cNvSpPr/>
          <p:nvPr/>
        </p:nvSpPr>
        <p:spPr>
          <a:xfrm>
            <a:off x="5413248" y="2898648"/>
            <a:ext cx="512064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731520" y="3255264"/>
            <a:ext cx="5486400" cy="310896"/>
          </a:xfrm>
          <a:prstGeom prst="roundRect">
            <a:avLst/>
          </a:prstGeom>
          <a:solidFill>
            <a:srgbClr val="EEF5F6"/>
          </a:solidFill>
          <a:ln w="635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32688" y="3337560"/>
            <a:ext cx="429768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Presentasi hasil analisis</a:t>
            </a:r>
            <a:endParaRPr lang="en-US" sz="880" dirty="0"/>
          </a:p>
        </p:txBody>
      </p:sp>
      <p:sp>
        <p:nvSpPr>
          <p:cNvPr id="22" name="Text 19"/>
          <p:cNvSpPr/>
          <p:nvPr/>
        </p:nvSpPr>
        <p:spPr>
          <a:xfrm>
            <a:off x="5413248" y="3337560"/>
            <a:ext cx="512064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006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731520" y="3694176"/>
            <a:ext cx="5486400" cy="31089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32688" y="3776472"/>
            <a:ext cx="429768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UTS proyek pendahuluan</a:t>
            </a:r>
            <a:endParaRPr lang="en-US" sz="880" dirty="0"/>
          </a:p>
        </p:txBody>
      </p:sp>
      <p:sp>
        <p:nvSpPr>
          <p:cNvPr id="25" name="Text 22"/>
          <p:cNvSpPr/>
          <p:nvPr/>
        </p:nvSpPr>
        <p:spPr>
          <a:xfrm>
            <a:off x="5413248" y="3776472"/>
            <a:ext cx="512064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C84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731520" y="4133088"/>
            <a:ext cx="5486400" cy="310896"/>
          </a:xfrm>
          <a:prstGeom prst="roundRect">
            <a:avLst/>
          </a:prstGeom>
          <a:solidFill>
            <a:srgbClr val="EEF5F6"/>
          </a:solidFill>
          <a:ln w="635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32688" y="4215384"/>
            <a:ext cx="429768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Laporan/proyek klasifikasi-segmentasi</a:t>
            </a:r>
            <a:endParaRPr lang="en-US" sz="880" dirty="0"/>
          </a:p>
        </p:txBody>
      </p:sp>
      <p:sp>
        <p:nvSpPr>
          <p:cNvPr id="28" name="Text 25"/>
          <p:cNvSpPr/>
          <p:nvPr/>
        </p:nvSpPr>
        <p:spPr>
          <a:xfrm>
            <a:off x="5413248" y="4215384"/>
            <a:ext cx="512064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5B5F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731520" y="4572000"/>
            <a:ext cx="5486400" cy="31089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932688" y="4654296"/>
            <a:ext cx="429768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riset inovatif dan presentasi</a:t>
            </a:r>
            <a:endParaRPr lang="en-US" sz="880" dirty="0"/>
          </a:p>
        </p:txBody>
      </p:sp>
      <p:sp>
        <p:nvSpPr>
          <p:cNvPr id="31" name="Text 28"/>
          <p:cNvSpPr/>
          <p:nvPr/>
        </p:nvSpPr>
        <p:spPr>
          <a:xfrm>
            <a:off x="5413248" y="4654296"/>
            <a:ext cx="512064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880" dirty="0"/>
          </a:p>
        </p:txBody>
      </p:sp>
      <p:sp>
        <p:nvSpPr>
          <p:cNvPr id="32" name="Shape 29"/>
          <p:cNvSpPr/>
          <p:nvPr/>
        </p:nvSpPr>
        <p:spPr>
          <a:xfrm>
            <a:off x="731520" y="5010912"/>
            <a:ext cx="5486400" cy="310896"/>
          </a:xfrm>
          <a:prstGeom prst="roundRect">
            <a:avLst/>
          </a:prstGeom>
          <a:solidFill>
            <a:srgbClr val="EEF5F6"/>
          </a:solidFill>
          <a:ln w="635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932688" y="5093208"/>
            <a:ext cx="429768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UAS proyek akhir</a:t>
            </a:r>
            <a:endParaRPr lang="en-US" sz="880" dirty="0"/>
          </a:p>
        </p:txBody>
      </p:sp>
      <p:sp>
        <p:nvSpPr>
          <p:cNvPr id="34" name="Text 31"/>
          <p:cNvSpPr/>
          <p:nvPr/>
        </p:nvSpPr>
        <p:spPr>
          <a:xfrm>
            <a:off x="5413248" y="5093208"/>
            <a:ext cx="512064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F8C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80" dirty="0"/>
          </a:p>
        </p:txBody>
      </p:sp>
      <p:sp>
        <p:nvSpPr>
          <p:cNvPr id="35" name="Shape 32"/>
          <p:cNvSpPr/>
          <p:nvPr/>
        </p:nvSpPr>
        <p:spPr>
          <a:xfrm>
            <a:off x="6720840" y="1993392"/>
            <a:ext cx="1783080" cy="530352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793992" y="2075688"/>
            <a:ext cx="1636776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Kualitas buah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+ transfer learning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8869680" y="1993392"/>
            <a:ext cx="1783080" cy="530352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942832" y="2075688"/>
            <a:ext cx="1636776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Retakan jalan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U-Net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6720840" y="2752344"/>
            <a:ext cx="1783080" cy="530352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793992" y="2834640"/>
            <a:ext cx="1636776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 mikroskopis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 R-CNN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8869680" y="2752344"/>
            <a:ext cx="1783080" cy="530352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8942832" y="2834640"/>
            <a:ext cx="1636776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6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Citra daun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6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+ fitur tekstur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720840" y="3511296"/>
            <a:ext cx="1783080" cy="530352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6793992" y="3593592"/>
            <a:ext cx="1636776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84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Objek limbah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C84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YOLO/SSD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8869680" y="3511296"/>
            <a:ext cx="1783080" cy="530352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8942832" y="3593592"/>
            <a:ext cx="1636776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5F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Area banjir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5B5F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+ deep learning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1005840" y="5897880"/>
            <a:ext cx="10241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Rubrik proposal: relevansi masalah 20%, novelty/gap 20%, metodologi 25%, evaluasi 15%, dampak 10%, komunikasi 10%.</a:t>
            </a:r>
            <a:endParaRPr lang="en-US" sz="12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mage_analysis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/mnt/data/unpad_logo_adwt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58368"/>
            <a:ext cx="694944" cy="6949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3040" y="850392"/>
            <a:ext cx="4389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EC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Analisis Image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13232" y="2057400"/>
            <a:ext cx="676656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Dari pixel menuju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keputusan berbasis citra</a:t>
            </a:r>
            <a:endParaRPr lang="en-US" sz="3800" dirty="0"/>
          </a:p>
        </p:txBody>
      </p:sp>
      <p:sp>
        <p:nvSpPr>
          <p:cNvPr id="9" name="Shape 5"/>
          <p:cNvSpPr/>
          <p:nvPr/>
        </p:nvSpPr>
        <p:spPr>
          <a:xfrm>
            <a:off x="749808" y="3547872"/>
            <a:ext cx="3044952" cy="0"/>
          </a:xfrm>
          <a:prstGeom prst="line">
            <a:avLst/>
          </a:prstGeom>
          <a:noFill/>
          <a:ln w="63500">
            <a:solidFill>
              <a:srgbClr val="F5822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58952" y="4069080"/>
            <a:ext cx="64922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E8F1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akhir bukan sekadar menjalankan model, tetapi membangun alur analisis citra yang terukur, dapat direplikasi, etis, dan komunikatif untuk menyelesaikan masalah nyata.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1064240" y="6355080"/>
            <a:ext cx="5486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D6E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1716</Words>
  <Application>Microsoft Macintosh PowerPoint</Application>
  <PresentationFormat>Widescreen</PresentationFormat>
  <Paragraphs>363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S2 Statistika Terapan FMIPA Universitas Padjadjaran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Image</dc:title>
  <dc:subject>Materi Pembelajaran Analisis Image</dc:subject>
  <dc:creator>OpenAI</dc:creator>
  <cp:lastModifiedBy>Mindra</cp:lastModifiedBy>
  <cp:revision>1</cp:revision>
  <dcterms:created xsi:type="dcterms:W3CDTF">2026-06-22T03:21:13Z</dcterms:created>
  <dcterms:modified xsi:type="dcterms:W3CDTF">2026-06-22T03:22:44Z</dcterms:modified>
</cp:coreProperties>
</file>