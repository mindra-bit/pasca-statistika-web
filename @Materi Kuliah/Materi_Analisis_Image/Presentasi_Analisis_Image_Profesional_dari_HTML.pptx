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9152a4bf7594214" /><Relationship Type="http://schemas.openxmlformats.org/officeDocument/2006/relationships/extended-properties" Target="/docProps/app.xml" Id="Rfef7bc2faa9843c9" /><Relationship Type="http://schemas.openxmlformats.org/officeDocument/2006/relationships/officeDocument" Target="/ppt/presentation.xml" Id="R7b360cc1a72a4e8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38e11a63334eb9"/>
  </p:sldMasterIdLst>
  <p:notesMasterIdLst>
    <p:notesMasterId xmlns:r="http://schemas.openxmlformats.org/officeDocument/2006/relationships" r:id="R246b51705db84210"/>
  </p:notesMasterIdLst>
  <p:sldIdLst>
    <p:sldId xmlns:r="http://schemas.openxmlformats.org/officeDocument/2006/relationships" id="256" r:id="R23569e599aff426e"/>
    <p:sldId xmlns:r="http://schemas.openxmlformats.org/officeDocument/2006/relationships" id="257" r:id="Rf112e4412cb74321"/>
    <p:sldId xmlns:r="http://schemas.openxmlformats.org/officeDocument/2006/relationships" id="258" r:id="R391a1979dea44cfa"/>
    <p:sldId xmlns:r="http://schemas.openxmlformats.org/officeDocument/2006/relationships" id="259" r:id="R496ddf50799441de"/>
    <p:sldId xmlns:r="http://schemas.openxmlformats.org/officeDocument/2006/relationships" id="260" r:id="R47d2018791c64ea9"/>
    <p:sldId xmlns:r="http://schemas.openxmlformats.org/officeDocument/2006/relationships" id="261" r:id="R116aec1927f54428"/>
    <p:sldId xmlns:r="http://schemas.openxmlformats.org/officeDocument/2006/relationships" id="262" r:id="R6bbdb8ebb0cc45c6"/>
    <p:sldId xmlns:r="http://schemas.openxmlformats.org/officeDocument/2006/relationships" id="263" r:id="R428394e28c954736"/>
    <p:sldId xmlns:r="http://schemas.openxmlformats.org/officeDocument/2006/relationships" id="264" r:id="R3a4c8512cc574132"/>
    <p:sldId xmlns:r="http://schemas.openxmlformats.org/officeDocument/2006/relationships" id="265" r:id="Rf49ff07bed854045"/>
    <p:sldId xmlns:r="http://schemas.openxmlformats.org/officeDocument/2006/relationships" id="266" r:id="Rc424b5e20ce44cf7"/>
    <p:sldId xmlns:r="http://schemas.openxmlformats.org/officeDocument/2006/relationships" id="267" r:id="R8d2cf5245d9a40c9"/>
    <p:sldId xmlns:r="http://schemas.openxmlformats.org/officeDocument/2006/relationships" id="268" r:id="Ra7e8a158e2e841e6"/>
    <p:sldId xmlns:r="http://schemas.openxmlformats.org/officeDocument/2006/relationships" id="269" r:id="R65de43aa85274c61"/>
    <p:sldId xmlns:r="http://schemas.openxmlformats.org/officeDocument/2006/relationships" id="270" r:id="R84548cdd06594c2e"/>
    <p:sldId xmlns:r="http://schemas.openxmlformats.org/officeDocument/2006/relationships" id="271" r:id="Rb4c88a9201b64a2f"/>
    <p:sldId xmlns:r="http://schemas.openxmlformats.org/officeDocument/2006/relationships" id="272" r:id="Ra358e804eaea4800"/>
    <p:sldId xmlns:r="http://schemas.openxmlformats.org/officeDocument/2006/relationships" id="273" r:id="R69198eb20f7142aa"/>
    <p:sldId xmlns:r="http://schemas.openxmlformats.org/officeDocument/2006/relationships" id="274" r:id="R9c0bdfc8afec4c11"/>
    <p:sldId xmlns:r="http://schemas.openxmlformats.org/officeDocument/2006/relationships" id="275" r:id="R487a224339f8426f"/>
    <p:sldId xmlns:r="http://schemas.openxmlformats.org/officeDocument/2006/relationships" id="276" r:id="R84fa5ab096bb48a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6abd0a1fd442f1" /><Relationship Type="http://schemas.openxmlformats.org/officeDocument/2006/relationships/slideMaster" Target="/ppt/slideMasters/slideMaster1.xml" Id="Rc838e11a63334eb9" /><Relationship Type="http://schemas.openxmlformats.org/officeDocument/2006/relationships/notesMaster" Target="/ppt/notesMasters/notesMaster1.xml" Id="R246b51705db84210" /><Relationship Type="http://schemas.openxmlformats.org/officeDocument/2006/relationships/presProps" Target="/ppt/presProps.xml" Id="R1c270f49c23a48fb" /><Relationship Type="http://schemas.openxmlformats.org/officeDocument/2006/relationships/tableStyles" Target="/ppt/tableStyles.xml" Id="Rcfd34a36bd7d41a5" /><Relationship Type="http://schemas.openxmlformats.org/officeDocument/2006/relationships/slide" Target="/ppt/slides/slide1.xml" Id="R23569e599aff426e" /><Relationship Type="http://schemas.openxmlformats.org/officeDocument/2006/relationships/slide" Target="/ppt/slides/slide2.xml" Id="Rf112e4412cb74321" /><Relationship Type="http://schemas.openxmlformats.org/officeDocument/2006/relationships/slide" Target="/ppt/slides/slide3.xml" Id="R391a1979dea44cfa" /><Relationship Type="http://schemas.openxmlformats.org/officeDocument/2006/relationships/slide" Target="/ppt/slides/slide4.xml" Id="R496ddf50799441de" /><Relationship Type="http://schemas.openxmlformats.org/officeDocument/2006/relationships/slide" Target="/ppt/slides/slide5.xml" Id="R47d2018791c64ea9" /><Relationship Type="http://schemas.openxmlformats.org/officeDocument/2006/relationships/slide" Target="/ppt/slides/slide6.xml" Id="R116aec1927f54428" /><Relationship Type="http://schemas.openxmlformats.org/officeDocument/2006/relationships/slide" Target="/ppt/slides/slide7.xml" Id="R6bbdb8ebb0cc45c6" /><Relationship Type="http://schemas.openxmlformats.org/officeDocument/2006/relationships/slide" Target="/ppt/slides/slide8.xml" Id="R428394e28c954736" /><Relationship Type="http://schemas.openxmlformats.org/officeDocument/2006/relationships/slide" Target="/ppt/slides/slide9.xml" Id="R3a4c8512cc574132" /><Relationship Type="http://schemas.openxmlformats.org/officeDocument/2006/relationships/slide" Target="/ppt/slides/slide10.xml" Id="Rf49ff07bed854045" /><Relationship Type="http://schemas.openxmlformats.org/officeDocument/2006/relationships/slide" Target="/ppt/slides/slide11.xml" Id="Rc424b5e20ce44cf7" /><Relationship Type="http://schemas.openxmlformats.org/officeDocument/2006/relationships/slide" Target="/ppt/slides/slide12.xml" Id="R8d2cf5245d9a40c9" /><Relationship Type="http://schemas.openxmlformats.org/officeDocument/2006/relationships/slide" Target="/ppt/slides/slide13.xml" Id="Ra7e8a158e2e841e6" /><Relationship Type="http://schemas.openxmlformats.org/officeDocument/2006/relationships/slide" Target="/ppt/slides/slide14.xml" Id="R65de43aa85274c61" /><Relationship Type="http://schemas.openxmlformats.org/officeDocument/2006/relationships/slide" Target="/ppt/slides/slide15.xml" Id="R84548cdd06594c2e" /><Relationship Type="http://schemas.openxmlformats.org/officeDocument/2006/relationships/slide" Target="/ppt/slides/slide16.xml" Id="Rb4c88a9201b64a2f" /><Relationship Type="http://schemas.openxmlformats.org/officeDocument/2006/relationships/slide" Target="/ppt/slides/slide17.xml" Id="Ra358e804eaea4800" /><Relationship Type="http://schemas.openxmlformats.org/officeDocument/2006/relationships/slide" Target="/ppt/slides/slide18.xml" Id="R69198eb20f7142aa" /><Relationship Type="http://schemas.openxmlformats.org/officeDocument/2006/relationships/slide" Target="/ppt/slides/slide19.xml" Id="R9c0bdfc8afec4c11" /><Relationship Type="http://schemas.openxmlformats.org/officeDocument/2006/relationships/slide" Target="/ppt/slides/slide20.xml" Id="R487a224339f8426f" /><Relationship Type="http://schemas.openxmlformats.org/officeDocument/2006/relationships/slide" Target="/ppt/slides/slide21.xml" Id="R84fa5ab096bb48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ee5dee3fb50407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9d9137f1c2a44b6" /><Relationship Type="http://schemas.openxmlformats.org/officeDocument/2006/relationships/notesMaster" Target="/ppt/notesMasters/notesMaster1.xml" Id="R7f2d4a397de748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6c18ee26d4a4dab" /><Relationship Type="http://schemas.openxmlformats.org/officeDocument/2006/relationships/notesMaster" Target="/ppt/notesMasters/notesMaster1.xml" Id="R897237836aff4b6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79aaaa3983e475a" /><Relationship Type="http://schemas.openxmlformats.org/officeDocument/2006/relationships/notesMaster" Target="/ppt/notesMasters/notesMaster1.xml" Id="Rd4cf330a8dbf4ce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2e967763b1a4404" /><Relationship Type="http://schemas.openxmlformats.org/officeDocument/2006/relationships/notesMaster" Target="/ppt/notesMasters/notesMaster1.xml" Id="Re664e0d6d9b84ff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6a7eacd4b924dd4" /><Relationship Type="http://schemas.openxmlformats.org/officeDocument/2006/relationships/notesMaster" Target="/ppt/notesMasters/notesMaster1.xml" Id="R4175a06ddca2477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5ab096a4184ab8" /><Relationship Type="http://schemas.openxmlformats.org/officeDocument/2006/relationships/notesMaster" Target="/ppt/notesMasters/notesMaster1.xml" Id="R171776c374a5468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9f4690e0d9e4037" /><Relationship Type="http://schemas.openxmlformats.org/officeDocument/2006/relationships/notesMaster" Target="/ppt/notesMasters/notesMaster1.xml" Id="R17cf3debcf2d49f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fa6513ac0e4eef" /><Relationship Type="http://schemas.openxmlformats.org/officeDocument/2006/relationships/notesMaster" Target="/ppt/notesMasters/notesMaster1.xml" Id="R2ba971d150f64b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a94691a85414fce" /><Relationship Type="http://schemas.openxmlformats.org/officeDocument/2006/relationships/notesMaster" Target="/ppt/notesMasters/notesMaster1.xml" Id="R8d0f1c69dbf145e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d86766887984334" /><Relationship Type="http://schemas.openxmlformats.org/officeDocument/2006/relationships/notesMaster" Target="/ppt/notesMasters/notesMaster1.xml" Id="R0ac851a9ca50482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d78d13ff93d4b0f" /><Relationship Type="http://schemas.openxmlformats.org/officeDocument/2006/relationships/notesMaster" Target="/ppt/notesMasters/notesMaster1.xml" Id="R649505906bfe425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a2dbf741e747e0" /><Relationship Type="http://schemas.openxmlformats.org/officeDocument/2006/relationships/notesMaster" Target="/ppt/notesMasters/notesMaster1.xml" Id="Rffbcbc2205d54d2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8b655298184844" /><Relationship Type="http://schemas.openxmlformats.org/officeDocument/2006/relationships/notesMaster" Target="/ppt/notesMasters/notesMaster1.xml" Id="R90c52d01a1c546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c3bb22336e4287" /><Relationship Type="http://schemas.openxmlformats.org/officeDocument/2006/relationships/notesMaster" Target="/ppt/notesMasters/notesMaster1.xml" Id="R50e1d581da8444e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9fcb62b93ecb45ef" /><Relationship Type="http://schemas.openxmlformats.org/officeDocument/2006/relationships/notesMaster" Target="/ppt/notesMasters/notesMaster1.xml" Id="Rf95505ef68f24c6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998317df24348cb" /><Relationship Type="http://schemas.openxmlformats.org/officeDocument/2006/relationships/notesMaster" Target="/ppt/notesMasters/notesMaster1.xml" Id="Rb209ac9d706f48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ab2c780d010459a" /><Relationship Type="http://schemas.openxmlformats.org/officeDocument/2006/relationships/notesMaster" Target="/ppt/notesMasters/notesMaster1.xml" Id="Rc738bf96d22d48e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3ba5af1cc18464d" /><Relationship Type="http://schemas.openxmlformats.org/officeDocument/2006/relationships/notesMaster" Target="/ppt/notesMasters/notesMaster1.xml" Id="R072886bb17bd4cd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8d7db3ff80341d8" /><Relationship Type="http://schemas.openxmlformats.org/officeDocument/2006/relationships/notesMaster" Target="/ppt/notesMasters/notesMaster1.xml" Id="R7f3da2e6ea574f0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7f0ac15c5cc4159" /><Relationship Type="http://schemas.openxmlformats.org/officeDocument/2006/relationships/notesMaster" Target="/ppt/notesMasters/notesMaster1.xml" Id="R2ce6decaae804c14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b50173fb18554f40" /><Relationship Type="http://schemas.openxmlformats.org/officeDocument/2006/relationships/notesMaster" Target="/ppt/notesMasters/notesMaster1.xml" Id="Re0f3a1982f84415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223a117956437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2c40356a544d0e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BLANK"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488013b394f4950" /><Relationship Type="http://schemas.openxmlformats.org/officeDocument/2006/relationships/slideLayout" Target="/ppt/slideLayouts/slideLayout1.xml" Id="R189789e8c4c045bf" /><Relationship Type="http://schemas.openxmlformats.org/officeDocument/2006/relationships/slideLayout" Target="/ppt/slideLayouts/slideLayout2.xml" Id="R22461b289830410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9789e8c4c045bf"/>
    <p:sldLayoutId xmlns:r="http://schemas.openxmlformats.org/officeDocument/2006/relationships" id="2147483650" r:id="R22461b2898304104"/>
  </p:sldLayoutIdLst>
  <p:hf sldNum="0" hdr="0" ftr="0" dt="0"/>
  <p:txStyles>
    <p:titleStyle>
      <a:lvl1pPr xmlns:a="http://schemas.openxmlformats.org/drawingml/2006/main"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9d67b0be898436b" /><Relationship Type="http://schemas.openxmlformats.org/officeDocument/2006/relationships/image" Target="/ppt/media/image.png" Id="R0dbb7f31c05540f8" /><Relationship Type="http://schemas.openxmlformats.org/officeDocument/2006/relationships/image" Target="/ppt/media/image2.png" Id="R5fd7b7ea72c94497" /><Relationship Type="http://schemas.openxmlformats.org/officeDocument/2006/relationships/notesSlide" Target="/ppt/notesSlides/notesSlide1.xml" Id="R1f4b568a738f45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1dc0fe45b534f08" /><Relationship Type="http://schemas.openxmlformats.org/officeDocument/2006/relationships/image" Target="/ppt/media/image2.png" Id="R8fd71510a64a422e" /><Relationship Type="http://schemas.openxmlformats.org/officeDocument/2006/relationships/notesSlide" Target="/ppt/notesSlides/notesSlide2.xml" Id="R214c77179d0247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846b41b4c54f1f" /><Relationship Type="http://schemas.openxmlformats.org/officeDocument/2006/relationships/image" Target="/ppt/media/image2.png" Id="R031e8d6b82b748d2" /><Relationship Type="http://schemas.openxmlformats.org/officeDocument/2006/relationships/notesSlide" Target="/ppt/notesSlides/notesSlide3.xml" Id="Rfc4779127c6a46d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68d48ed57b24a10" /><Relationship Type="http://schemas.openxmlformats.org/officeDocument/2006/relationships/image" Target="/ppt/media/image2.png" Id="Rb32879d465f74d60" /><Relationship Type="http://schemas.openxmlformats.org/officeDocument/2006/relationships/notesSlide" Target="/ppt/notesSlides/notesSlide4.xml" Id="R959d334a38384b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11ec74c8eaf4b2f" /><Relationship Type="http://schemas.openxmlformats.org/officeDocument/2006/relationships/image" Target="/ppt/media/image2.png" Id="Rb4c95b2fc1384220" /><Relationship Type="http://schemas.openxmlformats.org/officeDocument/2006/relationships/notesSlide" Target="/ppt/notesSlides/notesSlide5.xml" Id="Re5f5f73259c34ac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badf65e16054d88" /><Relationship Type="http://schemas.openxmlformats.org/officeDocument/2006/relationships/image" Target="/ppt/media/image2.png" Id="R2590eb60d5824dfe" /><Relationship Type="http://schemas.openxmlformats.org/officeDocument/2006/relationships/notesSlide" Target="/ppt/notesSlides/notesSlide6.xml" Id="R91eb583473c848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809a59d5ecc431e" /><Relationship Type="http://schemas.openxmlformats.org/officeDocument/2006/relationships/image" Target="/ppt/media/image2.png" Id="Re4deb67498334f13" /><Relationship Type="http://schemas.openxmlformats.org/officeDocument/2006/relationships/notesSlide" Target="/ppt/notesSlides/notesSlide7.xml" Id="R890b02d4d6f74c7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b3cb19ea8884b8f" /><Relationship Type="http://schemas.openxmlformats.org/officeDocument/2006/relationships/image" Target="/ppt/media/image2.png" Id="Rdff043dbe37843db" /><Relationship Type="http://schemas.openxmlformats.org/officeDocument/2006/relationships/notesSlide" Target="/ppt/notesSlides/notesSlide8.xml" Id="Re388f047ba95482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b5608214584914" /><Relationship Type="http://schemas.openxmlformats.org/officeDocument/2006/relationships/image" Target="/ppt/media/image2.png" Id="R9070270dfcc0463a" /><Relationship Type="http://schemas.openxmlformats.org/officeDocument/2006/relationships/notesSlide" Target="/ppt/notesSlides/notesSlide9.xml" Id="R3160c1959d39434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3db4f2053ba40fd" /><Relationship Type="http://schemas.openxmlformats.org/officeDocument/2006/relationships/image" Target="/ppt/media/image2.png" Id="R83e99ca925d04ddf" /><Relationship Type="http://schemas.openxmlformats.org/officeDocument/2006/relationships/notesSlide" Target="/ppt/notesSlides/notesSlide10.xml" Id="R73a5c6a63acd402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635b405db74801" /><Relationship Type="http://schemas.openxmlformats.org/officeDocument/2006/relationships/image" Target="/ppt/media/image2.png" Id="Rdd963981ea814c47" /><Relationship Type="http://schemas.openxmlformats.org/officeDocument/2006/relationships/notesSlide" Target="/ppt/notesSlides/notesSlide11.xml" Id="R8697154cfa234e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13bd787bff44b09" /><Relationship Type="http://schemas.openxmlformats.org/officeDocument/2006/relationships/image" Target="/ppt/media/image2.png" Id="R963a528e14e74f40" /><Relationship Type="http://schemas.openxmlformats.org/officeDocument/2006/relationships/notesSlide" Target="/ppt/notesSlides/notesSlide12.xml" Id="Raee1d9c9879a442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ad8fb1f7c84c3b" /><Relationship Type="http://schemas.openxmlformats.org/officeDocument/2006/relationships/image" Target="/ppt/media/image2.png" Id="R6c5d80ccb0004b31" /><Relationship Type="http://schemas.openxmlformats.org/officeDocument/2006/relationships/notesSlide" Target="/ppt/notesSlides/notesSlide13.xml" Id="Rb020cb908620493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3ac6797b154959" /><Relationship Type="http://schemas.openxmlformats.org/officeDocument/2006/relationships/image" Target="/ppt/media/image2.png" Id="Rb23199528505433d" /><Relationship Type="http://schemas.openxmlformats.org/officeDocument/2006/relationships/notesSlide" Target="/ppt/notesSlides/notesSlide14.xml" Id="Rdab4b30bef5042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4563ec41ec443b" /><Relationship Type="http://schemas.openxmlformats.org/officeDocument/2006/relationships/image" Target="/ppt/media/image2.png" Id="R52e9b6cae05d4eb0" /><Relationship Type="http://schemas.openxmlformats.org/officeDocument/2006/relationships/notesSlide" Target="/ppt/notesSlides/notesSlide15.xml" Id="R73b53bed9a994f8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22d394a6fe487e" /><Relationship Type="http://schemas.openxmlformats.org/officeDocument/2006/relationships/image" Target="/ppt/media/image2.png" Id="R4443e28ac4d04ba1" /><Relationship Type="http://schemas.openxmlformats.org/officeDocument/2006/relationships/notesSlide" Target="/ppt/notesSlides/notesSlide16.xml" Id="Rbadc448fb0b4403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383aa748c5542fe" /><Relationship Type="http://schemas.openxmlformats.org/officeDocument/2006/relationships/image" Target="/ppt/media/image2.png" Id="Ree1f7ac42a4c487b" /><Relationship Type="http://schemas.openxmlformats.org/officeDocument/2006/relationships/notesSlide" Target="/ppt/notesSlides/notesSlide17.xml" Id="Rb794f014ac8441a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1cad4be0834580" /><Relationship Type="http://schemas.openxmlformats.org/officeDocument/2006/relationships/image" Target="/ppt/media/image2.png" Id="R0d12464017444071" /><Relationship Type="http://schemas.openxmlformats.org/officeDocument/2006/relationships/notesSlide" Target="/ppt/notesSlides/notesSlide18.xml" Id="Rbaa80920b3604d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55db843ff54b5c" /><Relationship Type="http://schemas.openxmlformats.org/officeDocument/2006/relationships/image" Target="/ppt/media/image2.png" Id="R35d2c46be516413d" /><Relationship Type="http://schemas.openxmlformats.org/officeDocument/2006/relationships/notesSlide" Target="/ppt/notesSlides/notesSlide19.xml" Id="R53d3da5bee0c496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aaea91dd1d4cc8" /><Relationship Type="http://schemas.openxmlformats.org/officeDocument/2006/relationships/image" Target="/ppt/media/image2.png" Id="R097b8857788d4682" /><Relationship Type="http://schemas.openxmlformats.org/officeDocument/2006/relationships/notesSlide" Target="/ppt/notesSlides/notesSlide20.xml" Id="Rd0e0b85c4c604d4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31be971b3849bb" /><Relationship Type="http://schemas.openxmlformats.org/officeDocument/2006/relationships/image" Target="/ppt/media/image.png" Id="R28af0492fe474a54" /><Relationship Type="http://schemas.openxmlformats.org/officeDocument/2006/relationships/image" Target="/ppt/media/image2.png" Id="R78a8f9c309694044" /><Relationship Type="http://schemas.openxmlformats.org/officeDocument/2006/relationships/notesSlide" Target="/ppt/notesSlides/notesSlide21.xml" Id="R243643e147f048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bb7f31c05540f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48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2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7b7ea72c9449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1792" y="676656"/>
            <a:ext cx="713232" cy="713232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850392"/>
            <a:ext cx="56235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874520"/>
            <a:ext cx="63093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Analisis Image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364992"/>
            <a:ext cx="649224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" y="3840480"/>
            <a:ext cx="313639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4645152"/>
            <a:ext cx="758952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 materi: Dr. Anindya Apriliyanti Pravitasari, M.Si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Statistika Terapan FMIPA UNPAD</a:t>
            </a:r>
          </a:p>
          <a:p xmlns:a="http://schemas.openxmlformats.org/drawingml/2006/main">
            <a:pPr marL="0" indent="0" algn="l">
              <a:buNone/>
            </a:pPr>
            <a:r>
              <a:rPr sz="1350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Sumber: materi HTML mata kuliah</a:t>
            </a:r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344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Image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0384" y="4709160"/>
            <a:ext cx="1325880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5248" y="4782312"/>
            <a:ext cx="1216152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d71510a64a422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Analisis Image Penting?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1938528"/>
            <a:ext cx="553212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3152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Analisis citra digital telah menjadi salah satu jembatan paling menarik antara statistika, komputasi, kecerdasan buatan, dan kebutuhan pengambilan keputusan di dunia nyata.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944368"/>
            <a:ext cx="539496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image dan pendahuluan citra digital…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dan struktur convolutional pada data dan persoalan…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 xmlns:a="http://schemas.openxmlformats.org/drawingml/2006/main"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1993392"/>
            <a:ext cx="4343400" cy="29718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9712" y="2267712"/>
            <a:ext cx="329184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9537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635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788920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635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2862072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Industri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635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Remote sensing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410712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635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3483864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Biometrik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228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5B5FC7"/>
          </a:solidFill>
          <a:ln xmlns:a="http://schemas.openxmlformats.org/drawingml/2006/main" w="6350">
            <a:solidFill>
              <a:srgbClr val="5B5FC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714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Pertanian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032504"/>
            <a:ext cx="1572768" cy="292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635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664" y="4105656"/>
            <a:ext cx="14630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Sains data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1e8d6b82b748d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analisis image dan pendahuluan citra digital secara kritis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1984248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22402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2432304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2240280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dan struktur convolutional pada data dan persoalan terapan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53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848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0488" y="3566160"/>
            <a:ext cx="4983480" cy="11155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656" y="3822192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7376" y="4014216"/>
            <a:ext cx="502920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0608" y="3822192"/>
            <a:ext cx="370332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897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5349240"/>
            <a:ext cx="105156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7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2879d465f74d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938528"/>
            <a:ext cx="14173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093976"/>
            <a:ext cx="12710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1938528"/>
            <a:ext cx="96012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093976"/>
            <a:ext cx="81381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1938528"/>
            <a:ext cx="3154680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093976"/>
            <a:ext cx="3008376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1938528"/>
            <a:ext cx="5413248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355B"/>
          </a:solidFill>
          <a:ln xmlns:a="http://schemas.openxmlformats.org/drawingml/2006/main" w="6350">
            <a:solidFill>
              <a:srgbClr val="12355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093976"/>
            <a:ext cx="5266944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2441448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2560320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2441448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2560320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2441448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560320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2441448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2560320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Pendahuluan, Representasi dan, Operasi Dasar pada, Histogram dan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3227832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3346704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3227832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3346704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3227832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3346704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3227832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3346704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Filtering dan, Morfologi Citra, dan Struktur, Matematika CNN dan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014216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133088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014216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133088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014216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133088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014216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133088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Klasifikasi Citra, Segmentasi Citra, Object Detection, Identifikasi dan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4800600"/>
            <a:ext cx="14173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919472"/>
            <a:ext cx="12710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7672" y="4800600"/>
            <a:ext cx="96012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0824" y="4919472"/>
            <a:ext cx="81381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7792" y="4800600"/>
            <a:ext cx="31546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4919472"/>
            <a:ext cx="3008376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62472" y="4800600"/>
            <a:ext cx="5413248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508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624" y="4919472"/>
            <a:ext cx="5266944" cy="6217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Perancangan, Presentasi, Integrasi Konsep, Proyek Akhir dan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c95b2fc13842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Analisis Image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088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97180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144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452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760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076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068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3768" y="2450592"/>
            <a:ext cx="114300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2532888"/>
            <a:ext cx="996696" cy="8869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 xmlns:a="http://schemas.openxmlformats.org/drawingml/2006/main"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1024128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4645152"/>
            <a:ext cx="960120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938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5532120"/>
            <a:ext cx="100584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2355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90eb60d5824df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deb67498334f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Pendahuluan, Representasi dan, Operasi Dasar pada, Histogram dan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" y="1901952"/>
            <a:ext cx="2761488" cy="23317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11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584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056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8528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Shape 30">
            <a:extLst xmlns:a="http://schemas.openxmlformats.org/drawingml/2006/main"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139696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487168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2834640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182112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3472" y="3529584"/>
            <a:ext cx="310896" cy="310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2540">
            <a:solidFill>
              <a:srgbClr val="FFFFF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407408"/>
            <a:ext cx="205740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993392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112264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Analisis Citra Digital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2880360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2999232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Representasi dan Karakteristik…</a:t>
            </a:r>
          </a:p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3767328"/>
            <a:ext cx="324612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Text 45">
            <a:extLst xmlns:a="http://schemas.openxmlformats.org/drawingml/2006/main"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680" y="3886200"/>
            <a:ext cx="297180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Operasi Dasar pada Data Citra</a:t>
            </a:r>
          </a:p>
        </p:txBody>
      </p:sp>
      <p:sp>
        <p:nvSpPr>
          <p:cNvPr id="49" name="Shape 46">
            <a:extLst xmlns:a="http://schemas.openxmlformats.org/drawingml/2006/main"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2440" y="1965960"/>
            <a:ext cx="3063240" cy="25786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0" name="Text 47">
            <a:extLst xmlns:a="http://schemas.openxmlformats.org/drawingml/2006/main"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2267712"/>
            <a:ext cx="260604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2743200"/>
            <a:ext cx="2514600" cy="1371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100000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Analisis Citra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 dan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Operasi Dasar pada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Histogram dan Transformasi</a:t>
            </a:r>
          </a:p>
          <a:p xmlns:a="http://schemas.openxmlformats.org/drawingml/2006/main"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Filtering dan Konvolusi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043dbe37843d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Operasi Dasar pada, Histogram dan, Filtering dan, Morfologi Citra, dan Struktur, Matematika…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Operasi Dasar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operasi aljabar citra…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4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Histogram dan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histogram intensitas…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975104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2112264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Filtering dan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2139696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spatial filtering, mean…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8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Morfologi Citra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996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structuring element…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943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04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dan Struktur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472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deep learning untuk citra…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90672"/>
            <a:ext cx="3154680" cy="80467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4192" y="3227832"/>
            <a:ext cx="1170432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81905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Matematika CNN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9488" y="3255264"/>
            <a:ext cx="1600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Fokusnya adalah fungsi aktivasi…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g(i,j)=α f(i,j)+β, f_norm(i,j)=(f(i,j)-(f))/((f)-(f))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17720"/>
            <a:ext cx="480060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36592"/>
            <a:ext cx="45262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 B= (B̂)_z A\, A B= B_z A\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62356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70270dfcc046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901952"/>
            <a:ext cx="516636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020824"/>
            <a:ext cx="4892040" cy="49377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g(i,j)=Σ_u=-a^aΣ_v=-b^bw(u,v)f(i-u,j-v)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15468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26440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56616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367588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47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195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3977640"/>
            <a:ext cx="384048" cy="3840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3432" y="4087368"/>
            <a:ext cx="265176" cy="1463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96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553712"/>
            <a:ext cx="182880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Filtering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Fokusnya adalah…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1975104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Text 32">
            <a:extLst xmlns:a="http://schemas.openxmlformats.org/drawingml/2006/main"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057400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Morfologi Citra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Fokusnya adalah…</a:t>
            </a:r>
          </a:p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Text 34">
            <a:extLst xmlns:a="http://schemas.openxmlformats.org/drawingml/2006/main"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dan Struktur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Fokusnya adalah…</a:t>
            </a:r>
          </a:p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6528" y="2926080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Text 36">
            <a:extLst xmlns:a="http://schemas.openxmlformats.org/drawingml/2006/main"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008376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Matematika CNN dan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Fokusnya adalah…</a:t>
            </a:r>
          </a:p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088" y="3877056"/>
            <a:ext cx="2057400" cy="67665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3959352"/>
            <a:ext cx="1911096" cy="51206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Klasifikasi Citra</a:t>
            </a:r>
          </a:p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Fokusnya adalah…</a:t>
            </a:r>
          </a:p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559552"/>
            <a:ext cx="104698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e99ca925d04dd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34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31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 xmlns:a="http://schemas.openxmlformats.org/drawingml/2006/main"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752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958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Shape 21">
            <a:extLst xmlns:a="http://schemas.openxmlformats.org/drawingml/2006/main"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355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892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Shape 27">
            <a:extLst xmlns:a="http://schemas.openxmlformats.org/drawingml/2006/main"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379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 xmlns:a="http://schemas.openxmlformats.org/drawingml/2006/main"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Shape 33">
            <a:extLst xmlns:a="http://schemas.openxmlformats.org/drawingml/2006/main"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Shape 35">
            <a:extLst xmlns:a="http://schemas.openxmlformats.org/drawingml/2006/main"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006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Shape 37">
            <a:extLst xmlns:a="http://schemas.openxmlformats.org/drawingml/2006/main"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03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6B3F"/>
          </a:solidFill>
          <a:ln xmlns:a="http://schemas.openxmlformats.org/drawingml/2006/main" w="12700">
            <a:solidFill>
              <a:srgbClr val="006B3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1" name="Text 38">
            <a:extLst xmlns:a="http://schemas.openxmlformats.org/drawingml/2006/main"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 xmlns:a="http://schemas.openxmlformats.org/drawingml/2006/main"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834640"/>
            <a:ext cx="48463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78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423160"/>
            <a:ext cx="1234440" cy="84124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Shape 41">
            <a:extLst xmlns:a="http://schemas.openxmlformats.org/drawingml/2006/main"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54203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Shape 43">
            <a:extLst xmlns:a="http://schemas.openxmlformats.org/drawingml/2006/main"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7" name="Shape 44">
            <a:extLst xmlns:a="http://schemas.openxmlformats.org/drawingml/2006/main"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0304" y="272491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8" name="Shape 45">
            <a:extLst xmlns:a="http://schemas.openxmlformats.org/drawingml/2006/main"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272" y="2907792"/>
            <a:ext cx="182880" cy="1280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9" name="Text 46">
            <a:extLst xmlns:a="http://schemas.openxmlformats.org/drawingml/2006/main"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3355848"/>
            <a:ext cx="12344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 xmlns:a="http://schemas.openxmlformats.org/drawingml/2006/main"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160520"/>
            <a:ext cx="9738360" cy="10972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1" name="Text 48">
            <a:extLst xmlns:a="http://schemas.openxmlformats.org/drawingml/2006/main"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407408"/>
            <a:ext cx="173736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86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 xmlns:a="http://schemas.openxmlformats.org/drawingml/2006/main"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343400"/>
            <a:ext cx="6675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 xmlns:a="http://schemas.openxmlformats.org/drawingml/2006/main"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5532120"/>
            <a:ext cx="804672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4" name="Text 51">
            <a:extLst xmlns:a="http://schemas.openxmlformats.org/drawingml/2006/main"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650992"/>
            <a:ext cx="77724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θ^(t+1)=θ^(t)-_θ(θ), y=F(x,_i\)+x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1B998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963981ea814c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7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3a528e14e74f4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88820"/>
            <a:ext cx="960120" cy="1508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2364AA"/>
          </a:solidFill>
          <a:ln xmlns:a="http://schemas.openxmlformats.org/drawingml/2006/main" w="12700">
            <a:solidFill>
              <a:srgbClr val="2364A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78608"/>
            <a:ext cx="86868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08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7440" y="2171700"/>
            <a:ext cx="914400" cy="11430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160" y="2578608"/>
            <a:ext cx="82296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1568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1920" y="2295144"/>
            <a:ext cx="804672" cy="89611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7640" y="2578608"/>
            <a:ext cx="713232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2" y="2386584"/>
            <a:ext cx="694944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2392" y="2578608"/>
            <a:ext cx="603504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 xmlns:a="http://schemas.openxmlformats.org/drawingml/2006/main"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344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1696" y="2478024"/>
            <a:ext cx="566928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C537"/>
          </a:solidFill>
          <a:ln xmlns:a="http://schemas.openxmlformats.org/drawingml/2006/main" w="12700">
            <a:solidFill>
              <a:srgbClr val="F8C53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57416" y="2578608"/>
            <a:ext cx="47548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7803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8352" y="27432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53657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8704" y="2560320"/>
            <a:ext cx="932688" cy="3657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C8452D"/>
          </a:solidFill>
          <a:ln xmlns:a="http://schemas.openxmlformats.org/drawingml/2006/main" w="12700">
            <a:solidFill>
              <a:srgbClr val="C8452D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4424" y="2578608"/>
            <a:ext cx="84124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 xmlns:a="http://schemas.openxmlformats.org/drawingml/2006/main"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4370832"/>
            <a:ext cx="475488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568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240" y="4544568"/>
            <a:ext cx="219456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77593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70832"/>
            <a:ext cx="4663440" cy="10515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617720"/>
            <a:ext cx="1645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236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544568"/>
            <a:ext cx="214884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762" tIns="762" rIns="762" bIns="762" anchor="ctr">
            <a:normAutofit fontScale="96991"/>
          </a:bodyPr>
          <a:lstStyle xmlns:a="http://schemas.openxmlformats.org/drawingml/2006/main"/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 xmlns:a="http://schemas.openxmlformats.org/drawingml/2006/main"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5d80ccb0004b3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Klasifikasi Citra, Segmentasi Citra, Object Detection, Identifikasi dan, Perancangan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84832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Accuracy=(TP+TN)/(TP+FP+FN+TN), F_1=(2· Precision·…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770632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89504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IoU(B_p,B_g)=(|B_p B_g|)/(|B_p B_g|)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75304"/>
            <a:ext cx="35661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4176"/>
            <a:ext cx="32918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8454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Riset\;kuat = Masalah\;jelas + Data\;layak + Metode\;tepat…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Klasifikasi Citra dengan CNN dan Metode…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1920240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002536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Segmentasi Citra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Object Detection dan Advanced…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9560" y="2761488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2712" y="2843784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Identifikasi dan Analisis Gap Riset…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3480" y="3602736"/>
            <a:ext cx="246888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6632" y="3685032"/>
            <a:ext cx="232257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Perancangan Proposal Riset Analisis…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166360"/>
            <a:ext cx="9966960" cy="65836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5376672"/>
            <a:ext cx="937260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5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319952850543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9851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e9b6cae05d4e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206240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440" y="2331720"/>
            <a:ext cx="3337560" cy="21031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DDECF2"/>
          </a:solidFill>
          <a:ln xmlns:a="http://schemas.openxmlformats.org/drawingml/2006/main" w="12700">
            <a:solidFill>
              <a:srgbClr val="DDECF2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2697480"/>
            <a:ext cx="1143000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784" y="2505456"/>
            <a:ext cx="10058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999232"/>
            <a:ext cx="960120" cy="6583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38100">
            <a:solidFill>
              <a:srgbClr val="1B998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0944" y="2798064"/>
            <a:ext cx="9144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7009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 xmlns:a="http://schemas.openxmlformats.org/drawingml/2006/main"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Segmentasi Citra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1993392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075688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Object Detection dan Advanced…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Identifikasi dan Analisis Gap Riset…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2834640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916936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Perancangan Proposal Riset Analisis…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815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Presentasi Proposal Riset dan Peer…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3675888"/>
            <a:ext cx="214884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58184"/>
            <a:ext cx="2002536" cy="4297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Konsep dan Studi Kasus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44068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309360"/>
            <a:ext cx="12191695" cy="548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3e28ac4d04ba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6928" y="530352"/>
            <a:ext cx="566928" cy="566928"/>
          </a:xfrm>
          <a:prstGeom xmlns:a="http://schemas.openxmlformats.org/drawingml/2006/main" prst="rect">
            <a:avLst/>
          </a:prstGeom>
        </p:spPr>
      </p:pic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872" y="621792"/>
            <a:ext cx="676656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267712"/>
            <a:ext cx="896112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6329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 xmlns:a="http://schemas.openxmlformats.org/drawingml/2006/main"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03320"/>
            <a:ext cx="3182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1f7ac42a4c48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57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5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246401744407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93852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02082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02082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37744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45973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45973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1635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289864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289864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55264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337560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337560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694176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776472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3776472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133088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215384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215384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4654296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4654296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10912"/>
            <a:ext cx="5486400" cy="310896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635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5093208"/>
            <a:ext cx="4297680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248" y="5093208"/>
            <a:ext cx="512064" cy="1280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4508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Object Detection dan Advanced…</a:t>
            </a:r>
          </a:p>
        </p:txBody>
      </p:sp>
      <p:sp>
        <p:nvSpPr>
          <p:cNvPr id="37" name="Shape 34">
            <a:extLst xmlns:a="http://schemas.openxmlformats.org/drawingml/2006/main"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1993392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075688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Identifikasi dan Analisis Gap…</a:t>
            </a:r>
          </a:p>
        </p:txBody>
      </p:sp>
      <p:sp>
        <p:nvSpPr>
          <p:cNvPr id="39" name="Shape 36">
            <a:extLst xmlns:a="http://schemas.openxmlformats.org/drawingml/2006/main"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0" name="Text 37">
            <a:extLst xmlns:a="http://schemas.openxmlformats.org/drawingml/2006/main"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Perancangan Proposal Riset…</a:t>
            </a:r>
          </a:p>
        </p:txBody>
      </p:sp>
      <p:sp>
        <p:nvSpPr>
          <p:cNvPr id="41" name="Shape 38">
            <a:extLst xmlns:a="http://schemas.openxmlformats.org/drawingml/2006/main"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2752344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2" name="Text 39">
            <a:extLst xmlns:a="http://schemas.openxmlformats.org/drawingml/2006/main"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2834640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Presentasi Proposal Riset dan Peer…</a:t>
            </a:r>
          </a:p>
        </p:txBody>
      </p:sp>
      <p:sp>
        <p:nvSpPr>
          <p:cNvPr id="43" name="Shape 40">
            <a:extLst xmlns:a="http://schemas.openxmlformats.org/drawingml/2006/main"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084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4" name="Text 41">
            <a:extLst xmlns:a="http://schemas.openxmlformats.org/drawingml/2006/main"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399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Integrasi Konsep dan Studi Kasus</a:t>
            </a:r>
          </a:p>
        </p:txBody>
      </p:sp>
      <p:sp>
        <p:nvSpPr>
          <p:cNvPr id="45" name="Shape 42">
            <a:extLst xmlns:a="http://schemas.openxmlformats.org/drawingml/2006/main"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9680" y="3511296"/>
            <a:ext cx="1783080" cy="53035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6" name="Text 43">
            <a:extLst xmlns:a="http://schemas.openxmlformats.org/drawingml/2006/main"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2832" y="3593592"/>
            <a:ext cx="1636776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Proyek Akhir dan Presentasi</a:t>
            </a:r>
          </a:p>
        </p:txBody>
      </p:sp>
      <p:sp>
        <p:nvSpPr>
          <p:cNvPr id="47" name="Text 44">
            <a:extLst xmlns:a="http://schemas.openxmlformats.org/drawingml/2006/main"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897880"/>
            <a:ext cx="102412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31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2c46be51641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Analisis…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Representasi dan…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97510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205740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Filtering dan Konvolusi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38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Matematika CNN dan…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655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970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Segmentasi Citra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3026664"/>
            <a:ext cx="3063240" cy="713232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3024" y="3108960"/>
            <a:ext cx="2916936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 xmlns:a="http://schemas.openxmlformats.org/drawingml/2006/main"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Konsep dan…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8708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 xmlns:a="http://schemas.openxmlformats.org/drawingml/2006/main"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2240" y="4572000"/>
            <a:ext cx="4480560" cy="5943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B9C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90872"/>
            <a:ext cx="4206240" cy="37490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ctr">
            <a:normAutofit fontScale="92294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5532120"/>
            <a:ext cx="1014984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hape 0">
            <a:extLst xmlns:a="http://schemas.openxmlformats.org/drawingml/2006/main"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011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Shape 1">
            <a:extLst xmlns:a="http://schemas.openxmlformats.org/drawingml/2006/main"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01168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7b8857788d46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84048" y="393192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9768"/>
            <a:ext cx="694944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868680"/>
            <a:ext cx="937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1325880"/>
            <a:ext cx="8961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682496"/>
            <a:ext cx="1118311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D6E4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664" y="6327648"/>
            <a:ext cx="548640" cy="2194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064" y="6419088"/>
            <a:ext cx="6217920" cy="210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Analisis Image | Sumber HTML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Informasi…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Informasi visual apa yang…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Apakah…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Apakah perbedaan visual…</a:t>
            </a:r>
          </a:p>
        </p:txBody>
      </p:sp>
      <p:sp>
        <p:nvSpPr>
          <p:cNvPr id="17" name="Shape 14">
            <a:extLst xmlns:a="http://schemas.openxmlformats.org/drawingml/2006/main"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Transformasi…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Transformasi apa yang paling…</a:t>
            </a:r>
          </a:p>
        </p:txBody>
      </p:sp>
      <p:sp>
        <p:nvSpPr>
          <p:cNvPr id="20" name="Shape 17">
            <a:extLst xmlns:a="http://schemas.openxmlformats.org/drawingml/2006/main"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1920240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066544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 cara…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2313432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cara mengevaluasi…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Apa risiko bias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data, bias…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6432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3592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 xmlns:a="http://schemas.openxmlformats.org/drawingml/2006/main"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2784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FF4E8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 xmlns:a="http://schemas.openxmlformats.org/drawingml/2006/main"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9944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 xmlns:a="http://schemas.openxmlformats.org/drawingml/2006/main"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9136" y="2944368"/>
            <a:ext cx="2423160" cy="749808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EEF5F6"/>
          </a:solidFill>
          <a:ln xmlns:a="http://schemas.openxmlformats.org/drawingml/2006/main" w="12700">
            <a:solidFill>
              <a:srgbClr val="D7E2E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090672"/>
            <a:ext cx="2148840" cy="1645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0819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296" y="3337560"/>
            <a:ext cx="2148840" cy="155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 xmlns:a="http://schemas.openxmlformats.org/drawingml/2006/main"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4754880"/>
            <a:ext cx="9921240" cy="786384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F36"/>
          </a:solidFill>
          <a:ln xmlns:a="http://schemas.openxmlformats.org/drawingml/2006/main" w="12700">
            <a:solidFill>
              <a:srgbClr val="0B1F3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6" name="Text 33">
            <a:extLst xmlns:a="http://schemas.openxmlformats.org/drawingml/2006/main"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029200"/>
            <a:ext cx="9281160" cy="292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92802"/>
          </a:bodyPr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af0492fe474a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36000"/>
            </a:srgbClr>
          </a:solidFill>
          <a:ln xmlns:a="http://schemas.openxmlformats.org/drawingml/2006/main" w="1270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hape 1">
            <a:extLst xmlns:a="http://schemas.openxmlformats.org/drawingml/2006/main"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2560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8220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56032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998B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18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a8f9c30969404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" y="658368"/>
            <a:ext cx="694944" cy="694944"/>
          </a:xfrm>
          <a:prstGeom xmlns:a="http://schemas.openxmlformats.org/drawingml/2006/main" prst="rect">
            <a:avLst/>
          </a:prstGeom>
        </p:spPr>
      </p:pic>
      <p:sp>
        <p:nvSpPr>
          <p:cNvPr id="7" name="Text 3">
            <a:extLst xmlns:a="http://schemas.openxmlformats.org/drawingml/2006/main"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850392"/>
            <a:ext cx="43891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Analisis Image</a:t>
            </a:r>
          </a:p>
        </p:txBody>
      </p:sp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" y="2057400"/>
            <a:ext cx="676656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 xmlns:a="http://schemas.openxmlformats.org/drawingml/2006/main"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" y="3547872"/>
            <a:ext cx="3044952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63500">
            <a:solidFill>
              <a:srgbClr val="F58220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952" y="4069080"/>
            <a:ext cx="64922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Analisis Image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0" y="6355080"/>
            <a:ext cx="54864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635" tIns="635" rIns="635" bIns="635" anchor="t">
            <a:normAutofit fontScale="100000"/>
          </a:bodyPr>
          <a:lstStyle xmlns:a="http://schemas.openxmlformats.org/drawingml/2006/main"/>
          <a:p xmlns:a="http://schemas.openxmlformats.org/drawingml/2006/main"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2026-06-22T07:44:34.9990000Z</dcterms:created>
  <dcterms:modified xsi:type="dcterms:W3CDTF">2026-06-22T07:44:34.9990000Z</dcterms:modified>
</coreProperties>
</file>