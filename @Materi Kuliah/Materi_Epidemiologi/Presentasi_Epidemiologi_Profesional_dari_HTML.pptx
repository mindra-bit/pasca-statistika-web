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75"/>
  </p:normalViewPr>
  <p:slideViewPr>
    <p:cSldViewPr snapToGrid="0">
      <p:cViewPr varScale="1">
        <p:scale>
          <a:sx n="114" d="100"/>
          <a:sy n="114" d="100"/>
        </p:scale>
        <p:origin x="560" y="-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>
        <a:spcBef>
          <a:spcPts val="0"/>
        </a:spcBef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>
        <a:spcBef>
          <a:spcPts val="0"/>
        </a:spcBef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spcBef>
          <a:spcPts val="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spcBef>
          <a:spcPts val="0"/>
        </a:spcBef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spcBef>
          <a:spcPts val="0"/>
        </a:spcBef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spcBef>
          <a:spcPts val="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03CCFC52-29D0-4B2B-B0C6-702D3A97682F}"/>
              </a:ext>
            </a:extLst>
          </p:cNvPr>
          <p:cNvSpPr>
            <a:spLocks noGrp="1"/>
          </p:cNvSpPr>
          <p:nvPr/>
        </p:nvSpPr>
        <p:spPr>
          <a:xfrm>
            <a:off x="0" y="292608"/>
            <a:ext cx="12191695" cy="6858000"/>
          </a:xfrm>
          <a:prstGeom prst="rect">
            <a:avLst/>
          </a:prstGeom>
          <a:solidFill>
            <a:srgbClr val="000000">
              <a:alpha val="48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082CB3EA-73F5-4734-9957-7FC337AE33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7565DFE0-9A05-44D0-AC6A-307554BA34D9}"/>
              </a:ext>
            </a:extLst>
          </p:cNvPr>
          <p:cNvSpPr>
            <a:spLocks noGrp="1"/>
          </p:cNvSpPr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23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" y="676656"/>
            <a:ext cx="713232" cy="713232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E57244F0-7EDC-4115-8F15-93A0613DA5E0}"/>
              </a:ext>
            </a:extLst>
          </p:cNvPr>
          <p:cNvSpPr>
            <a:spLocks noGrp="1"/>
          </p:cNvSpPr>
          <p:nvPr/>
        </p:nvSpPr>
        <p:spPr>
          <a:xfrm>
            <a:off x="1481328" y="850392"/>
            <a:ext cx="5623560" cy="2743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CCE5F019-A97F-4FC9-8A7F-0D59946114CF}"/>
              </a:ext>
            </a:extLst>
          </p:cNvPr>
          <p:cNvSpPr>
            <a:spLocks noGrp="1"/>
          </p:cNvSpPr>
          <p:nvPr/>
        </p:nvSpPr>
        <p:spPr>
          <a:xfrm>
            <a:off x="658368" y="1874520"/>
            <a:ext cx="6309360" cy="12344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4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Epidemiologi</a:t>
            </a:r>
          </a:p>
        </p:txBody>
      </p:sp>
      <p:sp>
        <p:nvSpPr>
          <p:cNvPr id="9" name="Text 5">
            <a:extLst>
              <a:ext uri="{FF2B5EF4-FFF2-40B4-BE49-F238E27FC236}">
                <a16:creationId xmlns:a16="http://schemas.microsoft.com/office/drawing/2014/main" id="{D8253394-2F18-46A0-9DC3-02FE96C13EFF}"/>
              </a:ext>
            </a:extLst>
          </p:cNvPr>
          <p:cNvSpPr>
            <a:spLocks noGrp="1"/>
          </p:cNvSpPr>
          <p:nvPr/>
        </p:nvSpPr>
        <p:spPr>
          <a:xfrm>
            <a:off x="704088" y="3364992"/>
            <a:ext cx="649224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500">
                <a:solidFill>
                  <a:srgbClr val="D6E4EA"/>
                </a:solidFill>
                <a:latin typeface="Aptos"/>
                <a:ea typeface="Aptos"/>
                <a:cs typeface="Aptos"/>
              </a:rPr>
              <a:t>Deck pembelajaran profesional berbasis materi HTML mata kuliah</a:t>
            </a:r>
          </a:p>
        </p:txBody>
      </p:sp>
      <p:sp>
        <p:nvSpPr>
          <p:cNvPr id="10" name="Shape 6">
            <a:extLst>
              <a:ext uri="{FF2B5EF4-FFF2-40B4-BE49-F238E27FC236}">
                <a16:creationId xmlns:a16="http://schemas.microsoft.com/office/drawing/2014/main" id="{95BC0897-9614-4ABE-843F-45659272128F}"/>
              </a:ext>
            </a:extLst>
          </p:cNvPr>
          <p:cNvSpPr>
            <a:spLocks noGrp="1"/>
          </p:cNvSpPr>
          <p:nvPr/>
        </p:nvSpPr>
        <p:spPr>
          <a:xfrm>
            <a:off x="704088" y="3840480"/>
            <a:ext cx="3136392" cy="0"/>
          </a:xfrm>
          <a:prstGeom prst="line">
            <a:avLst/>
          </a:prstGeom>
          <a:noFill/>
          <a:ln w="635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022DC2D-7AD8-4EB4-B64B-DF3D7A8D1659}"/>
              </a:ext>
            </a:extLst>
          </p:cNvPr>
          <p:cNvSpPr>
            <a:spLocks noGrp="1"/>
          </p:cNvSpPr>
          <p:nvPr/>
        </p:nvSpPr>
        <p:spPr>
          <a:xfrm>
            <a:off x="726948" y="5001768"/>
            <a:ext cx="7589520" cy="7772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Penulis</a:t>
            </a: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materi</a:t>
            </a: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: I Gede Nyoman Mindra Jaya, </a:t>
            </a: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Ph.D</a:t>
            </a:r>
            <a:endParaRPr sz="1350" dirty="0">
              <a:solidFill>
                <a:srgbClr val="EFF7FA"/>
              </a:solidFill>
              <a:latin typeface="Aptos"/>
              <a:ea typeface="Aptos"/>
              <a:cs typeface="Aptos"/>
            </a:endParaRPr>
          </a:p>
          <a:p>
            <a:pPr marL="0" indent="0" algn="l">
              <a:buNone/>
            </a:pP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Program: S2 </a:t>
            </a: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Statistika</a:t>
            </a: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Terapan</a:t>
            </a: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 FMIPA UNPAD</a:t>
            </a:r>
          </a:p>
          <a:p>
            <a:pPr marL="0" indent="0" algn="l">
              <a:buNone/>
            </a:pP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Sumber</a:t>
            </a: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: </a:t>
            </a: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materi</a:t>
            </a: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 HTML </a:t>
            </a: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mata</a:t>
            </a:r>
            <a:r>
              <a:rPr sz="1350" dirty="0">
                <a:solidFill>
                  <a:srgbClr val="EFF7FA"/>
                </a:solidFill>
                <a:latin typeface="Aptos"/>
                <a:ea typeface="Aptos"/>
                <a:cs typeface="Aptos"/>
              </a:rPr>
              <a:t> </a:t>
            </a:r>
            <a:r>
              <a:rPr sz="1350" dirty="0" err="1">
                <a:solidFill>
                  <a:srgbClr val="EFF7FA"/>
                </a:solidFill>
                <a:latin typeface="Aptos"/>
                <a:ea typeface="Aptos"/>
                <a:cs typeface="Aptos"/>
              </a:rPr>
              <a:t>kuliah</a:t>
            </a:r>
            <a:endParaRPr sz="1350" dirty="0">
              <a:solidFill>
                <a:srgbClr val="EFF7FA"/>
              </a:solidFill>
              <a:latin typeface="Aptos"/>
              <a:ea typeface="Aptos"/>
              <a:cs typeface="Aptos"/>
            </a:endParaRPr>
          </a:p>
        </p:txBody>
      </p:sp>
      <p:sp>
        <p:nvSpPr>
          <p:cNvPr id="12" name="Shape 8">
            <a:extLst>
              <a:ext uri="{FF2B5EF4-FFF2-40B4-BE49-F238E27FC236}">
                <a16:creationId xmlns:a16="http://schemas.microsoft.com/office/drawing/2014/main" id="{787180B1-BFE6-4902-BC9D-A5780F02CA55}"/>
              </a:ext>
            </a:extLst>
          </p:cNvPr>
          <p:cNvSpPr>
            <a:spLocks noGrp="1"/>
          </p:cNvSpPr>
          <p:nvPr/>
        </p:nvSpPr>
        <p:spPr>
          <a:xfrm>
            <a:off x="8412480" y="4709160"/>
            <a:ext cx="1325880" cy="292608"/>
          </a:xfrm>
          <a:prstGeom prst="roundRect">
            <a:avLst/>
          </a:prstGeom>
          <a:solidFill>
            <a:srgbClr val="2364AA"/>
          </a:solidFill>
          <a:ln w="6350">
            <a:solidFill>
              <a:srgbClr val="2364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9">
            <a:extLst>
              <a:ext uri="{FF2B5EF4-FFF2-40B4-BE49-F238E27FC236}">
                <a16:creationId xmlns:a16="http://schemas.microsoft.com/office/drawing/2014/main" id="{069EAD68-AB04-4A53-B3AD-33C930ACDB7B}"/>
              </a:ext>
            </a:extLst>
          </p:cNvPr>
          <p:cNvSpPr>
            <a:spLocks noGrp="1"/>
          </p:cNvSpPr>
          <p:nvPr/>
        </p:nvSpPr>
        <p:spPr>
          <a:xfrm>
            <a:off x="8467344" y="4782312"/>
            <a:ext cx="121615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Epidemiologi</a:t>
            </a:r>
          </a:p>
        </p:txBody>
      </p:sp>
      <p:sp>
        <p:nvSpPr>
          <p:cNvPr id="14" name="Shape 10">
            <a:extLst>
              <a:ext uri="{FF2B5EF4-FFF2-40B4-BE49-F238E27FC236}">
                <a16:creationId xmlns:a16="http://schemas.microsoft.com/office/drawing/2014/main" id="{A67990FB-7B51-4145-A6C2-944953BA49BB}"/>
              </a:ext>
            </a:extLst>
          </p:cNvPr>
          <p:cNvSpPr>
            <a:spLocks noGrp="1"/>
          </p:cNvSpPr>
          <p:nvPr/>
        </p:nvSpPr>
        <p:spPr>
          <a:xfrm>
            <a:off x="9930384" y="4709160"/>
            <a:ext cx="1325880" cy="292608"/>
          </a:xfrm>
          <a:prstGeom prst="roundRect">
            <a:avLst/>
          </a:prstGeom>
          <a:solidFill>
            <a:srgbClr val="1B998B"/>
          </a:solidFill>
          <a:ln w="6350">
            <a:solidFill>
              <a:srgbClr val="1B99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5DCD49DE-10D0-4DC9-9FBF-E58EAD9AA894}"/>
              </a:ext>
            </a:extLst>
          </p:cNvPr>
          <p:cNvSpPr>
            <a:spLocks noGrp="1"/>
          </p:cNvSpPr>
          <p:nvPr/>
        </p:nvSpPr>
        <p:spPr>
          <a:xfrm>
            <a:off x="9985248" y="4782312"/>
            <a:ext cx="1216152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Terapan</a:t>
            </a:r>
          </a:p>
        </p:txBody>
      </p:sp>
      <p:sp>
        <p:nvSpPr>
          <p:cNvPr id="16" name="Text 12">
            <a:extLst>
              <a:ext uri="{FF2B5EF4-FFF2-40B4-BE49-F238E27FC236}">
                <a16:creationId xmlns:a16="http://schemas.microsoft.com/office/drawing/2014/main" id="{A6FBE0FA-08D3-4EA2-A730-21E2788DD967}"/>
              </a:ext>
            </a:extLst>
          </p:cNvPr>
          <p:cNvSpPr>
            <a:spLocks noGrp="1"/>
          </p:cNvSpPr>
          <p:nvPr/>
        </p:nvSpPr>
        <p:spPr>
          <a:xfrm>
            <a:off x="11064240" y="6355080"/>
            <a:ext cx="548640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9508540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179F762-93FE-4B75-9AEA-4EE71342C6D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AEC3692-6480-4202-8B8F-071A0FF999B5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0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9ED73F2B-C950-4C94-A5AA-0DE879F0F748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D79208EC-8DD8-4FAF-830D-BAAD08F9C1DA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Mengapa Epidemiologi Penting?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371FF16D-61A3-40B8-93A7-21E64032B2F3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Peran mata kuliah dalam statistika terapan, komputasi, riset, dan pengambilan keputusan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1351A25-941C-49D5-AC28-B8757D8637BD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40024BA-3953-40EA-81DB-A8A86CE49D1F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600F534B-6ADE-46C8-9537-485107EE4E5C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C5EC4388-2145-43EB-BC97-8CCBAA2A1504}"/>
              </a:ext>
            </a:extLst>
          </p:cNvPr>
          <p:cNvSpPr>
            <a:spLocks noGrp="1"/>
          </p:cNvSpPr>
          <p:nvPr/>
        </p:nvSpPr>
        <p:spPr>
          <a:xfrm>
            <a:off x="621792" y="1938528"/>
            <a:ext cx="5532120" cy="82296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82402"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Epidemiologi adalah bahasa kerja untuk memahami mengapa penyakit muncul, bagaimana penyakit menyebar, siapa yang paling berisiko, kapan intervensi perlu dilakukan, dan…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384F6C0C-8306-48D8-8FB8-753B24CF2A60}"/>
              </a:ext>
            </a:extLst>
          </p:cNvPr>
          <p:cNvSpPr>
            <a:spLocks noGrp="1"/>
          </p:cNvSpPr>
          <p:nvPr/>
        </p:nvSpPr>
        <p:spPr>
          <a:xfrm>
            <a:off x="658368" y="2944368"/>
            <a:ext cx="5394960" cy="20574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epidemiologi dan pendahuluan epidemiologi secara…</a:t>
            </a:r>
          </a:p>
          <a:p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data surveilans dan pada data dan persoalan terapan</a:t>
            </a:r>
          </a:p>
          <a:p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  <a:p>
            <a:pPr marL="190500" indent="-190500">
              <a:buChar char="•"/>
            </a:pPr>
            <a:r>
              <a:rPr sz="130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 model melalui asumsi, validasi, dan diagnostik yang…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F194D75A-7A64-4250-AA27-39E4796B7E5B}"/>
              </a:ext>
            </a:extLst>
          </p:cNvPr>
          <p:cNvSpPr>
            <a:spLocks noGrp="1"/>
          </p:cNvSpPr>
          <p:nvPr/>
        </p:nvSpPr>
        <p:spPr>
          <a:xfrm>
            <a:off x="6537960" y="1993392"/>
            <a:ext cx="4343400" cy="297180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E1CCF099-E33B-421B-A556-3F7C44D94AAA}"/>
              </a:ext>
            </a:extLst>
          </p:cNvPr>
          <p:cNvSpPr>
            <a:spLocks noGrp="1"/>
          </p:cNvSpPr>
          <p:nvPr/>
        </p:nvSpPr>
        <p:spPr>
          <a:xfrm>
            <a:off x="6839712" y="2267712"/>
            <a:ext cx="3291840" cy="2743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9537"/>
          </a:bodyPr>
          <a:lstStyle/>
          <a:p>
            <a:pPr marL="0" indent="0" algn="l">
              <a:buNone/>
            </a:pPr>
            <a:r>
              <a:rPr sz="18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Domain Aplikasi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05F494D5-93D0-4477-994D-9AC21F5BB14B}"/>
              </a:ext>
            </a:extLst>
          </p:cNvPr>
          <p:cNvSpPr>
            <a:spLocks noGrp="1"/>
          </p:cNvSpPr>
          <p:nvPr/>
        </p:nvSpPr>
        <p:spPr>
          <a:xfrm>
            <a:off x="6812280" y="2788920"/>
            <a:ext cx="1572768" cy="292608"/>
          </a:xfrm>
          <a:prstGeom prst="roundRect">
            <a:avLst/>
          </a:prstGeom>
          <a:solidFill>
            <a:srgbClr val="C8452D"/>
          </a:solidFill>
          <a:ln w="6350">
            <a:solidFill>
              <a:srgbClr val="C8452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FDA8B61-F616-4F05-AE5F-194A0E2CE458}"/>
              </a:ext>
            </a:extLst>
          </p:cNvPr>
          <p:cNvSpPr>
            <a:spLocks noGrp="1"/>
          </p:cNvSpPr>
          <p:nvPr/>
        </p:nvSpPr>
        <p:spPr>
          <a:xfrm>
            <a:off x="6867144" y="286207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Kesehatan publik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EE97AF0F-C4C9-40D2-8033-5D53E5E16B79}"/>
              </a:ext>
            </a:extLst>
          </p:cNvPr>
          <p:cNvSpPr>
            <a:spLocks noGrp="1"/>
          </p:cNvSpPr>
          <p:nvPr/>
        </p:nvSpPr>
        <p:spPr>
          <a:xfrm>
            <a:off x="8686800" y="2788920"/>
            <a:ext cx="1572768" cy="292608"/>
          </a:xfrm>
          <a:prstGeom prst="roundRect">
            <a:avLst/>
          </a:prstGeom>
          <a:solidFill>
            <a:srgbClr val="006B3F"/>
          </a:solidFill>
          <a:ln w="6350">
            <a:solidFill>
              <a:srgbClr val="006B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020A9426-3FC1-4F55-855F-EC2A07F56140}"/>
              </a:ext>
            </a:extLst>
          </p:cNvPr>
          <p:cNvSpPr>
            <a:spLocks noGrp="1"/>
          </p:cNvSpPr>
          <p:nvPr/>
        </p:nvSpPr>
        <p:spPr>
          <a:xfrm>
            <a:off x="8741664" y="2862072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Surveilans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190EC18-869E-48BB-A688-E5DEFE3CEE6D}"/>
              </a:ext>
            </a:extLst>
          </p:cNvPr>
          <p:cNvSpPr>
            <a:spLocks noGrp="1"/>
          </p:cNvSpPr>
          <p:nvPr/>
        </p:nvSpPr>
        <p:spPr>
          <a:xfrm>
            <a:off x="6812280" y="3410712"/>
            <a:ext cx="1572768" cy="292608"/>
          </a:xfrm>
          <a:prstGeom prst="roundRect">
            <a:avLst/>
          </a:prstGeom>
          <a:solidFill>
            <a:srgbClr val="F58220"/>
          </a:solidFill>
          <a:ln w="635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2E20AA35-48E0-486E-A8DA-744B70E769B1}"/>
              </a:ext>
            </a:extLst>
          </p:cNvPr>
          <p:cNvSpPr>
            <a:spLocks noGrp="1"/>
          </p:cNvSpPr>
          <p:nvPr/>
        </p:nvSpPr>
        <p:spPr>
          <a:xfrm>
            <a:off x="6867144" y="3483864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Klinis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71104143-246D-4117-B001-40AF7CF7FAEE}"/>
              </a:ext>
            </a:extLst>
          </p:cNvPr>
          <p:cNvSpPr>
            <a:spLocks noGrp="1"/>
          </p:cNvSpPr>
          <p:nvPr/>
        </p:nvSpPr>
        <p:spPr>
          <a:xfrm>
            <a:off x="8686800" y="3410712"/>
            <a:ext cx="1572768" cy="292608"/>
          </a:xfrm>
          <a:prstGeom prst="roundRect">
            <a:avLst/>
          </a:prstGeom>
          <a:solidFill>
            <a:srgbClr val="2364AA"/>
          </a:solidFill>
          <a:ln w="6350">
            <a:solidFill>
              <a:srgbClr val="2364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4C196DC8-8BD1-487B-A81E-543E9299DF35}"/>
              </a:ext>
            </a:extLst>
          </p:cNvPr>
          <p:cNvSpPr>
            <a:spLocks noGrp="1"/>
          </p:cNvSpPr>
          <p:nvPr/>
        </p:nvSpPr>
        <p:spPr>
          <a:xfrm>
            <a:off x="8741664" y="3483864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Kebijakan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35C21172-837B-4DE8-BF6D-B0811C25A36C}"/>
              </a:ext>
            </a:extLst>
          </p:cNvPr>
          <p:cNvSpPr>
            <a:spLocks noGrp="1"/>
          </p:cNvSpPr>
          <p:nvPr/>
        </p:nvSpPr>
        <p:spPr>
          <a:xfrm>
            <a:off x="6812280" y="4032504"/>
            <a:ext cx="1572768" cy="292608"/>
          </a:xfrm>
          <a:prstGeom prst="roundRect">
            <a:avLst/>
          </a:prstGeom>
          <a:solidFill>
            <a:srgbClr val="5B5FC7"/>
          </a:solidFill>
          <a:ln w="6350">
            <a:solidFill>
              <a:srgbClr val="5B5FC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23D0344-0E69-4B7A-B7C6-4E73E02CED56}"/>
              </a:ext>
            </a:extLst>
          </p:cNvPr>
          <p:cNvSpPr>
            <a:spLocks noGrp="1"/>
          </p:cNvSpPr>
          <p:nvPr/>
        </p:nvSpPr>
        <p:spPr>
          <a:xfrm>
            <a:off x="6867144" y="4105656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Lingkungan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56600F9C-7C0D-424F-9266-24B07DAD25CD}"/>
              </a:ext>
            </a:extLst>
          </p:cNvPr>
          <p:cNvSpPr>
            <a:spLocks noGrp="1"/>
          </p:cNvSpPr>
          <p:nvPr/>
        </p:nvSpPr>
        <p:spPr>
          <a:xfrm>
            <a:off x="8686800" y="4032504"/>
            <a:ext cx="1572768" cy="292608"/>
          </a:xfrm>
          <a:prstGeom prst="roundRect">
            <a:avLst/>
          </a:prstGeom>
          <a:solidFill>
            <a:srgbClr val="1B998B"/>
          </a:solidFill>
          <a:ln w="6350">
            <a:solidFill>
              <a:srgbClr val="1B99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3EE34E90-BAAD-4EAA-93BA-9CEDC119D046}"/>
              </a:ext>
            </a:extLst>
          </p:cNvPr>
          <p:cNvSpPr>
            <a:spLocks noGrp="1"/>
          </p:cNvSpPr>
          <p:nvPr/>
        </p:nvSpPr>
        <p:spPr>
          <a:xfrm>
            <a:off x="8741664" y="4105656"/>
            <a:ext cx="1463040" cy="16459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Demografi</a:t>
            </a:r>
          </a:p>
        </p:txBody>
      </p:sp>
    </p:spTree>
    <p:extLst>
      <p:ext uri="{BB962C8B-B14F-4D97-AF65-F5344CB8AC3E}">
        <p14:creationId xmlns:p14="http://schemas.microsoft.com/office/powerpoint/2010/main" val="741171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D402F31-DBAB-409E-821D-AC3679BA45F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DFEC572-1CF3-4AA8-B05D-C1EE799CDEE6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29D243BE-D7A5-4D03-9E01-9B182EFC75D4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12F5A01-6D6C-4B82-8493-3401171A8B00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Capaian Pembelajaran Mata Kuliah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5533DB7E-F1AE-4225-B4EE-CD54BEF0CF50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Empat capaian inti: fondasi, metode, validasi, dan komunikasi ilmiah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505FC8C-740F-4B25-AEE8-88DD24CD8846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D9B8B6A4-A8CD-4742-9F6E-EE9976CD42E8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85E4A9C9-056F-4DF2-96D6-77F9A170C352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0E8F7A14-21F8-4CF8-A271-0E1178753F59}"/>
              </a:ext>
            </a:extLst>
          </p:cNvPr>
          <p:cNvSpPr>
            <a:spLocks noGrp="1"/>
          </p:cNvSpPr>
          <p:nvPr/>
        </p:nvSpPr>
        <p:spPr>
          <a:xfrm>
            <a:off x="658368" y="1984248"/>
            <a:ext cx="4983480" cy="111556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F3DF1D5A-37AD-4118-BCC9-0A9D270BCA52}"/>
              </a:ext>
            </a:extLst>
          </p:cNvPr>
          <p:cNvSpPr>
            <a:spLocks noGrp="1"/>
          </p:cNvSpPr>
          <p:nvPr/>
        </p:nvSpPr>
        <p:spPr>
          <a:xfrm>
            <a:off x="859536" y="2240280"/>
            <a:ext cx="594360" cy="594360"/>
          </a:xfrm>
          <a:prstGeom prst="ellipse">
            <a:avLst/>
          </a:prstGeom>
          <a:solidFill>
            <a:srgbClr val="2364AA"/>
          </a:solidFill>
          <a:ln w="12700">
            <a:solidFill>
              <a:srgbClr val="2364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F825939A-F369-4B81-81F1-A2673B337B63}"/>
              </a:ext>
            </a:extLst>
          </p:cNvPr>
          <p:cNvSpPr>
            <a:spLocks noGrp="1"/>
          </p:cNvSpPr>
          <p:nvPr/>
        </p:nvSpPr>
        <p:spPr>
          <a:xfrm>
            <a:off x="905256" y="2432304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CPMK1</a:t>
            </a:r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58B7A8AC-8550-42E7-BEAE-C923B1196559}"/>
              </a:ext>
            </a:extLst>
          </p:cNvPr>
          <p:cNvSpPr>
            <a:spLocks noGrp="1"/>
          </p:cNvSpPr>
          <p:nvPr/>
        </p:nvSpPr>
        <p:spPr>
          <a:xfrm>
            <a:off x="1618488" y="2240280"/>
            <a:ext cx="3703320" cy="56692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Menjelaskan fondasi epidemiologi dan pendahuluan epidemiologi secara kritis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65403F97-2708-4ADF-B9ED-23FD4DEDB27A}"/>
              </a:ext>
            </a:extLst>
          </p:cNvPr>
          <p:cNvSpPr>
            <a:spLocks noGrp="1"/>
          </p:cNvSpPr>
          <p:nvPr/>
        </p:nvSpPr>
        <p:spPr>
          <a:xfrm>
            <a:off x="6190488" y="1984248"/>
            <a:ext cx="4983480" cy="111556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173A2BBD-B692-41CE-BB44-1FEEF3ED76A3}"/>
              </a:ext>
            </a:extLst>
          </p:cNvPr>
          <p:cNvSpPr>
            <a:spLocks noGrp="1"/>
          </p:cNvSpPr>
          <p:nvPr/>
        </p:nvSpPr>
        <p:spPr>
          <a:xfrm>
            <a:off x="6391656" y="2240280"/>
            <a:ext cx="594360" cy="594360"/>
          </a:xfrm>
          <a:prstGeom prst="ellipse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5BB51C7-33D0-42A9-805F-75CA0BE8A29D}"/>
              </a:ext>
            </a:extLst>
          </p:cNvPr>
          <p:cNvSpPr>
            <a:spLocks noGrp="1"/>
          </p:cNvSpPr>
          <p:nvPr/>
        </p:nvSpPr>
        <p:spPr>
          <a:xfrm>
            <a:off x="6437376" y="2432304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CPMK2</a:t>
            </a:r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B66C81E5-3240-4228-AE60-B09834084555}"/>
              </a:ext>
            </a:extLst>
          </p:cNvPr>
          <p:cNvSpPr>
            <a:spLocks noGrp="1"/>
          </p:cNvSpPr>
          <p:nvPr/>
        </p:nvSpPr>
        <p:spPr>
          <a:xfrm>
            <a:off x="7150608" y="2240280"/>
            <a:ext cx="3703320" cy="56692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Menerapkan data surveilans dan pada data dan persoalan terapan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267B242-D7AE-4A9F-8CB4-A6D115C80C4A}"/>
              </a:ext>
            </a:extLst>
          </p:cNvPr>
          <p:cNvSpPr>
            <a:spLocks noGrp="1"/>
          </p:cNvSpPr>
          <p:nvPr/>
        </p:nvSpPr>
        <p:spPr>
          <a:xfrm>
            <a:off x="658368" y="3566160"/>
            <a:ext cx="4983480" cy="111556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3FD47383-90CA-480D-8731-CBA15C1579B6}"/>
              </a:ext>
            </a:extLst>
          </p:cNvPr>
          <p:cNvSpPr>
            <a:spLocks noGrp="1"/>
          </p:cNvSpPr>
          <p:nvPr/>
        </p:nvSpPr>
        <p:spPr>
          <a:xfrm>
            <a:off x="859536" y="3822192"/>
            <a:ext cx="594360" cy="594360"/>
          </a:xfrm>
          <a:prstGeom prst="ellipse">
            <a:avLst/>
          </a:prstGeom>
          <a:solidFill>
            <a:srgbClr val="F58220"/>
          </a:solidFill>
          <a:ln w="127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8E225BB-AD60-49A7-8D14-2362E29C343F}"/>
              </a:ext>
            </a:extLst>
          </p:cNvPr>
          <p:cNvSpPr>
            <a:spLocks noGrp="1"/>
          </p:cNvSpPr>
          <p:nvPr/>
        </p:nvSpPr>
        <p:spPr>
          <a:xfrm>
            <a:off x="905256" y="4014216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CPMK3</a:t>
            </a: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FAD08D18-37AA-48AB-9C2D-837BFAE54602}"/>
              </a:ext>
            </a:extLst>
          </p:cNvPr>
          <p:cNvSpPr>
            <a:spLocks noGrp="1"/>
          </p:cNvSpPr>
          <p:nvPr/>
        </p:nvSpPr>
        <p:spPr>
          <a:xfrm>
            <a:off x="1618488" y="3822192"/>
            <a:ext cx="3703320" cy="56692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Merancang pengelolaan data dan alur analisis yang dapat direplikasi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B4B75CEA-5305-40EE-97A6-4C66A83F41EF}"/>
              </a:ext>
            </a:extLst>
          </p:cNvPr>
          <p:cNvSpPr>
            <a:spLocks noGrp="1"/>
          </p:cNvSpPr>
          <p:nvPr/>
        </p:nvSpPr>
        <p:spPr>
          <a:xfrm>
            <a:off x="6190488" y="3566160"/>
            <a:ext cx="4983480" cy="111556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59A68E61-1271-4AD6-83E0-BF60F0B466BF}"/>
              </a:ext>
            </a:extLst>
          </p:cNvPr>
          <p:cNvSpPr>
            <a:spLocks noGrp="1"/>
          </p:cNvSpPr>
          <p:nvPr/>
        </p:nvSpPr>
        <p:spPr>
          <a:xfrm>
            <a:off x="6391656" y="3822192"/>
            <a:ext cx="594360" cy="594360"/>
          </a:xfrm>
          <a:prstGeom prst="ellipse">
            <a:avLst/>
          </a:prstGeom>
          <a:solidFill>
            <a:srgbClr val="006B3F"/>
          </a:solidFill>
          <a:ln w="12700">
            <a:solidFill>
              <a:srgbClr val="006B3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3BE008A4-E6D1-47FF-8D24-B27B0ACF69EC}"/>
              </a:ext>
            </a:extLst>
          </p:cNvPr>
          <p:cNvSpPr>
            <a:spLocks noGrp="1"/>
          </p:cNvSpPr>
          <p:nvPr/>
        </p:nvSpPr>
        <p:spPr>
          <a:xfrm>
            <a:off x="6437376" y="4014216"/>
            <a:ext cx="502920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CPMK4</a:t>
            </a:r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D5ED4DBE-AF71-4FB6-92D6-1431DE10EE3C}"/>
              </a:ext>
            </a:extLst>
          </p:cNvPr>
          <p:cNvSpPr>
            <a:spLocks noGrp="1"/>
          </p:cNvSpPr>
          <p:nvPr/>
        </p:nvSpPr>
        <p:spPr>
          <a:xfrm>
            <a:off x="7150608" y="3822192"/>
            <a:ext cx="3703320" cy="56692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8978"/>
          </a:bodyPr>
          <a:lstStyle/>
          <a:p>
            <a:pPr marL="0" indent="0" algn="l">
              <a:buNone/>
            </a:pPr>
            <a:r>
              <a:rPr sz="12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Mengevaluasi, menginterpretasi, dan mengomunikasikan hasil analisis secara bertanggung jawab.</a:t>
            </a: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37CD9FA5-C19E-462D-893E-B4D195DDC46C}"/>
              </a:ext>
            </a:extLst>
          </p:cNvPr>
          <p:cNvSpPr>
            <a:spLocks noGrp="1"/>
          </p:cNvSpPr>
          <p:nvPr/>
        </p:nvSpPr>
        <p:spPr>
          <a:xfrm>
            <a:off x="804672" y="5349240"/>
            <a:ext cx="10515600" cy="43891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89740"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Kunci: mahasiswa bergerak dari memahami konsep menjadi menghasilkan keputusan berbasis data yang terukur dan dapat diuji.</a:t>
            </a:r>
          </a:p>
        </p:txBody>
      </p:sp>
    </p:spTree>
    <p:extLst>
      <p:ext uri="{BB962C8B-B14F-4D97-AF65-F5344CB8AC3E}">
        <p14:creationId xmlns:p14="http://schemas.microsoft.com/office/powerpoint/2010/main" val="9607487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4AAEAF5-CF6A-4CDE-B06F-3FFB5A7E81E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E81830B8-D15C-4023-A9FE-58398117DA96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06F40EF-8B02-454A-A47B-9317CCBF655B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7F7229E-ADA2-45FA-9945-2D8BD29E2BAB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Peta Sub-CPMK dan Pertemuan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1012076D-1A37-4793-97E6-0B077CF2D4B5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16 pertemuan disusun spiral: fondasi → metode → evaluasi → integrasi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44D0DEF-4C8D-4FBA-B160-2E19071ECC95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7C3AABB-3E12-49E8-8901-F101A4C685ED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91B01E9D-7953-4BB3-8E0B-E96C80E8DBA8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94863CA9-07E8-44ED-8510-64DC4833C4AD}"/>
              </a:ext>
            </a:extLst>
          </p:cNvPr>
          <p:cNvSpPr>
            <a:spLocks noGrp="1"/>
          </p:cNvSpPr>
          <p:nvPr/>
        </p:nvSpPr>
        <p:spPr>
          <a:xfrm>
            <a:off x="530352" y="1938528"/>
            <a:ext cx="1417320" cy="502920"/>
          </a:xfrm>
          <a:prstGeom prst="rect">
            <a:avLst/>
          </a:prstGeom>
          <a:solidFill>
            <a:srgbClr val="12355B"/>
          </a:solidFill>
          <a:ln w="6350">
            <a:solidFill>
              <a:srgbClr val="1235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056DC82-1495-4E09-B3E9-C2FE5FE333B0}"/>
              </a:ext>
            </a:extLst>
          </p:cNvPr>
          <p:cNvSpPr>
            <a:spLocks noGrp="1"/>
          </p:cNvSpPr>
          <p:nvPr/>
        </p:nvSpPr>
        <p:spPr>
          <a:xfrm>
            <a:off x="603504" y="2093976"/>
            <a:ext cx="1271016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Sub-CPMK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DF7FAABF-8034-4274-85A4-4C6FCB68077F}"/>
              </a:ext>
            </a:extLst>
          </p:cNvPr>
          <p:cNvSpPr>
            <a:spLocks noGrp="1"/>
          </p:cNvSpPr>
          <p:nvPr/>
        </p:nvSpPr>
        <p:spPr>
          <a:xfrm>
            <a:off x="1947672" y="1938528"/>
            <a:ext cx="960120" cy="502920"/>
          </a:xfrm>
          <a:prstGeom prst="rect">
            <a:avLst/>
          </a:prstGeom>
          <a:solidFill>
            <a:srgbClr val="12355B"/>
          </a:solidFill>
          <a:ln w="6350">
            <a:solidFill>
              <a:srgbClr val="1235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B7796BCF-CC7A-4C41-8DD8-F2609F54AC43}"/>
              </a:ext>
            </a:extLst>
          </p:cNvPr>
          <p:cNvSpPr>
            <a:spLocks noGrp="1"/>
          </p:cNvSpPr>
          <p:nvPr/>
        </p:nvSpPr>
        <p:spPr>
          <a:xfrm>
            <a:off x="2020824" y="2093976"/>
            <a:ext cx="813816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Pertemuan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B34719CF-C94B-48A8-8730-C12A7E5FF7A4}"/>
              </a:ext>
            </a:extLst>
          </p:cNvPr>
          <p:cNvSpPr>
            <a:spLocks noGrp="1"/>
          </p:cNvSpPr>
          <p:nvPr/>
        </p:nvSpPr>
        <p:spPr>
          <a:xfrm>
            <a:off x="2907792" y="1938528"/>
            <a:ext cx="3154680" cy="502920"/>
          </a:xfrm>
          <a:prstGeom prst="rect">
            <a:avLst/>
          </a:prstGeom>
          <a:solidFill>
            <a:srgbClr val="12355B"/>
          </a:solidFill>
          <a:ln w="6350">
            <a:solidFill>
              <a:srgbClr val="1235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44B6A047-5861-40E7-B134-B722ECCCFE07}"/>
              </a:ext>
            </a:extLst>
          </p:cNvPr>
          <p:cNvSpPr>
            <a:spLocks noGrp="1"/>
          </p:cNvSpPr>
          <p:nvPr/>
        </p:nvSpPr>
        <p:spPr>
          <a:xfrm>
            <a:off x="2980944" y="2093976"/>
            <a:ext cx="3008376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Kemampuan Akhir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C2A302C6-99D3-483B-ACA8-1B6D8E3E8479}"/>
              </a:ext>
            </a:extLst>
          </p:cNvPr>
          <p:cNvSpPr>
            <a:spLocks noGrp="1"/>
          </p:cNvSpPr>
          <p:nvPr/>
        </p:nvSpPr>
        <p:spPr>
          <a:xfrm>
            <a:off x="6062472" y="1938528"/>
            <a:ext cx="5413248" cy="502920"/>
          </a:xfrm>
          <a:prstGeom prst="rect">
            <a:avLst/>
          </a:prstGeom>
          <a:solidFill>
            <a:srgbClr val="12355B"/>
          </a:solidFill>
          <a:ln w="6350">
            <a:solidFill>
              <a:srgbClr val="12355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13AEEFC2-D3E2-448F-AA80-4FBDBF44A77D}"/>
              </a:ext>
            </a:extLst>
          </p:cNvPr>
          <p:cNvSpPr>
            <a:spLocks noGrp="1"/>
          </p:cNvSpPr>
          <p:nvPr/>
        </p:nvSpPr>
        <p:spPr>
          <a:xfrm>
            <a:off x="6135624" y="2093976"/>
            <a:ext cx="5266944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Fokus Pembelajaran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CE05CC1E-DBCD-418D-BBC3-4EB941A39F51}"/>
              </a:ext>
            </a:extLst>
          </p:cNvPr>
          <p:cNvSpPr>
            <a:spLocks noGrp="1"/>
          </p:cNvSpPr>
          <p:nvPr/>
        </p:nvSpPr>
        <p:spPr>
          <a:xfrm>
            <a:off x="530352" y="2441448"/>
            <a:ext cx="1417320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1A8FFEAC-DFDB-4AA3-BD9B-52791D0AAE33}"/>
              </a:ext>
            </a:extLst>
          </p:cNvPr>
          <p:cNvSpPr>
            <a:spLocks noGrp="1"/>
          </p:cNvSpPr>
          <p:nvPr/>
        </p:nvSpPr>
        <p:spPr>
          <a:xfrm>
            <a:off x="603504" y="2560320"/>
            <a:ext cx="12710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SubCPMK1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9BF8FCBD-4C3D-495C-890E-E4F0C863E62A}"/>
              </a:ext>
            </a:extLst>
          </p:cNvPr>
          <p:cNvSpPr>
            <a:spLocks noGrp="1"/>
          </p:cNvSpPr>
          <p:nvPr/>
        </p:nvSpPr>
        <p:spPr>
          <a:xfrm>
            <a:off x="1947672" y="2441448"/>
            <a:ext cx="960120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C9A7BA03-65C6-4664-B9E3-47FC3EE692FD}"/>
              </a:ext>
            </a:extLst>
          </p:cNvPr>
          <p:cNvSpPr>
            <a:spLocks noGrp="1"/>
          </p:cNvSpPr>
          <p:nvPr/>
        </p:nvSpPr>
        <p:spPr>
          <a:xfrm>
            <a:off x="2020824" y="2560320"/>
            <a:ext cx="8138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1–4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6B4227B2-5CD3-4402-AAE2-E9D7178FC67D}"/>
              </a:ext>
            </a:extLst>
          </p:cNvPr>
          <p:cNvSpPr>
            <a:spLocks noGrp="1"/>
          </p:cNvSpPr>
          <p:nvPr/>
        </p:nvSpPr>
        <p:spPr>
          <a:xfrm>
            <a:off x="2907792" y="2441448"/>
            <a:ext cx="3154680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A8DE6B03-D82D-4CD0-8A2F-74CF092835C0}"/>
              </a:ext>
            </a:extLst>
          </p:cNvPr>
          <p:cNvSpPr>
            <a:spLocks noGrp="1"/>
          </p:cNvSpPr>
          <p:nvPr/>
        </p:nvSpPr>
        <p:spPr>
          <a:xfrm>
            <a:off x="2980944" y="2560320"/>
            <a:ext cx="300837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Fondasi &amp; struktur data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C69C786B-EC79-4DD6-AEF4-06C36F541B00}"/>
              </a:ext>
            </a:extLst>
          </p:cNvPr>
          <p:cNvSpPr>
            <a:spLocks noGrp="1"/>
          </p:cNvSpPr>
          <p:nvPr/>
        </p:nvSpPr>
        <p:spPr>
          <a:xfrm>
            <a:off x="6062472" y="2441448"/>
            <a:ext cx="5413248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DB4C344A-12C9-44C2-9358-DA8CF1378843}"/>
              </a:ext>
            </a:extLst>
          </p:cNvPr>
          <p:cNvSpPr>
            <a:spLocks noGrp="1"/>
          </p:cNvSpPr>
          <p:nvPr/>
        </p:nvSpPr>
        <p:spPr>
          <a:xfrm>
            <a:off x="6135624" y="2560320"/>
            <a:ext cx="5266944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Pendahuluan, Proses Terjadinya, Ukuran Statistik, Visualisasi</a:t>
            </a: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AF25F6D6-19EB-4996-97EE-A41B29788180}"/>
              </a:ext>
            </a:extLst>
          </p:cNvPr>
          <p:cNvSpPr>
            <a:spLocks noGrp="1"/>
          </p:cNvSpPr>
          <p:nvPr/>
        </p:nvSpPr>
        <p:spPr>
          <a:xfrm>
            <a:off x="530352" y="3227832"/>
            <a:ext cx="1417320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928691D-A840-4F5C-819A-A44CBB437408}"/>
              </a:ext>
            </a:extLst>
          </p:cNvPr>
          <p:cNvSpPr>
            <a:spLocks noGrp="1"/>
          </p:cNvSpPr>
          <p:nvPr/>
        </p:nvSpPr>
        <p:spPr>
          <a:xfrm>
            <a:off x="603504" y="3346704"/>
            <a:ext cx="12710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SubCPMK2</a:t>
            </a: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4387B6D6-0B3E-4DD9-BF31-3328FAAF090F}"/>
              </a:ext>
            </a:extLst>
          </p:cNvPr>
          <p:cNvSpPr>
            <a:spLocks noGrp="1"/>
          </p:cNvSpPr>
          <p:nvPr/>
        </p:nvSpPr>
        <p:spPr>
          <a:xfrm>
            <a:off x="1947672" y="3227832"/>
            <a:ext cx="960120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80117A56-7928-46AE-BA80-C2F58FC0927A}"/>
              </a:ext>
            </a:extLst>
          </p:cNvPr>
          <p:cNvSpPr>
            <a:spLocks noGrp="1"/>
          </p:cNvSpPr>
          <p:nvPr/>
        </p:nvSpPr>
        <p:spPr>
          <a:xfrm>
            <a:off x="2020824" y="3346704"/>
            <a:ext cx="8138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5–8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4174A44-0A3F-43F7-9F9A-70F25AA7B458}"/>
              </a:ext>
            </a:extLst>
          </p:cNvPr>
          <p:cNvSpPr>
            <a:spLocks noGrp="1"/>
          </p:cNvSpPr>
          <p:nvPr/>
        </p:nvSpPr>
        <p:spPr>
          <a:xfrm>
            <a:off x="2907792" y="3227832"/>
            <a:ext cx="3154680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13ADCABB-5F8D-49DC-9A64-F586AB85230E}"/>
              </a:ext>
            </a:extLst>
          </p:cNvPr>
          <p:cNvSpPr>
            <a:spLocks noGrp="1"/>
          </p:cNvSpPr>
          <p:nvPr/>
        </p:nvSpPr>
        <p:spPr>
          <a:xfrm>
            <a:off x="2980944" y="3346704"/>
            <a:ext cx="300837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inti &amp; desain</a:t>
            </a: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9B68B2A-F49D-45AF-AAFE-29205FE17201}"/>
              </a:ext>
            </a:extLst>
          </p:cNvPr>
          <p:cNvSpPr>
            <a:spLocks noGrp="1"/>
          </p:cNvSpPr>
          <p:nvPr/>
        </p:nvSpPr>
        <p:spPr>
          <a:xfrm>
            <a:off x="6062472" y="3227832"/>
            <a:ext cx="5413248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FE62A589-DC97-455E-89A5-4895E4668000}"/>
              </a:ext>
            </a:extLst>
          </p:cNvPr>
          <p:cNvSpPr>
            <a:spLocks noGrp="1"/>
          </p:cNvSpPr>
          <p:nvPr/>
        </p:nvSpPr>
        <p:spPr>
          <a:xfrm>
            <a:off x="6135624" y="3346704"/>
            <a:ext cx="5266944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Pengumpulan, Jenis Kejadian, Data Surveilans, UTS Berbasis</a:t>
            </a: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1EE8550F-58D5-4799-8E71-A4275505F2C0}"/>
              </a:ext>
            </a:extLst>
          </p:cNvPr>
          <p:cNvSpPr>
            <a:spLocks noGrp="1"/>
          </p:cNvSpPr>
          <p:nvPr/>
        </p:nvSpPr>
        <p:spPr>
          <a:xfrm>
            <a:off x="530352" y="4014216"/>
            <a:ext cx="1417320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071E8E03-FC60-4265-AF2C-29788A7B484F}"/>
              </a:ext>
            </a:extLst>
          </p:cNvPr>
          <p:cNvSpPr>
            <a:spLocks noGrp="1"/>
          </p:cNvSpPr>
          <p:nvPr/>
        </p:nvSpPr>
        <p:spPr>
          <a:xfrm>
            <a:off x="603504" y="4133088"/>
            <a:ext cx="12710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SubCPMK3</a:t>
            </a: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B0AEF522-9920-46B0-A73E-5E98E89949B3}"/>
              </a:ext>
            </a:extLst>
          </p:cNvPr>
          <p:cNvSpPr>
            <a:spLocks noGrp="1"/>
          </p:cNvSpPr>
          <p:nvPr/>
        </p:nvSpPr>
        <p:spPr>
          <a:xfrm>
            <a:off x="1947672" y="4014216"/>
            <a:ext cx="960120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DB0FE1AD-2441-4333-AAB8-6584F8892A17}"/>
              </a:ext>
            </a:extLst>
          </p:cNvPr>
          <p:cNvSpPr>
            <a:spLocks noGrp="1"/>
          </p:cNvSpPr>
          <p:nvPr/>
        </p:nvSpPr>
        <p:spPr>
          <a:xfrm>
            <a:off x="2020824" y="4133088"/>
            <a:ext cx="8138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9–12</a:t>
            </a: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F3052AC2-E36A-4AD1-8451-13CA1D6A626D}"/>
              </a:ext>
            </a:extLst>
          </p:cNvPr>
          <p:cNvSpPr>
            <a:spLocks noGrp="1"/>
          </p:cNvSpPr>
          <p:nvPr/>
        </p:nvSpPr>
        <p:spPr>
          <a:xfrm>
            <a:off x="2907792" y="4014216"/>
            <a:ext cx="3154680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F3DA6BDA-5090-466D-9620-DE796255BC38}"/>
              </a:ext>
            </a:extLst>
          </p:cNvPr>
          <p:cNvSpPr>
            <a:spLocks noGrp="1"/>
          </p:cNvSpPr>
          <p:nvPr/>
        </p:nvSpPr>
        <p:spPr>
          <a:xfrm>
            <a:off x="2980944" y="4133088"/>
            <a:ext cx="300837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Pemodelan &amp; evaluasi</a:t>
            </a:r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087378EC-09E3-473C-BCE0-40095FD641C1}"/>
              </a:ext>
            </a:extLst>
          </p:cNvPr>
          <p:cNvSpPr>
            <a:spLocks noGrp="1"/>
          </p:cNvSpPr>
          <p:nvPr/>
        </p:nvSpPr>
        <p:spPr>
          <a:xfrm>
            <a:off x="6062472" y="4014216"/>
            <a:ext cx="5413248" cy="786384"/>
          </a:xfrm>
          <a:prstGeom prst="rect">
            <a:avLst/>
          </a:prstGeom>
          <a:solidFill>
            <a:srgbClr val="FFFFFF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2793BAEC-63F6-441A-9C31-1CC207EF9942}"/>
              </a:ext>
            </a:extLst>
          </p:cNvPr>
          <p:cNvSpPr>
            <a:spLocks noGrp="1"/>
          </p:cNvSpPr>
          <p:nvPr/>
        </p:nvSpPr>
        <p:spPr>
          <a:xfrm>
            <a:off x="6135624" y="4133088"/>
            <a:ext cx="5266944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Manajemen Data, Cleaning, Algoritma, Sistem Peringatan</a:t>
            </a: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96B7B3BF-2C14-4744-B728-63C9BC50D388}"/>
              </a:ext>
            </a:extLst>
          </p:cNvPr>
          <p:cNvSpPr>
            <a:spLocks noGrp="1"/>
          </p:cNvSpPr>
          <p:nvPr/>
        </p:nvSpPr>
        <p:spPr>
          <a:xfrm>
            <a:off x="530352" y="4800600"/>
            <a:ext cx="1417320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DE628E54-BB81-442C-B610-DB56898ADBAD}"/>
              </a:ext>
            </a:extLst>
          </p:cNvPr>
          <p:cNvSpPr>
            <a:spLocks noGrp="1"/>
          </p:cNvSpPr>
          <p:nvPr/>
        </p:nvSpPr>
        <p:spPr>
          <a:xfrm>
            <a:off x="603504" y="4919472"/>
            <a:ext cx="12710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SubCPMK4</a:t>
            </a: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C7636DDE-A546-4F57-B82A-E3F5279D1F0B}"/>
              </a:ext>
            </a:extLst>
          </p:cNvPr>
          <p:cNvSpPr>
            <a:spLocks noGrp="1"/>
          </p:cNvSpPr>
          <p:nvPr/>
        </p:nvSpPr>
        <p:spPr>
          <a:xfrm>
            <a:off x="1947672" y="4800600"/>
            <a:ext cx="960120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2B3C7D3-2DD4-4E68-B991-C08F64F1D5EF}"/>
              </a:ext>
            </a:extLst>
          </p:cNvPr>
          <p:cNvSpPr>
            <a:spLocks noGrp="1"/>
          </p:cNvSpPr>
          <p:nvPr/>
        </p:nvSpPr>
        <p:spPr>
          <a:xfrm>
            <a:off x="2020824" y="4919472"/>
            <a:ext cx="81381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13–16</a:t>
            </a: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C93A2340-8474-4B3C-8A2D-143103EDA0F8}"/>
              </a:ext>
            </a:extLst>
          </p:cNvPr>
          <p:cNvSpPr>
            <a:spLocks noGrp="1"/>
          </p:cNvSpPr>
          <p:nvPr/>
        </p:nvSpPr>
        <p:spPr>
          <a:xfrm>
            <a:off x="2907792" y="4800600"/>
            <a:ext cx="3154680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56A1C456-58FB-42DC-B36D-889D9CDE0B75}"/>
              </a:ext>
            </a:extLst>
          </p:cNvPr>
          <p:cNvSpPr>
            <a:spLocks noGrp="1"/>
          </p:cNvSpPr>
          <p:nvPr/>
        </p:nvSpPr>
        <p:spPr>
          <a:xfrm>
            <a:off x="2980944" y="4919472"/>
            <a:ext cx="3008376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105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&amp; proyek</a:t>
            </a:r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72B07C1B-F06C-45B3-A334-672C85A777A6}"/>
              </a:ext>
            </a:extLst>
          </p:cNvPr>
          <p:cNvSpPr>
            <a:spLocks noGrp="1"/>
          </p:cNvSpPr>
          <p:nvPr/>
        </p:nvSpPr>
        <p:spPr>
          <a:xfrm>
            <a:off x="6062472" y="4800600"/>
            <a:ext cx="5413248" cy="786384"/>
          </a:xfrm>
          <a:prstGeom prst="rect">
            <a:avLst/>
          </a:prstGeom>
          <a:solidFill>
            <a:srgbClr val="EEF5F6"/>
          </a:solidFill>
          <a:ln w="508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1B3E5F9E-A52A-4E5E-96B8-EA47C68B1B66}"/>
              </a:ext>
            </a:extLst>
          </p:cNvPr>
          <p:cNvSpPr>
            <a:spLocks noGrp="1"/>
          </p:cNvSpPr>
          <p:nvPr/>
        </p:nvSpPr>
        <p:spPr>
          <a:xfrm>
            <a:off x="6135624" y="4919472"/>
            <a:ext cx="5266944" cy="62179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l">
              <a:buNone/>
            </a:pPr>
            <a:r>
              <a:rPr sz="990">
                <a:solidFill>
                  <a:srgbClr val="1B263B"/>
                </a:solidFill>
                <a:latin typeface="Aptos"/>
                <a:ea typeface="Aptos"/>
                <a:cs typeface="Aptos"/>
              </a:rPr>
              <a:t>Desain Studi, Statistik Lanjut, Epidemiologi, UAS, Proposal</a:t>
            </a:r>
          </a:p>
        </p:txBody>
      </p:sp>
    </p:spTree>
    <p:extLst>
      <p:ext uri="{BB962C8B-B14F-4D97-AF65-F5344CB8AC3E}">
        <p14:creationId xmlns:p14="http://schemas.microsoft.com/office/powerpoint/2010/main" val="5720403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7965A7F5-FE1D-4862-8635-122B6D07280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2B21D301-E09B-4E63-9CC5-108F1F5DBF2F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CEAF1377-D164-40A1-9D4A-6C68BF7ACD8B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CCB39BE-623C-4241-8F2E-87B2135244CB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Workflow Epidemiologi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F6FA2BD5-829D-4167-8250-8DDE579B13D6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Pipeline kerja: dari masalah dan data menuju model, validasi, dan keputusan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289377F-2A6B-4139-BBE5-6F084E3604E8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EC3B82F4-203F-4876-AE9F-C86B61952C65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E212EA9D-9A69-4520-9B65-E21F6E790292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C0F6E542-F11E-4A2D-A8BC-78AD4BAA354E}"/>
              </a:ext>
            </a:extLst>
          </p:cNvPr>
          <p:cNvSpPr>
            <a:spLocks noGrp="1"/>
          </p:cNvSpPr>
          <p:nvPr/>
        </p:nvSpPr>
        <p:spPr>
          <a:xfrm>
            <a:off x="1691640" y="297180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A36278C-8F37-46D2-8062-4EC705B9D11E}"/>
              </a:ext>
            </a:extLst>
          </p:cNvPr>
          <p:cNvSpPr>
            <a:spLocks noGrp="1"/>
          </p:cNvSpPr>
          <p:nvPr/>
        </p:nvSpPr>
        <p:spPr>
          <a:xfrm>
            <a:off x="3474720" y="297180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538296A8-1EC0-46DA-8FF2-9533088ACF1C}"/>
              </a:ext>
            </a:extLst>
          </p:cNvPr>
          <p:cNvSpPr>
            <a:spLocks noGrp="1"/>
          </p:cNvSpPr>
          <p:nvPr/>
        </p:nvSpPr>
        <p:spPr>
          <a:xfrm>
            <a:off x="5257800" y="297180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62DEC783-E245-4549-891F-5456795358D8}"/>
              </a:ext>
            </a:extLst>
          </p:cNvPr>
          <p:cNvSpPr>
            <a:spLocks noGrp="1"/>
          </p:cNvSpPr>
          <p:nvPr/>
        </p:nvSpPr>
        <p:spPr>
          <a:xfrm>
            <a:off x="7040880" y="297180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31410071-DC0F-41FB-8947-21E88CC260FF}"/>
              </a:ext>
            </a:extLst>
          </p:cNvPr>
          <p:cNvSpPr>
            <a:spLocks noGrp="1"/>
          </p:cNvSpPr>
          <p:nvPr/>
        </p:nvSpPr>
        <p:spPr>
          <a:xfrm>
            <a:off x="8823960" y="297180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DE8174F4-DD84-40AD-9A48-D49C7AD82CF0}"/>
              </a:ext>
            </a:extLst>
          </p:cNvPr>
          <p:cNvSpPr>
            <a:spLocks noGrp="1"/>
          </p:cNvSpPr>
          <p:nvPr/>
        </p:nvSpPr>
        <p:spPr>
          <a:xfrm>
            <a:off x="658368" y="2450592"/>
            <a:ext cx="1143000" cy="10515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5D9805B-4841-4831-922F-40155814638A}"/>
              </a:ext>
            </a:extLst>
          </p:cNvPr>
          <p:cNvSpPr>
            <a:spLocks noGrp="1"/>
          </p:cNvSpPr>
          <p:nvPr/>
        </p:nvSpPr>
        <p:spPr>
          <a:xfrm>
            <a:off x="731520" y="2532888"/>
            <a:ext cx="996696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Masalah</a:t>
            </a:r>
          </a:p>
          <a:p>
            <a:pPr marL="0" indent="0" algn="ctr">
              <a:buNone/>
            </a:pPr>
            <a:r>
              <a:rPr sz="12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&amp; tujuan</a:t>
            </a: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68A2B594-344E-49BF-9481-957451A77504}"/>
              </a:ext>
            </a:extLst>
          </p:cNvPr>
          <p:cNvSpPr>
            <a:spLocks noGrp="1"/>
          </p:cNvSpPr>
          <p:nvPr/>
        </p:nvSpPr>
        <p:spPr>
          <a:xfrm>
            <a:off x="2441448" y="2450592"/>
            <a:ext cx="1143000" cy="10515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E061D66E-F69C-453A-969E-F9885B4269D8}"/>
              </a:ext>
            </a:extLst>
          </p:cNvPr>
          <p:cNvSpPr>
            <a:spLocks noGrp="1"/>
          </p:cNvSpPr>
          <p:nvPr/>
        </p:nvSpPr>
        <p:spPr>
          <a:xfrm>
            <a:off x="2514600" y="2532888"/>
            <a:ext cx="996696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Audit</a:t>
            </a:r>
          </a:p>
          <a:p>
            <a:pPr marL="0" indent="0" algn="ctr">
              <a:buNone/>
            </a:pPr>
            <a:r>
              <a:rPr sz="12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&amp; kurasi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93E0E2B-F1E9-451F-8FFC-AB93FB19DAE6}"/>
              </a:ext>
            </a:extLst>
          </p:cNvPr>
          <p:cNvSpPr>
            <a:spLocks noGrp="1"/>
          </p:cNvSpPr>
          <p:nvPr/>
        </p:nvSpPr>
        <p:spPr>
          <a:xfrm>
            <a:off x="4224528" y="2450592"/>
            <a:ext cx="1143000" cy="10515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800D06B2-85EF-4A18-BEDB-001258475F4E}"/>
              </a:ext>
            </a:extLst>
          </p:cNvPr>
          <p:cNvSpPr>
            <a:spLocks noGrp="1"/>
          </p:cNvSpPr>
          <p:nvPr/>
        </p:nvSpPr>
        <p:spPr>
          <a:xfrm>
            <a:off x="4297680" y="2532888"/>
            <a:ext cx="996696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Eksplorasi</a:t>
            </a:r>
          </a:p>
          <a:p>
            <a:pPr marL="0" indent="0" algn="ctr">
              <a:buNone/>
            </a:pPr>
            <a:r>
              <a:rPr sz="12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pola</a:t>
            </a: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73693F34-BDC3-450B-B568-22D38C39364C}"/>
              </a:ext>
            </a:extLst>
          </p:cNvPr>
          <p:cNvSpPr>
            <a:spLocks noGrp="1"/>
          </p:cNvSpPr>
          <p:nvPr/>
        </p:nvSpPr>
        <p:spPr>
          <a:xfrm>
            <a:off x="6007608" y="2450592"/>
            <a:ext cx="1143000" cy="10515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Text 20">
            <a:extLst>
              <a:ext uri="{FF2B5EF4-FFF2-40B4-BE49-F238E27FC236}">
                <a16:creationId xmlns:a16="http://schemas.microsoft.com/office/drawing/2014/main" id="{19C9DB86-78A3-437B-A68D-88818CAC4213}"/>
              </a:ext>
            </a:extLst>
          </p:cNvPr>
          <p:cNvSpPr>
            <a:spLocks noGrp="1"/>
          </p:cNvSpPr>
          <p:nvPr/>
        </p:nvSpPr>
        <p:spPr>
          <a:xfrm>
            <a:off x="6080760" y="2532888"/>
            <a:ext cx="996696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Model</a:t>
            </a:r>
          </a:p>
          <a:p>
            <a:pPr marL="0" indent="0" algn="ctr">
              <a:buNone/>
            </a:pPr>
            <a:r>
              <a:rPr sz="12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kandidat</a:t>
            </a:r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5EEFC249-1BE2-4960-8DE9-6F0AC14C351B}"/>
              </a:ext>
            </a:extLst>
          </p:cNvPr>
          <p:cNvSpPr>
            <a:spLocks noGrp="1"/>
          </p:cNvSpPr>
          <p:nvPr/>
        </p:nvSpPr>
        <p:spPr>
          <a:xfrm>
            <a:off x="7790688" y="2450592"/>
            <a:ext cx="1143000" cy="10515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1D32E0C2-B4F8-4001-BDFA-7E4E5057BC20}"/>
              </a:ext>
            </a:extLst>
          </p:cNvPr>
          <p:cNvSpPr>
            <a:spLocks noGrp="1"/>
          </p:cNvSpPr>
          <p:nvPr/>
        </p:nvSpPr>
        <p:spPr>
          <a:xfrm>
            <a:off x="7863840" y="2532888"/>
            <a:ext cx="996696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</a:t>
            </a:r>
          </a:p>
          <a:p>
            <a:pPr marL="0" indent="0" algn="ctr">
              <a:buNone/>
            </a:pPr>
            <a:r>
              <a:rPr sz="12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hasil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2C4E2359-A6BC-46C7-B81F-F010E2128749}"/>
              </a:ext>
            </a:extLst>
          </p:cNvPr>
          <p:cNvSpPr>
            <a:spLocks noGrp="1"/>
          </p:cNvSpPr>
          <p:nvPr/>
        </p:nvSpPr>
        <p:spPr>
          <a:xfrm>
            <a:off x="9573768" y="2450592"/>
            <a:ext cx="1143000" cy="10515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B4A8D3A8-C741-48DA-85A7-E98CEE023395}"/>
              </a:ext>
            </a:extLst>
          </p:cNvPr>
          <p:cNvSpPr>
            <a:spLocks noGrp="1"/>
          </p:cNvSpPr>
          <p:nvPr/>
        </p:nvSpPr>
        <p:spPr>
          <a:xfrm>
            <a:off x="9646920" y="2532888"/>
            <a:ext cx="996696" cy="8869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</a:t>
            </a:r>
          </a:p>
          <a:p>
            <a:pPr marL="0" indent="0" algn="ctr">
              <a:buNone/>
            </a:pPr>
            <a:r>
              <a:rPr sz="12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ilmiah</a:t>
            </a: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19DDF04A-AD7C-4C0E-9494-33EA5A5DAC01}"/>
              </a:ext>
            </a:extLst>
          </p:cNvPr>
          <p:cNvSpPr>
            <a:spLocks noGrp="1"/>
          </p:cNvSpPr>
          <p:nvPr/>
        </p:nvSpPr>
        <p:spPr>
          <a:xfrm>
            <a:off x="914400" y="4343400"/>
            <a:ext cx="10241280" cy="868680"/>
          </a:xfrm>
          <a:prstGeom prst="roundRect">
            <a:avLst/>
          </a:prstGeom>
          <a:solidFill>
            <a:srgbClr val="0B1F36"/>
          </a:solidFill>
          <a:ln w="12700">
            <a:solidFill>
              <a:srgbClr val="0B1F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BCBB91E9-EB9D-4158-A661-7500F0D65896}"/>
              </a:ext>
            </a:extLst>
          </p:cNvPr>
          <p:cNvSpPr>
            <a:spLocks noGrp="1"/>
          </p:cNvSpPr>
          <p:nvPr/>
        </p:nvSpPr>
        <p:spPr>
          <a:xfrm>
            <a:off x="1234440" y="4645152"/>
            <a:ext cx="9601200" cy="29260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89388"/>
          </a:bodyPr>
          <a:lstStyle/>
          <a:p>
            <a:pPr marL="0" indent="0" algn="ctr">
              <a:buNone/>
            </a:pPr>
            <a:r>
              <a:rPr sz="15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Prinsip kelas: rumuskan masalah → pahami data → pilih metode → uji asumsi → validasi hasil → jelaskan dampak.</a:t>
            </a: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A7A244F9-94A4-46FD-B139-454EE6D03A49}"/>
              </a:ext>
            </a:extLst>
          </p:cNvPr>
          <p:cNvSpPr>
            <a:spLocks noGrp="1"/>
          </p:cNvSpPr>
          <p:nvPr/>
        </p:nvSpPr>
        <p:spPr>
          <a:xfrm>
            <a:off x="1051560" y="5532120"/>
            <a:ext cx="10058400" cy="36576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yang baik bukan hanya akurat, tetapi juga transparan, dapat direplikasi, dan masuk akal dalam konteks masalah.</a:t>
            </a:r>
          </a:p>
        </p:txBody>
      </p:sp>
    </p:spTree>
    <p:extLst>
      <p:ext uri="{BB962C8B-B14F-4D97-AF65-F5344CB8AC3E}">
        <p14:creationId xmlns:p14="http://schemas.microsoft.com/office/powerpoint/2010/main" val="5372749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2355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AE544C64-F915-4C32-B129-0A31BE78665A}"/>
              </a:ext>
            </a:extLst>
          </p:cNvPr>
          <p:cNvSpPr>
            <a:spLocks noGrp="1"/>
          </p:cNvSpPr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30352"/>
            <a:ext cx="566928" cy="56692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D1D45BAB-BEB3-47E5-8FA2-F0672404FAE2}"/>
              </a:ext>
            </a:extLst>
          </p:cNvPr>
          <p:cNvSpPr>
            <a:spLocks noGrp="1"/>
          </p:cNvSpPr>
          <p:nvPr/>
        </p:nvSpPr>
        <p:spPr>
          <a:xfrm>
            <a:off x="1261872" y="621792"/>
            <a:ext cx="676656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1–8 | Fondasi, struktur data, metode inti, dan evaluasi tengah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B72A252-C019-45C4-9EB6-A57111FF7898}"/>
              </a:ext>
            </a:extLst>
          </p:cNvPr>
          <p:cNvSpPr>
            <a:spLocks noGrp="1"/>
          </p:cNvSpPr>
          <p:nvPr/>
        </p:nvSpPr>
        <p:spPr>
          <a:xfrm>
            <a:off x="658368" y="2267712"/>
            <a:ext cx="8961120" cy="12344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6329"/>
          </a:bodyPr>
          <a:lstStyle/>
          <a:p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</a:t>
            </a:r>
          </a:p>
          <a:p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Fondasi &amp; Metode Inti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82598C16-B45B-487B-BB27-D44029C92797}"/>
              </a:ext>
            </a:extLst>
          </p:cNvPr>
          <p:cNvSpPr>
            <a:spLocks noGrp="1"/>
          </p:cNvSpPr>
          <p:nvPr/>
        </p:nvSpPr>
        <p:spPr>
          <a:xfrm>
            <a:off x="658368" y="3703320"/>
            <a:ext cx="3182112" cy="0"/>
          </a:xfrm>
          <a:prstGeom prst="line">
            <a:avLst/>
          </a:prstGeom>
          <a:noFill/>
          <a:ln w="635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78642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CBF97D5-C77C-4627-AEB7-F7A9C0336E2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06865C1A-325E-4E19-AE30-DA3A24929BEA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5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9DA6FB27-2B92-496A-AE51-3AAD791DD5E2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2E66FD4-A804-4C3A-840C-3FBFF3C1586F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Fondasi dan Struktur Data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B031CC9-5C52-42FF-B48E-AE1A29B9D7D7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Pendahuluan, Proses Terjadinya, Ukuran Statistik, Visualisasi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CCF86DF-3C3B-4DE3-B873-FF950840162D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6BCAD63-BED2-40B1-8A16-F173C14CC7CC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07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2F7727E-A3BE-4F7B-A98D-5BE37399C5AC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48813E68-C186-4D8B-917E-EB5528FA6F78}"/>
              </a:ext>
            </a:extLst>
          </p:cNvPr>
          <p:cNvSpPr>
            <a:spLocks noGrp="1"/>
          </p:cNvSpPr>
          <p:nvPr/>
        </p:nvSpPr>
        <p:spPr>
          <a:xfrm>
            <a:off x="676656" y="1901952"/>
            <a:ext cx="276148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212B59EC-F263-4214-ADFA-8D42270185EF}"/>
              </a:ext>
            </a:extLst>
          </p:cNvPr>
          <p:cNvSpPr>
            <a:spLocks noGrp="1"/>
          </p:cNvSpPr>
          <p:nvPr/>
        </p:nvSpPr>
        <p:spPr>
          <a:xfrm>
            <a:off x="896112" y="2139696"/>
            <a:ext cx="310896" cy="310896"/>
          </a:xfrm>
          <a:prstGeom prst="rect">
            <a:avLst/>
          </a:prstGeom>
          <a:solidFill>
            <a:srgbClr val="2364AA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46CDE1AB-7F32-4358-B629-74189B161EB6}"/>
              </a:ext>
            </a:extLst>
          </p:cNvPr>
          <p:cNvSpPr>
            <a:spLocks noGrp="1"/>
          </p:cNvSpPr>
          <p:nvPr/>
        </p:nvSpPr>
        <p:spPr>
          <a:xfrm>
            <a:off x="896112" y="2487168"/>
            <a:ext cx="310896" cy="310896"/>
          </a:xfrm>
          <a:prstGeom prst="rect">
            <a:avLst/>
          </a:prstGeom>
          <a:solidFill>
            <a:srgbClr val="F58220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0D0680B-5843-497D-9253-7F0AF0686614}"/>
              </a:ext>
            </a:extLst>
          </p:cNvPr>
          <p:cNvSpPr>
            <a:spLocks noGrp="1"/>
          </p:cNvSpPr>
          <p:nvPr/>
        </p:nvSpPr>
        <p:spPr>
          <a:xfrm>
            <a:off x="896112" y="2834640"/>
            <a:ext cx="310896" cy="310896"/>
          </a:xfrm>
          <a:prstGeom prst="rect">
            <a:avLst/>
          </a:prstGeom>
          <a:solidFill>
            <a:srgbClr val="EEF5F6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B27B427D-7214-4DA1-9308-4CCE32956607}"/>
              </a:ext>
            </a:extLst>
          </p:cNvPr>
          <p:cNvSpPr>
            <a:spLocks noGrp="1"/>
          </p:cNvSpPr>
          <p:nvPr/>
        </p:nvSpPr>
        <p:spPr>
          <a:xfrm>
            <a:off x="896112" y="3182112"/>
            <a:ext cx="310896" cy="310896"/>
          </a:xfrm>
          <a:prstGeom prst="rect">
            <a:avLst/>
          </a:prstGeom>
          <a:solidFill>
            <a:srgbClr val="2364AA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245CD9EF-DF2F-4A0B-B04A-FAD94EA913EB}"/>
              </a:ext>
            </a:extLst>
          </p:cNvPr>
          <p:cNvSpPr>
            <a:spLocks noGrp="1"/>
          </p:cNvSpPr>
          <p:nvPr/>
        </p:nvSpPr>
        <p:spPr>
          <a:xfrm>
            <a:off x="896112" y="3529584"/>
            <a:ext cx="310896" cy="310896"/>
          </a:xfrm>
          <a:prstGeom prst="rect">
            <a:avLst/>
          </a:prstGeom>
          <a:solidFill>
            <a:srgbClr val="F58220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0B274713-F900-48C2-9D05-2246F487FB18}"/>
              </a:ext>
            </a:extLst>
          </p:cNvPr>
          <p:cNvSpPr>
            <a:spLocks noGrp="1"/>
          </p:cNvSpPr>
          <p:nvPr/>
        </p:nvSpPr>
        <p:spPr>
          <a:xfrm>
            <a:off x="1243584" y="2139696"/>
            <a:ext cx="310896" cy="310896"/>
          </a:xfrm>
          <a:prstGeom prst="rect">
            <a:avLst/>
          </a:prstGeom>
          <a:solidFill>
            <a:srgbClr val="1B998B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B6AADCA0-0EB6-4A38-8D90-2F9B18C897C2}"/>
              </a:ext>
            </a:extLst>
          </p:cNvPr>
          <p:cNvSpPr>
            <a:spLocks noGrp="1"/>
          </p:cNvSpPr>
          <p:nvPr/>
        </p:nvSpPr>
        <p:spPr>
          <a:xfrm>
            <a:off x="1243584" y="2487168"/>
            <a:ext cx="310896" cy="310896"/>
          </a:xfrm>
          <a:prstGeom prst="rect">
            <a:avLst/>
          </a:prstGeom>
          <a:solidFill>
            <a:srgbClr val="F8C537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18020D8E-27DC-4632-B27A-01DFF3CF9282}"/>
              </a:ext>
            </a:extLst>
          </p:cNvPr>
          <p:cNvSpPr>
            <a:spLocks noGrp="1"/>
          </p:cNvSpPr>
          <p:nvPr/>
        </p:nvSpPr>
        <p:spPr>
          <a:xfrm>
            <a:off x="1243584" y="2834640"/>
            <a:ext cx="310896" cy="310896"/>
          </a:xfrm>
          <a:prstGeom prst="rect">
            <a:avLst/>
          </a:prstGeom>
          <a:solidFill>
            <a:srgbClr val="006B3F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D154125C-DE0B-461C-9451-0015C793E3AC}"/>
              </a:ext>
            </a:extLst>
          </p:cNvPr>
          <p:cNvSpPr>
            <a:spLocks noGrp="1"/>
          </p:cNvSpPr>
          <p:nvPr/>
        </p:nvSpPr>
        <p:spPr>
          <a:xfrm>
            <a:off x="1243584" y="3182112"/>
            <a:ext cx="310896" cy="310896"/>
          </a:xfrm>
          <a:prstGeom prst="rect">
            <a:avLst/>
          </a:prstGeom>
          <a:solidFill>
            <a:srgbClr val="1B998B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5B2896D2-BC8A-4001-88EA-B5B48949817E}"/>
              </a:ext>
            </a:extLst>
          </p:cNvPr>
          <p:cNvSpPr>
            <a:spLocks noGrp="1"/>
          </p:cNvSpPr>
          <p:nvPr/>
        </p:nvSpPr>
        <p:spPr>
          <a:xfrm>
            <a:off x="1243584" y="3529584"/>
            <a:ext cx="310896" cy="310896"/>
          </a:xfrm>
          <a:prstGeom prst="rect">
            <a:avLst/>
          </a:prstGeom>
          <a:solidFill>
            <a:srgbClr val="F8C537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666B9C99-E4FA-412D-83F6-8E9978F65160}"/>
              </a:ext>
            </a:extLst>
          </p:cNvPr>
          <p:cNvSpPr>
            <a:spLocks noGrp="1"/>
          </p:cNvSpPr>
          <p:nvPr/>
        </p:nvSpPr>
        <p:spPr>
          <a:xfrm>
            <a:off x="1591056" y="2139696"/>
            <a:ext cx="310896" cy="310896"/>
          </a:xfrm>
          <a:prstGeom prst="rect">
            <a:avLst/>
          </a:prstGeom>
          <a:solidFill>
            <a:srgbClr val="F58220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23E4B19F-6566-42B8-97A3-A42D3774EB96}"/>
              </a:ext>
            </a:extLst>
          </p:cNvPr>
          <p:cNvSpPr>
            <a:spLocks noGrp="1"/>
          </p:cNvSpPr>
          <p:nvPr/>
        </p:nvSpPr>
        <p:spPr>
          <a:xfrm>
            <a:off x="1591056" y="2487168"/>
            <a:ext cx="310896" cy="310896"/>
          </a:xfrm>
          <a:prstGeom prst="rect">
            <a:avLst/>
          </a:prstGeom>
          <a:solidFill>
            <a:srgbClr val="EEF5F6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3B0DF8A0-0ED4-4C65-82F6-8562E5200F4B}"/>
              </a:ext>
            </a:extLst>
          </p:cNvPr>
          <p:cNvSpPr>
            <a:spLocks noGrp="1"/>
          </p:cNvSpPr>
          <p:nvPr/>
        </p:nvSpPr>
        <p:spPr>
          <a:xfrm>
            <a:off x="1591056" y="2834640"/>
            <a:ext cx="310896" cy="310896"/>
          </a:xfrm>
          <a:prstGeom prst="rect">
            <a:avLst/>
          </a:prstGeom>
          <a:solidFill>
            <a:srgbClr val="2364AA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73BA9CD5-C12C-4823-8C63-A2673B562D30}"/>
              </a:ext>
            </a:extLst>
          </p:cNvPr>
          <p:cNvSpPr>
            <a:spLocks noGrp="1"/>
          </p:cNvSpPr>
          <p:nvPr/>
        </p:nvSpPr>
        <p:spPr>
          <a:xfrm>
            <a:off x="1591056" y="3182112"/>
            <a:ext cx="310896" cy="310896"/>
          </a:xfrm>
          <a:prstGeom prst="rect">
            <a:avLst/>
          </a:prstGeom>
          <a:solidFill>
            <a:srgbClr val="F58220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3CC246D7-F75A-4AF7-8292-AE208A746A34}"/>
              </a:ext>
            </a:extLst>
          </p:cNvPr>
          <p:cNvSpPr>
            <a:spLocks noGrp="1"/>
          </p:cNvSpPr>
          <p:nvPr/>
        </p:nvSpPr>
        <p:spPr>
          <a:xfrm>
            <a:off x="1591056" y="3529584"/>
            <a:ext cx="310896" cy="310896"/>
          </a:xfrm>
          <a:prstGeom prst="rect">
            <a:avLst/>
          </a:prstGeom>
          <a:solidFill>
            <a:srgbClr val="EEF5F6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C3BAB0F7-F47B-4FFE-8DBB-0005333D0556}"/>
              </a:ext>
            </a:extLst>
          </p:cNvPr>
          <p:cNvSpPr>
            <a:spLocks noGrp="1"/>
          </p:cNvSpPr>
          <p:nvPr/>
        </p:nvSpPr>
        <p:spPr>
          <a:xfrm>
            <a:off x="1938528" y="2139696"/>
            <a:ext cx="310896" cy="310896"/>
          </a:xfrm>
          <a:prstGeom prst="rect">
            <a:avLst/>
          </a:prstGeom>
          <a:solidFill>
            <a:srgbClr val="F8C537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D2478FE1-40C2-41D3-B403-FD838F1FF8E4}"/>
              </a:ext>
            </a:extLst>
          </p:cNvPr>
          <p:cNvSpPr>
            <a:spLocks noGrp="1"/>
          </p:cNvSpPr>
          <p:nvPr/>
        </p:nvSpPr>
        <p:spPr>
          <a:xfrm>
            <a:off x="1938528" y="2487168"/>
            <a:ext cx="310896" cy="310896"/>
          </a:xfrm>
          <a:prstGeom prst="rect">
            <a:avLst/>
          </a:prstGeom>
          <a:solidFill>
            <a:srgbClr val="006B3F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59983138-ABA2-4CD4-8BA1-198502B9538A}"/>
              </a:ext>
            </a:extLst>
          </p:cNvPr>
          <p:cNvSpPr>
            <a:spLocks noGrp="1"/>
          </p:cNvSpPr>
          <p:nvPr/>
        </p:nvSpPr>
        <p:spPr>
          <a:xfrm>
            <a:off x="1938528" y="2834640"/>
            <a:ext cx="310896" cy="310896"/>
          </a:xfrm>
          <a:prstGeom prst="rect">
            <a:avLst/>
          </a:prstGeom>
          <a:solidFill>
            <a:srgbClr val="1B998B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5AA8AFE9-D964-4838-8360-BB360683F631}"/>
              </a:ext>
            </a:extLst>
          </p:cNvPr>
          <p:cNvSpPr>
            <a:spLocks noGrp="1"/>
          </p:cNvSpPr>
          <p:nvPr/>
        </p:nvSpPr>
        <p:spPr>
          <a:xfrm>
            <a:off x="1938528" y="3182112"/>
            <a:ext cx="310896" cy="310896"/>
          </a:xfrm>
          <a:prstGeom prst="rect">
            <a:avLst/>
          </a:prstGeom>
          <a:solidFill>
            <a:srgbClr val="F8C537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079F62BD-83FC-41DC-BEA7-A6E88956C064}"/>
              </a:ext>
            </a:extLst>
          </p:cNvPr>
          <p:cNvSpPr>
            <a:spLocks noGrp="1"/>
          </p:cNvSpPr>
          <p:nvPr/>
        </p:nvSpPr>
        <p:spPr>
          <a:xfrm>
            <a:off x="1938528" y="3529584"/>
            <a:ext cx="310896" cy="310896"/>
          </a:xfrm>
          <a:prstGeom prst="rect">
            <a:avLst/>
          </a:prstGeom>
          <a:solidFill>
            <a:srgbClr val="006B3F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88E1F10D-1853-46CD-B34D-B4E2CD5F8908}"/>
              </a:ext>
            </a:extLst>
          </p:cNvPr>
          <p:cNvSpPr>
            <a:spLocks noGrp="1"/>
          </p:cNvSpPr>
          <p:nvPr/>
        </p:nvSpPr>
        <p:spPr>
          <a:xfrm>
            <a:off x="2286000" y="2139696"/>
            <a:ext cx="310896" cy="310896"/>
          </a:xfrm>
          <a:prstGeom prst="rect">
            <a:avLst/>
          </a:prstGeom>
          <a:solidFill>
            <a:srgbClr val="EEF5F6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5F3CE931-768E-4D67-B899-3FCA1EB566E7}"/>
              </a:ext>
            </a:extLst>
          </p:cNvPr>
          <p:cNvSpPr>
            <a:spLocks noGrp="1"/>
          </p:cNvSpPr>
          <p:nvPr/>
        </p:nvSpPr>
        <p:spPr>
          <a:xfrm>
            <a:off x="2286000" y="2487168"/>
            <a:ext cx="310896" cy="310896"/>
          </a:xfrm>
          <a:prstGeom prst="rect">
            <a:avLst/>
          </a:prstGeom>
          <a:solidFill>
            <a:srgbClr val="2364AA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C29BA42F-36D5-400F-893A-B041F7615A49}"/>
              </a:ext>
            </a:extLst>
          </p:cNvPr>
          <p:cNvSpPr>
            <a:spLocks noGrp="1"/>
          </p:cNvSpPr>
          <p:nvPr/>
        </p:nvSpPr>
        <p:spPr>
          <a:xfrm>
            <a:off x="2286000" y="2834640"/>
            <a:ext cx="310896" cy="310896"/>
          </a:xfrm>
          <a:prstGeom prst="rect">
            <a:avLst/>
          </a:prstGeom>
          <a:solidFill>
            <a:srgbClr val="F58220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8A5FE1A2-696F-4E4F-9A2B-F4EF1A7DD627}"/>
              </a:ext>
            </a:extLst>
          </p:cNvPr>
          <p:cNvSpPr>
            <a:spLocks noGrp="1"/>
          </p:cNvSpPr>
          <p:nvPr/>
        </p:nvSpPr>
        <p:spPr>
          <a:xfrm>
            <a:off x="2286000" y="3182112"/>
            <a:ext cx="310896" cy="310896"/>
          </a:xfrm>
          <a:prstGeom prst="rect">
            <a:avLst/>
          </a:prstGeom>
          <a:solidFill>
            <a:srgbClr val="EEF5F6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1867F12E-DB8D-4258-AB11-2E8696DBBE8C}"/>
              </a:ext>
            </a:extLst>
          </p:cNvPr>
          <p:cNvSpPr>
            <a:spLocks noGrp="1"/>
          </p:cNvSpPr>
          <p:nvPr/>
        </p:nvSpPr>
        <p:spPr>
          <a:xfrm>
            <a:off x="2286000" y="3529584"/>
            <a:ext cx="310896" cy="310896"/>
          </a:xfrm>
          <a:prstGeom prst="rect">
            <a:avLst/>
          </a:prstGeom>
          <a:solidFill>
            <a:srgbClr val="2364AA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1F97FD91-0422-47FD-82DC-739E81DECE51}"/>
              </a:ext>
            </a:extLst>
          </p:cNvPr>
          <p:cNvSpPr>
            <a:spLocks noGrp="1"/>
          </p:cNvSpPr>
          <p:nvPr/>
        </p:nvSpPr>
        <p:spPr>
          <a:xfrm>
            <a:off x="2633472" y="2139696"/>
            <a:ext cx="310896" cy="310896"/>
          </a:xfrm>
          <a:prstGeom prst="rect">
            <a:avLst/>
          </a:prstGeom>
          <a:solidFill>
            <a:srgbClr val="006B3F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FCA56582-DD69-48B9-9448-9272D2D860A1}"/>
              </a:ext>
            </a:extLst>
          </p:cNvPr>
          <p:cNvSpPr>
            <a:spLocks noGrp="1"/>
          </p:cNvSpPr>
          <p:nvPr/>
        </p:nvSpPr>
        <p:spPr>
          <a:xfrm>
            <a:off x="2633472" y="2487168"/>
            <a:ext cx="310896" cy="310896"/>
          </a:xfrm>
          <a:prstGeom prst="rect">
            <a:avLst/>
          </a:prstGeom>
          <a:solidFill>
            <a:srgbClr val="1B998B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B7D2CFF7-4FDD-471F-A94B-5DFFB6C0594A}"/>
              </a:ext>
            </a:extLst>
          </p:cNvPr>
          <p:cNvSpPr>
            <a:spLocks noGrp="1"/>
          </p:cNvSpPr>
          <p:nvPr/>
        </p:nvSpPr>
        <p:spPr>
          <a:xfrm>
            <a:off x="2633472" y="2834640"/>
            <a:ext cx="310896" cy="310896"/>
          </a:xfrm>
          <a:prstGeom prst="rect">
            <a:avLst/>
          </a:prstGeom>
          <a:solidFill>
            <a:srgbClr val="F8C537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C070C254-B99F-479D-82EB-3C88EE604B7C}"/>
              </a:ext>
            </a:extLst>
          </p:cNvPr>
          <p:cNvSpPr>
            <a:spLocks noGrp="1"/>
          </p:cNvSpPr>
          <p:nvPr/>
        </p:nvSpPr>
        <p:spPr>
          <a:xfrm>
            <a:off x="2633472" y="3182112"/>
            <a:ext cx="310896" cy="310896"/>
          </a:xfrm>
          <a:prstGeom prst="rect">
            <a:avLst/>
          </a:prstGeom>
          <a:solidFill>
            <a:srgbClr val="006B3F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10A8C250-AA0B-4D00-85F1-1641DA08AF54}"/>
              </a:ext>
            </a:extLst>
          </p:cNvPr>
          <p:cNvSpPr>
            <a:spLocks noGrp="1"/>
          </p:cNvSpPr>
          <p:nvPr/>
        </p:nvSpPr>
        <p:spPr>
          <a:xfrm>
            <a:off x="2633472" y="3529584"/>
            <a:ext cx="310896" cy="310896"/>
          </a:xfrm>
          <a:prstGeom prst="rect">
            <a:avLst/>
          </a:prstGeom>
          <a:solidFill>
            <a:srgbClr val="1B998B"/>
          </a:solidFill>
          <a:ln w="2540">
            <a:solidFill>
              <a:srgbClr val="FFFFFF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D96DD7C2-7EF2-4B08-91C6-1BF444138126}"/>
              </a:ext>
            </a:extLst>
          </p:cNvPr>
          <p:cNvSpPr>
            <a:spLocks noGrp="1"/>
          </p:cNvSpPr>
          <p:nvPr/>
        </p:nvSpPr>
        <p:spPr>
          <a:xfrm>
            <a:off x="1005840" y="4407408"/>
            <a:ext cx="205740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2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Peta konsep</a:t>
            </a: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CA2F39ED-09EA-4BD8-82D3-F642013CEBCC}"/>
              </a:ext>
            </a:extLst>
          </p:cNvPr>
          <p:cNvSpPr>
            <a:spLocks noGrp="1"/>
          </p:cNvSpPr>
          <p:nvPr/>
        </p:nvSpPr>
        <p:spPr>
          <a:xfrm>
            <a:off x="4160520" y="1993392"/>
            <a:ext cx="3246120" cy="65836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EDD8A7BE-1EC8-4DC6-828F-87A547A9455D}"/>
              </a:ext>
            </a:extLst>
          </p:cNvPr>
          <p:cNvSpPr>
            <a:spLocks noGrp="1"/>
          </p:cNvSpPr>
          <p:nvPr/>
        </p:nvSpPr>
        <p:spPr>
          <a:xfrm>
            <a:off x="4297680" y="2112264"/>
            <a:ext cx="2971800" cy="43891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9023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Pendahuluan Epidemiologi: Sejarah…</a:t>
            </a: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E81D7CF1-4453-4E92-B347-CE15BD205F1B}"/>
              </a:ext>
            </a:extLst>
          </p:cNvPr>
          <p:cNvSpPr>
            <a:spLocks noGrp="1"/>
          </p:cNvSpPr>
          <p:nvPr/>
        </p:nvSpPr>
        <p:spPr>
          <a:xfrm>
            <a:off x="4160520" y="2880360"/>
            <a:ext cx="3246120" cy="65836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F738E7B2-C60B-4434-BB82-356E6AA40017}"/>
              </a:ext>
            </a:extLst>
          </p:cNvPr>
          <p:cNvSpPr>
            <a:spLocks noGrp="1"/>
          </p:cNvSpPr>
          <p:nvPr/>
        </p:nvSpPr>
        <p:spPr>
          <a:xfrm>
            <a:off x="4297680" y="2999232"/>
            <a:ext cx="2971800" cy="43891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9023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Proses Terjadinya Penyakit: Agent…</a:t>
            </a: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17DC0F88-3951-4C41-BEAA-2A5D0D2FBFF8}"/>
              </a:ext>
            </a:extLst>
          </p:cNvPr>
          <p:cNvSpPr>
            <a:spLocks noGrp="1"/>
          </p:cNvSpPr>
          <p:nvPr/>
        </p:nvSpPr>
        <p:spPr>
          <a:xfrm>
            <a:off x="4160520" y="3767328"/>
            <a:ext cx="3246120" cy="65836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Text 45">
            <a:extLst>
              <a:ext uri="{FF2B5EF4-FFF2-40B4-BE49-F238E27FC236}">
                <a16:creationId xmlns:a16="http://schemas.microsoft.com/office/drawing/2014/main" id="{4EE7C42A-37D1-4B9A-9A6F-4B8BAB2A99EE}"/>
              </a:ext>
            </a:extLst>
          </p:cNvPr>
          <p:cNvSpPr>
            <a:spLocks noGrp="1"/>
          </p:cNvSpPr>
          <p:nvPr/>
        </p:nvSpPr>
        <p:spPr>
          <a:xfrm>
            <a:off x="4297680" y="3886200"/>
            <a:ext cx="2971800" cy="43891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Ukuran Statistik Epidemiologi…</a:t>
            </a:r>
          </a:p>
        </p:txBody>
      </p:sp>
      <p:sp>
        <p:nvSpPr>
          <p:cNvPr id="49" name="Shape 46">
            <a:extLst>
              <a:ext uri="{FF2B5EF4-FFF2-40B4-BE49-F238E27FC236}">
                <a16:creationId xmlns:a16="http://schemas.microsoft.com/office/drawing/2014/main" id="{28017A4B-8BF7-4D95-AA04-3BE64F5AAB44}"/>
              </a:ext>
            </a:extLst>
          </p:cNvPr>
          <p:cNvSpPr>
            <a:spLocks noGrp="1"/>
          </p:cNvSpPr>
          <p:nvPr/>
        </p:nvSpPr>
        <p:spPr>
          <a:xfrm>
            <a:off x="8092440" y="1965960"/>
            <a:ext cx="3063240" cy="25786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0" name="Text 47">
            <a:extLst>
              <a:ext uri="{FF2B5EF4-FFF2-40B4-BE49-F238E27FC236}">
                <a16:creationId xmlns:a16="http://schemas.microsoft.com/office/drawing/2014/main" id="{F0E53656-4333-4C73-BFDE-1061AE2FAA86}"/>
              </a:ext>
            </a:extLst>
          </p:cNvPr>
          <p:cNvSpPr>
            <a:spLocks noGrp="1"/>
          </p:cNvSpPr>
          <p:nvPr/>
        </p:nvSpPr>
        <p:spPr>
          <a:xfrm>
            <a:off x="8321040" y="2267712"/>
            <a:ext cx="2606040" cy="25603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Karakteristik Utama</a:t>
            </a:r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76385269-C9F9-4CCA-B82B-9CA2534241B0}"/>
              </a:ext>
            </a:extLst>
          </p:cNvPr>
          <p:cNvSpPr>
            <a:spLocks noGrp="1"/>
          </p:cNvSpPr>
          <p:nvPr/>
        </p:nvSpPr>
        <p:spPr>
          <a:xfrm>
            <a:off x="8366760" y="2743200"/>
            <a:ext cx="2514600" cy="137160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/>
          </a:bodyPr>
          <a:lstStyle/>
          <a:p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Pendahuluan Epidemiologi</a:t>
            </a:r>
          </a:p>
          <a:p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Proses Terjadinya</a:t>
            </a:r>
          </a:p>
          <a:p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Ukuran Statistik</a:t>
            </a:r>
          </a:p>
          <a:p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Visualisasi Distribusi</a:t>
            </a:r>
          </a:p>
          <a:p>
            <a:pPr marL="190500" indent="-190500">
              <a:buChar char="•"/>
            </a:pPr>
            <a:r>
              <a:rPr sz="115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Pengumpulan Data</a:t>
            </a:r>
          </a:p>
        </p:txBody>
      </p:sp>
    </p:spTree>
    <p:extLst>
      <p:ext uri="{BB962C8B-B14F-4D97-AF65-F5344CB8AC3E}">
        <p14:creationId xmlns:p14="http://schemas.microsoft.com/office/powerpoint/2010/main" val="5537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666F773D-418D-4B70-BCDC-78003953619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FC76109F-9712-4307-A6A5-CAB642FDE9A4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E10EA04-02B0-4905-917D-15FA6ED64C2F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9D7DD101-333B-476A-95B0-78B9A4BF1F25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Operasi Dasar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AB82F97-72E8-4275-B517-95E2D1DB3ABD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Ukuran Statistik, Visualisasi, Metode Pengumpulan, Jenis Kejadian, Data Surveilans, UTS…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C4469493-775C-4770-87C6-C748D79DE139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1FCAFA59-1D82-4389-8C8E-BC4884CF3297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051F41D-03E8-4436-ADA1-2AB707D9C3C5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DFD2717A-DF9E-4FA7-BBA5-02FA60909C91}"/>
              </a:ext>
            </a:extLst>
          </p:cNvPr>
          <p:cNvSpPr>
            <a:spLocks noGrp="1"/>
          </p:cNvSpPr>
          <p:nvPr/>
        </p:nvSpPr>
        <p:spPr>
          <a:xfrm>
            <a:off x="640080" y="1975104"/>
            <a:ext cx="3154680" cy="80467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22856E20-EBC1-47F7-9762-57837FAFDC6C}"/>
              </a:ext>
            </a:extLst>
          </p:cNvPr>
          <p:cNvSpPr>
            <a:spLocks noGrp="1"/>
          </p:cNvSpPr>
          <p:nvPr/>
        </p:nvSpPr>
        <p:spPr>
          <a:xfrm>
            <a:off x="804672" y="2112264"/>
            <a:ext cx="1170432" cy="20116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87220"/>
          </a:bodyPr>
          <a:lstStyle/>
          <a:p>
            <a:pPr marL="0" indent="0" algn="l">
              <a:buNone/>
            </a:pPr>
            <a:r>
              <a:rPr sz="13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Ukuran Statistik</a:t>
            </a: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378217AE-C089-4886-AF4F-BB265C9EFB7D}"/>
              </a:ext>
            </a:extLst>
          </p:cNvPr>
          <p:cNvSpPr>
            <a:spLocks noGrp="1"/>
          </p:cNvSpPr>
          <p:nvPr/>
        </p:nvSpPr>
        <p:spPr>
          <a:xfrm>
            <a:off x="2029968" y="2139696"/>
            <a:ext cx="160020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Ukuran frekuensi penyakit dan ukuran…</a:t>
            </a: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08353D6B-0626-474D-8A20-789F9FA1C5D8}"/>
              </a:ext>
            </a:extLst>
          </p:cNvPr>
          <p:cNvSpPr>
            <a:spLocks noGrp="1"/>
          </p:cNvSpPr>
          <p:nvPr/>
        </p:nvSpPr>
        <p:spPr>
          <a:xfrm>
            <a:off x="4434840" y="1975104"/>
            <a:ext cx="3154680" cy="80467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E85670B9-D39D-4763-8123-85527F7E1C8D}"/>
              </a:ext>
            </a:extLst>
          </p:cNvPr>
          <p:cNvSpPr>
            <a:spLocks noGrp="1"/>
          </p:cNvSpPr>
          <p:nvPr/>
        </p:nvSpPr>
        <p:spPr>
          <a:xfrm>
            <a:off x="4599432" y="2112264"/>
            <a:ext cx="1170432" cy="20116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5048"/>
          </a:bodyPr>
          <a:lstStyle/>
          <a:p>
            <a:pPr marL="0" indent="0" algn="l">
              <a:buNone/>
            </a:pPr>
            <a:r>
              <a:rPr sz="13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Visualisasi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3EA96809-3271-40CF-9AE5-FC32FB5E5E81}"/>
              </a:ext>
            </a:extLst>
          </p:cNvPr>
          <p:cNvSpPr>
            <a:spLocks noGrp="1"/>
          </p:cNvSpPr>
          <p:nvPr/>
        </p:nvSpPr>
        <p:spPr>
          <a:xfrm>
            <a:off x="5824728" y="2139696"/>
            <a:ext cx="160020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9399"/>
          </a:bodyPr>
          <a:lstStyle/>
          <a:p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Pembuatan peta distribusi spasial penyakit…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DB5A256D-1B0F-4C69-9EFB-E7098BABB315}"/>
              </a:ext>
            </a:extLst>
          </p:cNvPr>
          <p:cNvSpPr>
            <a:spLocks noGrp="1"/>
          </p:cNvSpPr>
          <p:nvPr/>
        </p:nvSpPr>
        <p:spPr>
          <a:xfrm>
            <a:off x="8229600" y="1975104"/>
            <a:ext cx="3154680" cy="80467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12875EF-9FED-4331-9428-57BB9C5FF505}"/>
              </a:ext>
            </a:extLst>
          </p:cNvPr>
          <p:cNvSpPr>
            <a:spLocks noGrp="1"/>
          </p:cNvSpPr>
          <p:nvPr/>
        </p:nvSpPr>
        <p:spPr>
          <a:xfrm>
            <a:off x="8394192" y="2112264"/>
            <a:ext cx="1170432" cy="20116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5048"/>
          </a:bodyPr>
          <a:lstStyle/>
          <a:p>
            <a:pPr marL="0" indent="0" algn="l">
              <a:buNone/>
            </a:pPr>
            <a:r>
              <a:rPr sz="13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</a:t>
            </a: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3CCAD5E-5D90-4629-8DC6-3163FE63A889}"/>
              </a:ext>
            </a:extLst>
          </p:cNvPr>
          <p:cNvSpPr>
            <a:spLocks noGrp="1"/>
          </p:cNvSpPr>
          <p:nvPr/>
        </p:nvSpPr>
        <p:spPr>
          <a:xfrm>
            <a:off x="9619488" y="2139696"/>
            <a:ext cx="160020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 data primer, data sekunder…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49619191-D9B9-416B-BF77-995CB9610561}"/>
              </a:ext>
            </a:extLst>
          </p:cNvPr>
          <p:cNvSpPr>
            <a:spLocks noGrp="1"/>
          </p:cNvSpPr>
          <p:nvPr/>
        </p:nvSpPr>
        <p:spPr>
          <a:xfrm>
            <a:off x="640080" y="3090672"/>
            <a:ext cx="3154680" cy="80467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73B4C43-E1F3-43E5-AD43-CBE5F7D46FBB}"/>
              </a:ext>
            </a:extLst>
          </p:cNvPr>
          <p:cNvSpPr>
            <a:spLocks noGrp="1"/>
          </p:cNvSpPr>
          <p:nvPr/>
        </p:nvSpPr>
        <p:spPr>
          <a:xfrm>
            <a:off x="804672" y="3227832"/>
            <a:ext cx="1170432" cy="20116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5048"/>
          </a:bodyPr>
          <a:lstStyle/>
          <a:p>
            <a:pPr marL="0" indent="0" algn="l">
              <a:buNone/>
            </a:pPr>
            <a:r>
              <a:rPr sz="13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Jenis Kejadian</a:t>
            </a: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2D6641F6-7CAC-4B2C-91DF-7D2BC8E4D924}"/>
              </a:ext>
            </a:extLst>
          </p:cNvPr>
          <p:cNvSpPr>
            <a:spLocks noGrp="1"/>
          </p:cNvSpPr>
          <p:nvPr/>
        </p:nvSpPr>
        <p:spPr>
          <a:xfrm>
            <a:off x="2029968" y="3255264"/>
            <a:ext cx="160020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Klasifikasi kejadian penyakit dalam…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045C15A3-551D-4310-B333-067E152F69BF}"/>
              </a:ext>
            </a:extLst>
          </p:cNvPr>
          <p:cNvSpPr>
            <a:spLocks noGrp="1"/>
          </p:cNvSpPr>
          <p:nvPr/>
        </p:nvSpPr>
        <p:spPr>
          <a:xfrm>
            <a:off x="4434840" y="3090672"/>
            <a:ext cx="3154680" cy="80467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AD2F7D79-EA26-4752-803D-6F763EE05790}"/>
              </a:ext>
            </a:extLst>
          </p:cNvPr>
          <p:cNvSpPr>
            <a:spLocks noGrp="1"/>
          </p:cNvSpPr>
          <p:nvPr/>
        </p:nvSpPr>
        <p:spPr>
          <a:xfrm>
            <a:off x="4599432" y="3227832"/>
            <a:ext cx="1170432" cy="20116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89367"/>
          </a:bodyPr>
          <a:lstStyle/>
          <a:p>
            <a:pPr marL="0" indent="0" algn="l">
              <a:buNone/>
            </a:pPr>
            <a:r>
              <a:rPr sz="13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Data Surveilans</a:t>
            </a: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59B93416-39FE-4A0F-BFFC-2C922311A3BD}"/>
              </a:ext>
            </a:extLst>
          </p:cNvPr>
          <p:cNvSpPr>
            <a:spLocks noGrp="1"/>
          </p:cNvSpPr>
          <p:nvPr/>
        </p:nvSpPr>
        <p:spPr>
          <a:xfrm>
            <a:off x="5824728" y="3255264"/>
            <a:ext cx="160020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tren, evaluasi faktor risiko…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83D1EDF8-028F-4A1D-991C-76C20E9D7C76}"/>
              </a:ext>
            </a:extLst>
          </p:cNvPr>
          <p:cNvSpPr>
            <a:spLocks noGrp="1"/>
          </p:cNvSpPr>
          <p:nvPr/>
        </p:nvSpPr>
        <p:spPr>
          <a:xfrm>
            <a:off x="8229600" y="3090672"/>
            <a:ext cx="3154680" cy="80467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4CA1A717-60D2-4314-88D9-CF23C1352EA3}"/>
              </a:ext>
            </a:extLst>
          </p:cNvPr>
          <p:cNvSpPr>
            <a:spLocks noGrp="1"/>
          </p:cNvSpPr>
          <p:nvPr/>
        </p:nvSpPr>
        <p:spPr>
          <a:xfrm>
            <a:off x="8394192" y="3227832"/>
            <a:ext cx="1170432" cy="20116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5048"/>
          </a:bodyPr>
          <a:lstStyle/>
          <a:p>
            <a:pPr marL="0" indent="0" algn="l">
              <a:buNone/>
            </a:pPr>
            <a:r>
              <a:rPr sz="13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UTS Berbasis</a:t>
            </a: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D5A74799-B8E2-4EAD-A2BF-6432A8C72CEF}"/>
              </a:ext>
            </a:extLst>
          </p:cNvPr>
          <p:cNvSpPr>
            <a:spLocks noGrp="1"/>
          </p:cNvSpPr>
          <p:nvPr/>
        </p:nvSpPr>
        <p:spPr>
          <a:xfrm>
            <a:off x="9619488" y="3255264"/>
            <a:ext cx="160020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Integrasi subcpmk1 dan subcpmk2 melalui…</a:t>
            </a: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F55A8D25-1CAB-4945-BC77-EB10EEEDEE08}"/>
              </a:ext>
            </a:extLst>
          </p:cNvPr>
          <p:cNvSpPr>
            <a:spLocks noGrp="1"/>
          </p:cNvSpPr>
          <p:nvPr/>
        </p:nvSpPr>
        <p:spPr>
          <a:xfrm>
            <a:off x="914400" y="4617720"/>
            <a:ext cx="4800600" cy="65836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DFF81AFB-A857-423A-B3B7-798E458E5581}"/>
              </a:ext>
            </a:extLst>
          </p:cNvPr>
          <p:cNvSpPr>
            <a:spLocks noGrp="1"/>
          </p:cNvSpPr>
          <p:nvPr/>
        </p:nvSpPr>
        <p:spPr>
          <a:xfrm>
            <a:off x="1051560" y="4736592"/>
            <a:ext cx="4526280" cy="43891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9023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I= racnS_0 I=$ sebagai ringkasan Moran untuk eksplorasi…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8C7E457C-BB22-4367-B29F-5C89F23030EA}"/>
              </a:ext>
            </a:extLst>
          </p:cNvPr>
          <p:cNvSpPr>
            <a:spLocks noGrp="1"/>
          </p:cNvSpPr>
          <p:nvPr/>
        </p:nvSpPr>
        <p:spPr>
          <a:xfrm>
            <a:off x="6400800" y="4617720"/>
            <a:ext cx="4800600" cy="65836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5FCFCFE-5F8B-486B-8669-2BE120307236}"/>
              </a:ext>
            </a:extLst>
          </p:cNvPr>
          <p:cNvSpPr>
            <a:spLocks noGrp="1"/>
          </p:cNvSpPr>
          <p:nvPr/>
        </p:nvSpPr>
        <p:spPr>
          <a:xfrm>
            <a:off x="6537960" y="4736592"/>
            <a:ext cx="4526280" cy="438912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9023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Attack rate=(kasus baru selama outbreak)/(populasi yang…</a:t>
            </a: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A97B36D0-1400-44B5-BC76-C486F1B7E6ED}"/>
              </a:ext>
            </a:extLst>
          </p:cNvPr>
          <p:cNvSpPr>
            <a:spLocks noGrp="1"/>
          </p:cNvSpPr>
          <p:nvPr/>
        </p:nvSpPr>
        <p:spPr>
          <a:xfrm>
            <a:off x="960120" y="5623560"/>
            <a:ext cx="1024128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40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dasar adalah grammar analisis: pahami asumsi dan tujuan sebelum menyusun model yang lebih kompleks.</a:t>
            </a:r>
          </a:p>
        </p:txBody>
      </p:sp>
    </p:spTree>
    <p:extLst>
      <p:ext uri="{BB962C8B-B14F-4D97-AF65-F5344CB8AC3E}">
        <p14:creationId xmlns:p14="http://schemas.microsoft.com/office/powerpoint/2010/main" val="15644548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34F11EF0-8E94-46E3-99E2-604C6765C605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76D729B-A0CC-4F80-AA4F-F26E907A64F0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6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13D2A783-01C1-4783-86C7-1ED87C212453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EE461EDD-C72F-40AA-9731-122F00C6B38F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Metode Inti dan Estimasi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DAF830D-3942-4BFE-AEB0-F45D409F088A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Formulasi, estimasi, komputasi, diagnostik, dan interpretasi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FA6D8C6-FD21-4CC6-9CFE-B7C6CFACF1B8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C8EC0585-75AE-4780-B4F6-97C438EDEACC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09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84ABCD5-1CC0-4DE7-9A0D-BF9A62F64618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DD03C6B-7591-4B16-8CA9-B96FC4AC30C3}"/>
              </a:ext>
            </a:extLst>
          </p:cNvPr>
          <p:cNvSpPr>
            <a:spLocks noGrp="1"/>
          </p:cNvSpPr>
          <p:nvPr/>
        </p:nvSpPr>
        <p:spPr>
          <a:xfrm>
            <a:off x="822960" y="1901952"/>
            <a:ext cx="5166360" cy="71323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0436B718-EA5B-425E-A55C-7386F4F42159}"/>
              </a:ext>
            </a:extLst>
          </p:cNvPr>
          <p:cNvSpPr>
            <a:spLocks noGrp="1"/>
          </p:cNvSpPr>
          <p:nvPr/>
        </p:nvSpPr>
        <p:spPr>
          <a:xfrm>
            <a:off x="960120" y="2020824"/>
            <a:ext cx="4892040" cy="49377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Attack rate=(kasus baru selama outbreak)/(populasi yang terpapar) 100\% .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5BF3A685-581D-4430-BBF1-889232718F23}"/>
              </a:ext>
            </a:extLst>
          </p:cNvPr>
          <p:cNvSpPr>
            <a:spLocks noGrp="1"/>
          </p:cNvSpPr>
          <p:nvPr/>
        </p:nvSpPr>
        <p:spPr>
          <a:xfrm>
            <a:off x="1417320" y="315468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DDD4BE42-1D2A-4863-8199-51D4A40CD9B8}"/>
              </a:ext>
            </a:extLst>
          </p:cNvPr>
          <p:cNvSpPr>
            <a:spLocks noGrp="1"/>
          </p:cNvSpPr>
          <p:nvPr/>
        </p:nvSpPr>
        <p:spPr>
          <a:xfrm>
            <a:off x="1490472" y="326440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ED08A3E5-EB02-4FCF-A04B-0EC81E417BA9}"/>
              </a:ext>
            </a:extLst>
          </p:cNvPr>
          <p:cNvSpPr>
            <a:spLocks noGrp="1"/>
          </p:cNvSpPr>
          <p:nvPr/>
        </p:nvSpPr>
        <p:spPr>
          <a:xfrm>
            <a:off x="1828800" y="315468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746D3265-5459-4914-82EA-D92F62AB8F0E}"/>
              </a:ext>
            </a:extLst>
          </p:cNvPr>
          <p:cNvSpPr>
            <a:spLocks noGrp="1"/>
          </p:cNvSpPr>
          <p:nvPr/>
        </p:nvSpPr>
        <p:spPr>
          <a:xfrm>
            <a:off x="1901952" y="326440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81EBCD19-6799-46B1-B902-B4C0547D839D}"/>
              </a:ext>
            </a:extLst>
          </p:cNvPr>
          <p:cNvSpPr>
            <a:spLocks noGrp="1"/>
          </p:cNvSpPr>
          <p:nvPr/>
        </p:nvSpPr>
        <p:spPr>
          <a:xfrm>
            <a:off x="2240280" y="315468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BDE50F8-4A00-4641-9C23-E4FF5450D76F}"/>
              </a:ext>
            </a:extLst>
          </p:cNvPr>
          <p:cNvSpPr>
            <a:spLocks noGrp="1"/>
          </p:cNvSpPr>
          <p:nvPr/>
        </p:nvSpPr>
        <p:spPr>
          <a:xfrm>
            <a:off x="2313432" y="326440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8AF35A6-BD0E-4CFA-9384-2755B8D97D3E}"/>
              </a:ext>
            </a:extLst>
          </p:cNvPr>
          <p:cNvSpPr>
            <a:spLocks noGrp="1"/>
          </p:cNvSpPr>
          <p:nvPr/>
        </p:nvSpPr>
        <p:spPr>
          <a:xfrm>
            <a:off x="1417320" y="356616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955E3F6B-20CE-4B27-A524-7DC4A046C084}"/>
              </a:ext>
            </a:extLst>
          </p:cNvPr>
          <p:cNvSpPr>
            <a:spLocks noGrp="1"/>
          </p:cNvSpPr>
          <p:nvPr/>
        </p:nvSpPr>
        <p:spPr>
          <a:xfrm>
            <a:off x="1490472" y="367588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02F5BB81-2E48-4D04-A3AC-C841F95C9A8E}"/>
              </a:ext>
            </a:extLst>
          </p:cNvPr>
          <p:cNvSpPr>
            <a:spLocks noGrp="1"/>
          </p:cNvSpPr>
          <p:nvPr/>
        </p:nvSpPr>
        <p:spPr>
          <a:xfrm>
            <a:off x="1828800" y="356616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F78ACBF-E71C-4B4C-BAAD-A3D44EB00D83}"/>
              </a:ext>
            </a:extLst>
          </p:cNvPr>
          <p:cNvSpPr>
            <a:spLocks noGrp="1"/>
          </p:cNvSpPr>
          <p:nvPr/>
        </p:nvSpPr>
        <p:spPr>
          <a:xfrm>
            <a:off x="1901952" y="367588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CB0178F9-ADD5-432A-8728-763231CB9C04}"/>
              </a:ext>
            </a:extLst>
          </p:cNvPr>
          <p:cNvSpPr>
            <a:spLocks noGrp="1"/>
          </p:cNvSpPr>
          <p:nvPr/>
        </p:nvSpPr>
        <p:spPr>
          <a:xfrm>
            <a:off x="2240280" y="356616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32644E69-6B4C-435D-A757-6B7938598E72}"/>
              </a:ext>
            </a:extLst>
          </p:cNvPr>
          <p:cNvSpPr>
            <a:spLocks noGrp="1"/>
          </p:cNvSpPr>
          <p:nvPr/>
        </p:nvSpPr>
        <p:spPr>
          <a:xfrm>
            <a:off x="2313432" y="367588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58E1DA85-9D5B-4181-B46E-DAB022FEDBF9}"/>
              </a:ext>
            </a:extLst>
          </p:cNvPr>
          <p:cNvSpPr>
            <a:spLocks noGrp="1"/>
          </p:cNvSpPr>
          <p:nvPr/>
        </p:nvSpPr>
        <p:spPr>
          <a:xfrm>
            <a:off x="1417320" y="397764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D7775253-3E0A-4873-BD91-253587C78827}"/>
              </a:ext>
            </a:extLst>
          </p:cNvPr>
          <p:cNvSpPr>
            <a:spLocks noGrp="1"/>
          </p:cNvSpPr>
          <p:nvPr/>
        </p:nvSpPr>
        <p:spPr>
          <a:xfrm>
            <a:off x="1490472" y="408736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84B314B3-7B2D-4612-81BD-D3F89C9684BF}"/>
              </a:ext>
            </a:extLst>
          </p:cNvPr>
          <p:cNvSpPr>
            <a:spLocks noGrp="1"/>
          </p:cNvSpPr>
          <p:nvPr/>
        </p:nvSpPr>
        <p:spPr>
          <a:xfrm>
            <a:off x="1828800" y="397764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C5570A2B-698B-4F35-AE68-F7CA13EBE055}"/>
              </a:ext>
            </a:extLst>
          </p:cNvPr>
          <p:cNvSpPr>
            <a:spLocks noGrp="1"/>
          </p:cNvSpPr>
          <p:nvPr/>
        </p:nvSpPr>
        <p:spPr>
          <a:xfrm>
            <a:off x="1901952" y="408736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0</a:t>
            </a: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E0D59396-683F-452E-9CA9-92556F799F60}"/>
              </a:ext>
            </a:extLst>
          </p:cNvPr>
          <p:cNvSpPr>
            <a:spLocks noGrp="1"/>
          </p:cNvSpPr>
          <p:nvPr/>
        </p:nvSpPr>
        <p:spPr>
          <a:xfrm>
            <a:off x="2240280" y="3977640"/>
            <a:ext cx="384048" cy="384048"/>
          </a:xfrm>
          <a:prstGeom prst="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F5AED85F-33AB-4396-B1AA-E07986C1B8AF}"/>
              </a:ext>
            </a:extLst>
          </p:cNvPr>
          <p:cNvSpPr>
            <a:spLocks noGrp="1"/>
          </p:cNvSpPr>
          <p:nvPr/>
        </p:nvSpPr>
        <p:spPr>
          <a:xfrm>
            <a:off x="2313432" y="4087368"/>
            <a:ext cx="265176" cy="146304"/>
          </a:xfrm>
          <a:prstGeom prst="rect">
            <a:avLst/>
          </a:prstGeom>
          <a:noFill/>
        </p:spPr>
        <p:txBody>
          <a:bodyPr wrap="square" lIns="0" tIns="0" rIns="0" bIns="0" anchor="t">
            <a:normAutofit fontScale="96000"/>
          </a:bodyPr>
          <a:lstStyle/>
          <a:p>
            <a:pPr marL="0" indent="0" algn="ctr">
              <a:buNone/>
            </a:pPr>
            <a:r>
              <a:rPr sz="10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A366663A-9260-49C2-A875-18B4CBD448CD}"/>
              </a:ext>
            </a:extLst>
          </p:cNvPr>
          <p:cNvSpPr>
            <a:spLocks noGrp="1"/>
          </p:cNvSpPr>
          <p:nvPr/>
        </p:nvSpPr>
        <p:spPr>
          <a:xfrm>
            <a:off x="1097280" y="4553712"/>
            <a:ext cx="1828800" cy="20116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Matriks struktur ilustratif</a:t>
            </a: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F18013C7-9190-46FE-AE2B-D7010CEB4D24}"/>
              </a:ext>
            </a:extLst>
          </p:cNvPr>
          <p:cNvSpPr>
            <a:spLocks noGrp="1"/>
          </p:cNvSpPr>
          <p:nvPr/>
        </p:nvSpPr>
        <p:spPr>
          <a:xfrm>
            <a:off x="6419088" y="1975104"/>
            <a:ext cx="2057400" cy="676656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8DA09354-A1BD-41BA-974E-A9FB6974FF99}"/>
              </a:ext>
            </a:extLst>
          </p:cNvPr>
          <p:cNvSpPr>
            <a:spLocks noGrp="1"/>
          </p:cNvSpPr>
          <p:nvPr/>
        </p:nvSpPr>
        <p:spPr>
          <a:xfrm>
            <a:off x="6492240" y="2057400"/>
            <a:ext cx="191109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Metode Pengumpulan</a:t>
            </a:r>
          </a:p>
          <a:p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Sumber data…</a:t>
            </a: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6CCDE9E5-3640-45B4-8EA3-E4996506DC86}"/>
              </a:ext>
            </a:extLst>
          </p:cNvPr>
          <p:cNvSpPr>
            <a:spLocks noGrp="1"/>
          </p:cNvSpPr>
          <p:nvPr/>
        </p:nvSpPr>
        <p:spPr>
          <a:xfrm>
            <a:off x="8796528" y="1975104"/>
            <a:ext cx="2057400" cy="676656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B7732FBC-681F-422B-AA27-C1EEEA93A5B2}"/>
              </a:ext>
            </a:extLst>
          </p:cNvPr>
          <p:cNvSpPr>
            <a:spLocks noGrp="1"/>
          </p:cNvSpPr>
          <p:nvPr/>
        </p:nvSpPr>
        <p:spPr>
          <a:xfrm>
            <a:off x="8869680" y="2057400"/>
            <a:ext cx="191109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Jenis Kejadian</a:t>
            </a:r>
          </a:p>
          <a:p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Klasifikasi…</a:t>
            </a: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590EE8D1-A915-4281-ACD8-E9CDF8056A02}"/>
              </a:ext>
            </a:extLst>
          </p:cNvPr>
          <p:cNvSpPr>
            <a:spLocks noGrp="1"/>
          </p:cNvSpPr>
          <p:nvPr/>
        </p:nvSpPr>
        <p:spPr>
          <a:xfrm>
            <a:off x="6419088" y="2926080"/>
            <a:ext cx="2057400" cy="676656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9098901A-D231-4589-8CFF-E84CD4A416B5}"/>
              </a:ext>
            </a:extLst>
          </p:cNvPr>
          <p:cNvSpPr>
            <a:spLocks noGrp="1"/>
          </p:cNvSpPr>
          <p:nvPr/>
        </p:nvSpPr>
        <p:spPr>
          <a:xfrm>
            <a:off x="6492240" y="3008376"/>
            <a:ext cx="191109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Surveilans dan</a:t>
            </a:r>
          </a:p>
          <a:p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Analisis tren…</a:t>
            </a:r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FD2D0D8B-2DB5-4776-B88F-81835F0F60CC}"/>
              </a:ext>
            </a:extLst>
          </p:cNvPr>
          <p:cNvSpPr>
            <a:spLocks noGrp="1"/>
          </p:cNvSpPr>
          <p:nvPr/>
        </p:nvSpPr>
        <p:spPr>
          <a:xfrm>
            <a:off x="8796528" y="2926080"/>
            <a:ext cx="2057400" cy="676656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Text 36">
            <a:extLst>
              <a:ext uri="{FF2B5EF4-FFF2-40B4-BE49-F238E27FC236}">
                <a16:creationId xmlns:a16="http://schemas.microsoft.com/office/drawing/2014/main" id="{5A00D8B8-88FF-421C-A0C7-C0A713C83247}"/>
              </a:ext>
            </a:extLst>
          </p:cNvPr>
          <p:cNvSpPr>
            <a:spLocks noGrp="1"/>
          </p:cNvSpPr>
          <p:nvPr/>
        </p:nvSpPr>
        <p:spPr>
          <a:xfrm>
            <a:off x="8869680" y="3008376"/>
            <a:ext cx="191109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Berbasis Proyek</a:t>
            </a:r>
          </a:p>
          <a:p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Integrasi subcpmk1…</a:t>
            </a:r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A4279141-BC90-46E3-9C41-28AB91D64C03}"/>
              </a:ext>
            </a:extLst>
          </p:cNvPr>
          <p:cNvSpPr>
            <a:spLocks noGrp="1"/>
          </p:cNvSpPr>
          <p:nvPr/>
        </p:nvSpPr>
        <p:spPr>
          <a:xfrm>
            <a:off x="6419088" y="3877056"/>
            <a:ext cx="2057400" cy="676656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6D3A6068-8A5C-4E0B-8A42-93311240DEF7}"/>
              </a:ext>
            </a:extLst>
          </p:cNvPr>
          <p:cNvSpPr>
            <a:spLocks noGrp="1"/>
          </p:cNvSpPr>
          <p:nvPr/>
        </p:nvSpPr>
        <p:spPr>
          <a:xfrm>
            <a:off x="6492240" y="3959352"/>
            <a:ext cx="1911096" cy="51206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Manajemen Data</a:t>
            </a:r>
          </a:p>
          <a:p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Struktur data…</a:t>
            </a:r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43EB3938-BB41-4FC9-8965-E1E672C75E6C}"/>
              </a:ext>
            </a:extLst>
          </p:cNvPr>
          <p:cNvSpPr>
            <a:spLocks noGrp="1"/>
          </p:cNvSpPr>
          <p:nvPr/>
        </p:nvSpPr>
        <p:spPr>
          <a:xfrm>
            <a:off x="868680" y="5559552"/>
            <a:ext cx="10469880" cy="36576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300" i="1">
                <a:solidFill>
                  <a:srgbClr val="53657D"/>
                </a:solidFill>
                <a:latin typeface="Aptos"/>
                <a:ea typeface="Aptos"/>
                <a:cs typeface="Aptos"/>
              </a:rPr>
              <a:t>Catatan: model dipilih karena sesuai dengan struktur data dan tujuan analisis, bukan karena tampak paling kompleks.</a:t>
            </a:r>
          </a:p>
        </p:txBody>
      </p:sp>
    </p:spTree>
    <p:extLst>
      <p:ext uri="{BB962C8B-B14F-4D97-AF65-F5344CB8AC3E}">
        <p14:creationId xmlns:p14="http://schemas.microsoft.com/office/powerpoint/2010/main" val="6945848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0724B30-3C93-4E9D-90C7-1274F6E4915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732AB50-10AE-40F9-81C6-600B777EE054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8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A2570206-816E-49B7-96E9-1418E9BED578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7790376-BC46-4532-B68C-728DDC37E42F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Integrasi Model dan Diagnostik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EE67439B-3FFE-4EF7-B43C-C7D695312BEE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Alur keputusan dari data, model, diagnostik, revisi, sampai interpretasi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233CDD49-9C3C-4177-908B-85C1E056E0E3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BBBC516C-5F4E-4C25-94FC-5D5FA185F9C4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FCA5D0B-C16C-46AA-91C9-CF63B63BB648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ED03937-3D67-4E2C-AFC3-D3E2D4F2226E}"/>
              </a:ext>
            </a:extLst>
          </p:cNvPr>
          <p:cNvSpPr>
            <a:spLocks noGrp="1"/>
          </p:cNvSpPr>
          <p:nvPr/>
        </p:nvSpPr>
        <p:spPr>
          <a:xfrm>
            <a:off x="868680" y="2423160"/>
            <a:ext cx="1234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42969764-E52B-449E-B968-9C06CB4A5244}"/>
              </a:ext>
            </a:extLst>
          </p:cNvPr>
          <p:cNvSpPr>
            <a:spLocks noGrp="1"/>
          </p:cNvSpPr>
          <p:nvPr/>
        </p:nvSpPr>
        <p:spPr>
          <a:xfrm>
            <a:off x="1353312" y="2542032"/>
            <a:ext cx="182880" cy="128016"/>
          </a:xfrm>
          <a:prstGeom prst="rect">
            <a:avLst/>
          </a:prstGeom>
          <a:solidFill>
            <a:srgbClr val="2364AA"/>
          </a:solidFill>
          <a:ln w="12700">
            <a:solidFill>
              <a:srgbClr val="2364A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D22B0E42-FEAB-4EC0-9569-7C3EE91EF845}"/>
              </a:ext>
            </a:extLst>
          </p:cNvPr>
          <p:cNvSpPr>
            <a:spLocks noGrp="1"/>
          </p:cNvSpPr>
          <p:nvPr/>
        </p:nvSpPr>
        <p:spPr>
          <a:xfrm>
            <a:off x="1097280" y="2724912"/>
            <a:ext cx="182880" cy="128016"/>
          </a:xfrm>
          <a:prstGeom prst="rect">
            <a:avLst/>
          </a:prstGeom>
          <a:solidFill>
            <a:srgbClr val="2364AA"/>
          </a:solidFill>
          <a:ln w="12700">
            <a:solidFill>
              <a:srgbClr val="2364A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F0B554ED-4498-47AC-89D7-D4CE02F69413}"/>
              </a:ext>
            </a:extLst>
          </p:cNvPr>
          <p:cNvSpPr>
            <a:spLocks noGrp="1"/>
          </p:cNvSpPr>
          <p:nvPr/>
        </p:nvSpPr>
        <p:spPr>
          <a:xfrm>
            <a:off x="1353312" y="2724912"/>
            <a:ext cx="182880" cy="128016"/>
          </a:xfrm>
          <a:prstGeom prst="rect">
            <a:avLst/>
          </a:prstGeom>
          <a:solidFill>
            <a:srgbClr val="2364AA"/>
          </a:solidFill>
          <a:ln w="12700">
            <a:solidFill>
              <a:srgbClr val="2364A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D1DDADEE-102D-4E6F-9250-D644DC30D4B0}"/>
              </a:ext>
            </a:extLst>
          </p:cNvPr>
          <p:cNvSpPr>
            <a:spLocks noGrp="1"/>
          </p:cNvSpPr>
          <p:nvPr/>
        </p:nvSpPr>
        <p:spPr>
          <a:xfrm>
            <a:off x="1609344" y="2724912"/>
            <a:ext cx="182880" cy="128016"/>
          </a:xfrm>
          <a:prstGeom prst="rect">
            <a:avLst/>
          </a:prstGeom>
          <a:solidFill>
            <a:srgbClr val="2364AA"/>
          </a:solidFill>
          <a:ln w="12700">
            <a:solidFill>
              <a:srgbClr val="2364A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D3BD445-DB99-47C5-9224-BC33DEBA97CD}"/>
              </a:ext>
            </a:extLst>
          </p:cNvPr>
          <p:cNvSpPr>
            <a:spLocks noGrp="1"/>
          </p:cNvSpPr>
          <p:nvPr/>
        </p:nvSpPr>
        <p:spPr>
          <a:xfrm>
            <a:off x="1353312" y="2907792"/>
            <a:ext cx="182880" cy="128016"/>
          </a:xfrm>
          <a:prstGeom prst="rect">
            <a:avLst/>
          </a:prstGeom>
          <a:solidFill>
            <a:srgbClr val="2364AA"/>
          </a:solidFill>
          <a:ln w="12700">
            <a:solidFill>
              <a:srgbClr val="2364AA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464CAC9-9C4A-44AA-96B6-0CE75D8CE67F}"/>
              </a:ext>
            </a:extLst>
          </p:cNvPr>
          <p:cNvSpPr>
            <a:spLocks noGrp="1"/>
          </p:cNvSpPr>
          <p:nvPr/>
        </p:nvSpPr>
        <p:spPr>
          <a:xfrm>
            <a:off x="868680" y="3355848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Data</a:t>
            </a: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FA144F18-305A-4DCF-86F1-5586672C42C8}"/>
              </a:ext>
            </a:extLst>
          </p:cNvPr>
          <p:cNvSpPr>
            <a:spLocks noGrp="1"/>
          </p:cNvSpPr>
          <p:nvPr/>
        </p:nvSpPr>
        <p:spPr>
          <a:xfrm>
            <a:off x="2194560" y="283464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05208EE-C737-4488-8371-5B62A8B5ABF5}"/>
              </a:ext>
            </a:extLst>
          </p:cNvPr>
          <p:cNvSpPr>
            <a:spLocks noGrp="1"/>
          </p:cNvSpPr>
          <p:nvPr/>
        </p:nvSpPr>
        <p:spPr>
          <a:xfrm>
            <a:off x="2788920" y="2423160"/>
            <a:ext cx="1234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EB540AA7-5EB9-49DB-9116-B7C41349084D}"/>
              </a:ext>
            </a:extLst>
          </p:cNvPr>
          <p:cNvSpPr>
            <a:spLocks noGrp="1"/>
          </p:cNvSpPr>
          <p:nvPr/>
        </p:nvSpPr>
        <p:spPr>
          <a:xfrm>
            <a:off x="3273552" y="2542032"/>
            <a:ext cx="182880" cy="128016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A1953158-32B9-4063-B2AC-794C88DEA7CF}"/>
              </a:ext>
            </a:extLst>
          </p:cNvPr>
          <p:cNvSpPr>
            <a:spLocks noGrp="1"/>
          </p:cNvSpPr>
          <p:nvPr/>
        </p:nvSpPr>
        <p:spPr>
          <a:xfrm>
            <a:off x="3017520" y="2724912"/>
            <a:ext cx="182880" cy="128016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1332EED8-6BB8-494C-88D9-240F8A860037}"/>
              </a:ext>
            </a:extLst>
          </p:cNvPr>
          <p:cNvSpPr>
            <a:spLocks noGrp="1"/>
          </p:cNvSpPr>
          <p:nvPr/>
        </p:nvSpPr>
        <p:spPr>
          <a:xfrm>
            <a:off x="3273552" y="2724912"/>
            <a:ext cx="182880" cy="128016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22F3263F-A8F5-4B82-8DA4-9897154A2104}"/>
              </a:ext>
            </a:extLst>
          </p:cNvPr>
          <p:cNvSpPr>
            <a:spLocks noGrp="1"/>
          </p:cNvSpPr>
          <p:nvPr/>
        </p:nvSpPr>
        <p:spPr>
          <a:xfrm>
            <a:off x="3529584" y="2724912"/>
            <a:ext cx="182880" cy="128016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19AD185B-0F27-4DFE-BC3D-9CECAF93CE4B}"/>
              </a:ext>
            </a:extLst>
          </p:cNvPr>
          <p:cNvSpPr>
            <a:spLocks noGrp="1"/>
          </p:cNvSpPr>
          <p:nvPr/>
        </p:nvSpPr>
        <p:spPr>
          <a:xfrm>
            <a:off x="3273552" y="2907792"/>
            <a:ext cx="182880" cy="128016"/>
          </a:xfrm>
          <a:prstGeom prst="rect">
            <a:avLst/>
          </a:prstGeom>
          <a:solidFill>
            <a:srgbClr val="1B998B"/>
          </a:solidFill>
          <a:ln w="12700">
            <a:solidFill>
              <a:srgbClr val="1B998B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2D8F0B44-6023-428A-A940-E275251ED7FA}"/>
              </a:ext>
            </a:extLst>
          </p:cNvPr>
          <p:cNvSpPr>
            <a:spLocks noGrp="1"/>
          </p:cNvSpPr>
          <p:nvPr/>
        </p:nvSpPr>
        <p:spPr>
          <a:xfrm>
            <a:off x="2788920" y="3355848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590123E3-6FCB-4E2A-B3B2-4DB7502DC00F}"/>
              </a:ext>
            </a:extLst>
          </p:cNvPr>
          <p:cNvSpPr>
            <a:spLocks noGrp="1"/>
          </p:cNvSpPr>
          <p:nvPr/>
        </p:nvSpPr>
        <p:spPr>
          <a:xfrm>
            <a:off x="4114800" y="283464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66C89EBE-BAAD-42AB-8D97-7AA9161533FB}"/>
              </a:ext>
            </a:extLst>
          </p:cNvPr>
          <p:cNvSpPr>
            <a:spLocks noGrp="1"/>
          </p:cNvSpPr>
          <p:nvPr/>
        </p:nvSpPr>
        <p:spPr>
          <a:xfrm>
            <a:off x="4709160" y="2423160"/>
            <a:ext cx="1234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FA8475DC-3A09-40CB-BC4A-C6CB84A3B769}"/>
              </a:ext>
            </a:extLst>
          </p:cNvPr>
          <p:cNvSpPr>
            <a:spLocks noGrp="1"/>
          </p:cNvSpPr>
          <p:nvPr/>
        </p:nvSpPr>
        <p:spPr>
          <a:xfrm>
            <a:off x="5193792" y="2542032"/>
            <a:ext cx="182880" cy="128016"/>
          </a:xfrm>
          <a:prstGeom prst="rect">
            <a:avLst/>
          </a:prstGeom>
          <a:solidFill>
            <a:srgbClr val="F58220"/>
          </a:solidFill>
          <a:ln w="12700">
            <a:solidFill>
              <a:srgbClr val="F5822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48D09D93-E682-484E-9DDD-FBFD08EB4309}"/>
              </a:ext>
            </a:extLst>
          </p:cNvPr>
          <p:cNvSpPr>
            <a:spLocks noGrp="1"/>
          </p:cNvSpPr>
          <p:nvPr/>
        </p:nvSpPr>
        <p:spPr>
          <a:xfrm>
            <a:off x="4937760" y="2724912"/>
            <a:ext cx="182880" cy="128016"/>
          </a:xfrm>
          <a:prstGeom prst="rect">
            <a:avLst/>
          </a:prstGeom>
          <a:solidFill>
            <a:srgbClr val="F58220"/>
          </a:solidFill>
          <a:ln w="12700">
            <a:solidFill>
              <a:srgbClr val="F5822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4B973104-F20E-4E5B-B5AC-2E99546F06D0}"/>
              </a:ext>
            </a:extLst>
          </p:cNvPr>
          <p:cNvSpPr>
            <a:spLocks noGrp="1"/>
          </p:cNvSpPr>
          <p:nvPr/>
        </p:nvSpPr>
        <p:spPr>
          <a:xfrm>
            <a:off x="5193792" y="2724912"/>
            <a:ext cx="182880" cy="128016"/>
          </a:xfrm>
          <a:prstGeom prst="rect">
            <a:avLst/>
          </a:prstGeom>
          <a:solidFill>
            <a:srgbClr val="F58220"/>
          </a:solidFill>
          <a:ln w="12700">
            <a:solidFill>
              <a:srgbClr val="F5822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48A39AFA-2988-4545-8ABD-2F423D4B70AA}"/>
              </a:ext>
            </a:extLst>
          </p:cNvPr>
          <p:cNvSpPr>
            <a:spLocks noGrp="1"/>
          </p:cNvSpPr>
          <p:nvPr/>
        </p:nvSpPr>
        <p:spPr>
          <a:xfrm>
            <a:off x="5449824" y="2724912"/>
            <a:ext cx="182880" cy="128016"/>
          </a:xfrm>
          <a:prstGeom prst="rect">
            <a:avLst/>
          </a:prstGeom>
          <a:solidFill>
            <a:srgbClr val="F58220"/>
          </a:solidFill>
          <a:ln w="12700">
            <a:solidFill>
              <a:srgbClr val="F5822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78F1EC64-B8EA-497F-B21B-05680011B890}"/>
              </a:ext>
            </a:extLst>
          </p:cNvPr>
          <p:cNvSpPr>
            <a:spLocks noGrp="1"/>
          </p:cNvSpPr>
          <p:nvPr/>
        </p:nvSpPr>
        <p:spPr>
          <a:xfrm>
            <a:off x="5193792" y="2907792"/>
            <a:ext cx="182880" cy="128016"/>
          </a:xfrm>
          <a:prstGeom prst="rect">
            <a:avLst/>
          </a:prstGeom>
          <a:solidFill>
            <a:srgbClr val="F58220"/>
          </a:solidFill>
          <a:ln w="12700">
            <a:solidFill>
              <a:srgbClr val="F5822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D520CA17-9C28-4693-BB46-6CC34BFA926E}"/>
              </a:ext>
            </a:extLst>
          </p:cNvPr>
          <p:cNvSpPr>
            <a:spLocks noGrp="1"/>
          </p:cNvSpPr>
          <p:nvPr/>
        </p:nvSpPr>
        <p:spPr>
          <a:xfrm>
            <a:off x="4709160" y="3355848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Diagnostik</a:t>
            </a: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5DA71E29-FA67-4154-95C9-BE6CC25831FD}"/>
              </a:ext>
            </a:extLst>
          </p:cNvPr>
          <p:cNvSpPr>
            <a:spLocks noGrp="1"/>
          </p:cNvSpPr>
          <p:nvPr/>
        </p:nvSpPr>
        <p:spPr>
          <a:xfrm>
            <a:off x="6035040" y="283464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EBC564CB-F08F-4A5E-9E0C-3458520B71F2}"/>
              </a:ext>
            </a:extLst>
          </p:cNvPr>
          <p:cNvSpPr>
            <a:spLocks noGrp="1"/>
          </p:cNvSpPr>
          <p:nvPr/>
        </p:nvSpPr>
        <p:spPr>
          <a:xfrm>
            <a:off x="6629400" y="2423160"/>
            <a:ext cx="1234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F908229C-37E1-4397-B031-60318030B458}"/>
              </a:ext>
            </a:extLst>
          </p:cNvPr>
          <p:cNvSpPr>
            <a:spLocks noGrp="1"/>
          </p:cNvSpPr>
          <p:nvPr/>
        </p:nvSpPr>
        <p:spPr>
          <a:xfrm>
            <a:off x="7114032" y="2542032"/>
            <a:ext cx="182880" cy="128016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62B09414-1473-4BF7-AEEC-BD3E2AF01805}"/>
              </a:ext>
            </a:extLst>
          </p:cNvPr>
          <p:cNvSpPr>
            <a:spLocks noGrp="1"/>
          </p:cNvSpPr>
          <p:nvPr/>
        </p:nvSpPr>
        <p:spPr>
          <a:xfrm>
            <a:off x="6858000" y="2724912"/>
            <a:ext cx="182880" cy="128016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Shape 35">
            <a:extLst>
              <a:ext uri="{FF2B5EF4-FFF2-40B4-BE49-F238E27FC236}">
                <a16:creationId xmlns:a16="http://schemas.microsoft.com/office/drawing/2014/main" id="{49D8F383-4C83-44E4-81C9-A7628E68EF7D}"/>
              </a:ext>
            </a:extLst>
          </p:cNvPr>
          <p:cNvSpPr>
            <a:spLocks noGrp="1"/>
          </p:cNvSpPr>
          <p:nvPr/>
        </p:nvSpPr>
        <p:spPr>
          <a:xfrm>
            <a:off x="7114032" y="2724912"/>
            <a:ext cx="182880" cy="128016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ECB4E1C9-516E-4AA8-A10A-00B3E0704C2E}"/>
              </a:ext>
            </a:extLst>
          </p:cNvPr>
          <p:cNvSpPr>
            <a:spLocks noGrp="1"/>
          </p:cNvSpPr>
          <p:nvPr/>
        </p:nvSpPr>
        <p:spPr>
          <a:xfrm>
            <a:off x="7370064" y="2724912"/>
            <a:ext cx="182880" cy="128016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D840328B-0A3A-4449-82E1-10EEA3DB1635}"/>
              </a:ext>
            </a:extLst>
          </p:cNvPr>
          <p:cNvSpPr>
            <a:spLocks noGrp="1"/>
          </p:cNvSpPr>
          <p:nvPr/>
        </p:nvSpPr>
        <p:spPr>
          <a:xfrm>
            <a:off x="7114032" y="2907792"/>
            <a:ext cx="182880" cy="128016"/>
          </a:xfrm>
          <a:prstGeom prst="rect">
            <a:avLst/>
          </a:prstGeom>
          <a:solidFill>
            <a:srgbClr val="006B3F"/>
          </a:solidFill>
          <a:ln w="12700">
            <a:solidFill>
              <a:srgbClr val="006B3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7E6F0301-1EFE-4E51-8445-DA8986DE9574}"/>
              </a:ext>
            </a:extLst>
          </p:cNvPr>
          <p:cNvSpPr>
            <a:spLocks noGrp="1"/>
          </p:cNvSpPr>
          <p:nvPr/>
        </p:nvSpPr>
        <p:spPr>
          <a:xfrm>
            <a:off x="6629400" y="3355848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Model II</a:t>
            </a:r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FD391D3E-7B58-45DD-8732-4FDE63A1504C}"/>
              </a:ext>
            </a:extLst>
          </p:cNvPr>
          <p:cNvSpPr>
            <a:spLocks noGrp="1"/>
          </p:cNvSpPr>
          <p:nvPr/>
        </p:nvSpPr>
        <p:spPr>
          <a:xfrm>
            <a:off x="7955280" y="2834640"/>
            <a:ext cx="484632" cy="0"/>
          </a:xfrm>
          <a:prstGeom prst="line">
            <a:avLst/>
          </a:prstGeom>
          <a:noFill/>
          <a:ln w="1778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D987536C-5743-4E54-A868-EAA3346F0E75}"/>
              </a:ext>
            </a:extLst>
          </p:cNvPr>
          <p:cNvSpPr>
            <a:spLocks noGrp="1"/>
          </p:cNvSpPr>
          <p:nvPr/>
        </p:nvSpPr>
        <p:spPr>
          <a:xfrm>
            <a:off x="8549640" y="2423160"/>
            <a:ext cx="123444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Shape 41">
            <a:extLst>
              <a:ext uri="{FF2B5EF4-FFF2-40B4-BE49-F238E27FC236}">
                <a16:creationId xmlns:a16="http://schemas.microsoft.com/office/drawing/2014/main" id="{D01A2A07-0AD6-4B06-B878-D012E0253256}"/>
              </a:ext>
            </a:extLst>
          </p:cNvPr>
          <p:cNvSpPr>
            <a:spLocks noGrp="1"/>
          </p:cNvSpPr>
          <p:nvPr/>
        </p:nvSpPr>
        <p:spPr>
          <a:xfrm>
            <a:off x="9034272" y="2542032"/>
            <a:ext cx="182880" cy="128016"/>
          </a:xfrm>
          <a:prstGeom prst="rect">
            <a:avLst/>
          </a:prstGeom>
          <a:solidFill>
            <a:srgbClr val="C8452D"/>
          </a:solidFill>
          <a:ln w="12700">
            <a:solidFill>
              <a:srgbClr val="C8452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C005BE38-CBEC-4548-A570-63DE31097C21}"/>
              </a:ext>
            </a:extLst>
          </p:cNvPr>
          <p:cNvSpPr>
            <a:spLocks noGrp="1"/>
          </p:cNvSpPr>
          <p:nvPr/>
        </p:nvSpPr>
        <p:spPr>
          <a:xfrm>
            <a:off x="8778240" y="2724912"/>
            <a:ext cx="182880" cy="128016"/>
          </a:xfrm>
          <a:prstGeom prst="rect">
            <a:avLst/>
          </a:prstGeom>
          <a:solidFill>
            <a:srgbClr val="C8452D"/>
          </a:solidFill>
          <a:ln w="12700">
            <a:solidFill>
              <a:srgbClr val="C8452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Shape 43">
            <a:extLst>
              <a:ext uri="{FF2B5EF4-FFF2-40B4-BE49-F238E27FC236}">
                <a16:creationId xmlns:a16="http://schemas.microsoft.com/office/drawing/2014/main" id="{E7466E75-F1E9-4FE7-A5B8-759FAC6A445E}"/>
              </a:ext>
            </a:extLst>
          </p:cNvPr>
          <p:cNvSpPr>
            <a:spLocks noGrp="1"/>
          </p:cNvSpPr>
          <p:nvPr/>
        </p:nvSpPr>
        <p:spPr>
          <a:xfrm>
            <a:off x="9034272" y="2724912"/>
            <a:ext cx="182880" cy="128016"/>
          </a:xfrm>
          <a:prstGeom prst="rect">
            <a:avLst/>
          </a:prstGeom>
          <a:solidFill>
            <a:srgbClr val="C8452D"/>
          </a:solidFill>
          <a:ln w="12700">
            <a:solidFill>
              <a:srgbClr val="C8452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473324C2-E21C-48D5-B797-599E8A34E87F}"/>
              </a:ext>
            </a:extLst>
          </p:cNvPr>
          <p:cNvSpPr>
            <a:spLocks noGrp="1"/>
          </p:cNvSpPr>
          <p:nvPr/>
        </p:nvSpPr>
        <p:spPr>
          <a:xfrm>
            <a:off x="9290304" y="2724912"/>
            <a:ext cx="182880" cy="128016"/>
          </a:xfrm>
          <a:prstGeom prst="rect">
            <a:avLst/>
          </a:prstGeom>
          <a:solidFill>
            <a:srgbClr val="C8452D"/>
          </a:solidFill>
          <a:ln w="12700">
            <a:solidFill>
              <a:srgbClr val="C8452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8A72E411-72E7-42F9-9CBD-46F1518AFE71}"/>
              </a:ext>
            </a:extLst>
          </p:cNvPr>
          <p:cNvSpPr>
            <a:spLocks noGrp="1"/>
          </p:cNvSpPr>
          <p:nvPr/>
        </p:nvSpPr>
        <p:spPr>
          <a:xfrm>
            <a:off x="9034272" y="2907792"/>
            <a:ext cx="182880" cy="128016"/>
          </a:xfrm>
          <a:prstGeom prst="rect">
            <a:avLst/>
          </a:prstGeom>
          <a:solidFill>
            <a:srgbClr val="C8452D"/>
          </a:solidFill>
          <a:ln w="12700">
            <a:solidFill>
              <a:srgbClr val="C8452D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2199BEFF-6789-4874-B37B-AE7C3FCFD35E}"/>
              </a:ext>
            </a:extLst>
          </p:cNvPr>
          <p:cNvSpPr>
            <a:spLocks noGrp="1"/>
          </p:cNvSpPr>
          <p:nvPr/>
        </p:nvSpPr>
        <p:spPr>
          <a:xfrm>
            <a:off x="8549640" y="3355848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ctr">
              <a:buNone/>
            </a:pPr>
            <a:r>
              <a:rPr sz="84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Keputusan</a:t>
            </a: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D90C557F-1AB8-46BB-9959-F3B0EC9C75AE}"/>
              </a:ext>
            </a:extLst>
          </p:cNvPr>
          <p:cNvSpPr>
            <a:spLocks noGrp="1"/>
          </p:cNvSpPr>
          <p:nvPr/>
        </p:nvSpPr>
        <p:spPr>
          <a:xfrm>
            <a:off x="868680" y="4160520"/>
            <a:ext cx="9738360" cy="109728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1" name="Text 48">
            <a:extLst>
              <a:ext uri="{FF2B5EF4-FFF2-40B4-BE49-F238E27FC236}">
                <a16:creationId xmlns:a16="http://schemas.microsoft.com/office/drawing/2014/main" id="{AD609B40-C9E4-48FF-9670-D6D64B061209}"/>
              </a:ext>
            </a:extLst>
          </p:cNvPr>
          <p:cNvSpPr>
            <a:spLocks noGrp="1"/>
          </p:cNvSpPr>
          <p:nvPr/>
        </p:nvSpPr>
        <p:spPr>
          <a:xfrm>
            <a:off x="1051560" y="4407408"/>
            <a:ext cx="1737360" cy="2743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868"/>
          </a:bodyPr>
          <a:lstStyle/>
          <a:p>
            <a:pPr marL="0" indent="0" algn="l">
              <a:buNone/>
            </a:pPr>
            <a:r>
              <a:rPr sz="170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Intuisi pemodelan</a:t>
            </a:r>
          </a:p>
        </p:txBody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E0117D23-C8E4-4873-B4B7-E2B87EF26D01}"/>
              </a:ext>
            </a:extLst>
          </p:cNvPr>
          <p:cNvSpPr>
            <a:spLocks noGrp="1"/>
          </p:cNvSpPr>
          <p:nvPr/>
        </p:nvSpPr>
        <p:spPr>
          <a:xfrm>
            <a:off x="3429000" y="4343400"/>
            <a:ext cx="6675120" cy="50292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250">
                <a:solidFill>
                  <a:srgbClr val="1B263B"/>
                </a:solidFill>
                <a:latin typeface="Aptos"/>
                <a:ea typeface="Aptos"/>
                <a:cs typeface="Aptos"/>
              </a:rPr>
              <a:t>Analisis dimulai dari struktur data, dilanjutkan dengan model kandidat, pemeriksaan asumsi, revisi, dan interpretasi substantif.</a:t>
            </a:r>
          </a:p>
        </p:txBody>
      </p:sp>
      <p:sp>
        <p:nvSpPr>
          <p:cNvPr id="53" name="Shape 50">
            <a:extLst>
              <a:ext uri="{FF2B5EF4-FFF2-40B4-BE49-F238E27FC236}">
                <a16:creationId xmlns:a16="http://schemas.microsoft.com/office/drawing/2014/main" id="{727E93D1-9FDC-40D5-B28C-F4B1C8D621EB}"/>
              </a:ext>
            </a:extLst>
          </p:cNvPr>
          <p:cNvSpPr>
            <a:spLocks noGrp="1"/>
          </p:cNvSpPr>
          <p:nvPr/>
        </p:nvSpPr>
        <p:spPr>
          <a:xfrm>
            <a:off x="1828800" y="5532120"/>
            <a:ext cx="8046720" cy="53035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4" name="Text 51">
            <a:extLst>
              <a:ext uri="{FF2B5EF4-FFF2-40B4-BE49-F238E27FC236}">
                <a16:creationId xmlns:a16="http://schemas.microsoft.com/office/drawing/2014/main" id="{2AC10A70-F864-4842-8318-E49A9DF2913E}"/>
              </a:ext>
            </a:extLst>
          </p:cNvPr>
          <p:cNvSpPr>
            <a:spLocks noGrp="1"/>
          </p:cNvSpPr>
          <p:nvPr/>
        </p:nvSpPr>
        <p:spPr>
          <a:xfrm>
            <a:off x="1965960" y="5650992"/>
            <a:ext cx="7772400" cy="310896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Produk UTS = data bersih + ukuran epidemiologi + visualisasi + interpretasi +…</a:t>
            </a:r>
          </a:p>
        </p:txBody>
      </p:sp>
    </p:spTree>
    <p:extLst>
      <p:ext uri="{BB962C8B-B14F-4D97-AF65-F5344CB8AC3E}">
        <p14:creationId xmlns:p14="http://schemas.microsoft.com/office/powerpoint/2010/main" val="655162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998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8E04DC0-C1BE-45EF-A60F-85E45C6EC709}"/>
              </a:ext>
            </a:extLst>
          </p:cNvPr>
          <p:cNvSpPr>
            <a:spLocks noGrp="1"/>
          </p:cNvSpPr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30352"/>
            <a:ext cx="566928" cy="56692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947DEBCB-2643-4F0A-96C2-0DAF58178542}"/>
              </a:ext>
            </a:extLst>
          </p:cNvPr>
          <p:cNvSpPr>
            <a:spLocks noGrp="1"/>
          </p:cNvSpPr>
          <p:nvPr/>
        </p:nvSpPr>
        <p:spPr>
          <a:xfrm>
            <a:off x="1261872" y="621792"/>
            <a:ext cx="676656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9–12 | Pemodelan lanjut, komputasi, validasi, dan aplikasi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78D396E8-C049-4489-808F-1896B4A790B2}"/>
              </a:ext>
            </a:extLst>
          </p:cNvPr>
          <p:cNvSpPr>
            <a:spLocks noGrp="1"/>
          </p:cNvSpPr>
          <p:nvPr/>
        </p:nvSpPr>
        <p:spPr>
          <a:xfrm>
            <a:off x="658368" y="2267712"/>
            <a:ext cx="8961120" cy="12344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6329"/>
          </a:bodyPr>
          <a:lstStyle/>
          <a:p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</a:t>
            </a:r>
          </a:p>
          <a:p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Pemodelan &amp; Evaluasi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22A30F76-1E71-49F7-8D0D-A37E6B8B7DE1}"/>
              </a:ext>
            </a:extLst>
          </p:cNvPr>
          <p:cNvSpPr>
            <a:spLocks noGrp="1"/>
          </p:cNvSpPr>
          <p:nvPr/>
        </p:nvSpPr>
        <p:spPr>
          <a:xfrm>
            <a:off x="658368" y="3703320"/>
            <a:ext cx="3182112" cy="0"/>
          </a:xfrm>
          <a:prstGeom prst="line">
            <a:avLst/>
          </a:prstGeom>
          <a:noFill/>
          <a:ln w="635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321430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F83CFC8-0557-46DA-B06D-E2AA5AE8ED4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8954AF12-C672-4ABA-B6D9-51996360A61B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7F2BF350-A7B0-48DC-BFE5-54402D79C193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2B333C7F-461E-4CBD-834F-DBFA4A708232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Arsitektur Analisis Terintegrasi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C2EEB65E-2416-40A0-8DC0-5B004B522F98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Dari data mentah menuju keluaran yang tervalidasi dan dapat dikomunikasikan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75858C6E-12EB-40BF-BE7F-41DEE4BB3D0D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A84A034-917F-4F83-98D4-6D7712FA1FC3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FE9BBD3B-DD06-4F88-84D0-1C39DBC326EB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947FB0E-5648-4824-BEF4-FA685718F3C2}"/>
              </a:ext>
            </a:extLst>
          </p:cNvPr>
          <p:cNvSpPr>
            <a:spLocks noGrp="1"/>
          </p:cNvSpPr>
          <p:nvPr/>
        </p:nvSpPr>
        <p:spPr>
          <a:xfrm>
            <a:off x="777240" y="1988820"/>
            <a:ext cx="960120" cy="1508760"/>
          </a:xfrm>
          <a:prstGeom prst="roundRect">
            <a:avLst/>
          </a:prstGeom>
          <a:solidFill>
            <a:srgbClr val="2364AA"/>
          </a:solidFill>
          <a:ln w="12700">
            <a:solidFill>
              <a:srgbClr val="2364A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8D54520F-9DB1-485F-90BD-3123AD486CD0}"/>
              </a:ext>
            </a:extLst>
          </p:cNvPr>
          <p:cNvSpPr>
            <a:spLocks noGrp="1"/>
          </p:cNvSpPr>
          <p:nvPr/>
        </p:nvSpPr>
        <p:spPr>
          <a:xfrm>
            <a:off x="822960" y="2578608"/>
            <a:ext cx="868680" cy="32918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7803"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Data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input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56D5213-49E0-4509-B5D5-71FA7B97892A}"/>
              </a:ext>
            </a:extLst>
          </p:cNvPr>
          <p:cNvSpPr>
            <a:spLocks noGrp="1"/>
          </p:cNvSpPr>
          <p:nvPr/>
        </p:nvSpPr>
        <p:spPr>
          <a:xfrm>
            <a:off x="1847088" y="2743200"/>
            <a:ext cx="457200" cy="0"/>
          </a:xfrm>
          <a:prstGeom prst="line">
            <a:avLst/>
          </a:prstGeom>
          <a:noFill/>
          <a:ln w="1905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B3251D24-2E5E-42C5-A33D-775F3709D05A}"/>
              </a:ext>
            </a:extLst>
          </p:cNvPr>
          <p:cNvSpPr>
            <a:spLocks noGrp="1"/>
          </p:cNvSpPr>
          <p:nvPr/>
        </p:nvSpPr>
        <p:spPr>
          <a:xfrm>
            <a:off x="2377440" y="2171700"/>
            <a:ext cx="914400" cy="1143000"/>
          </a:xfrm>
          <a:prstGeom prst="round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6263968F-0657-4DB8-96E7-6ABB9544D623}"/>
              </a:ext>
            </a:extLst>
          </p:cNvPr>
          <p:cNvSpPr>
            <a:spLocks noGrp="1"/>
          </p:cNvSpPr>
          <p:nvPr/>
        </p:nvSpPr>
        <p:spPr>
          <a:xfrm>
            <a:off x="2423160" y="2578608"/>
            <a:ext cx="822960" cy="32918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7803"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Pra-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proses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856F77C2-FEE8-484D-A42C-60FB368D3B59}"/>
              </a:ext>
            </a:extLst>
          </p:cNvPr>
          <p:cNvSpPr>
            <a:spLocks noGrp="1"/>
          </p:cNvSpPr>
          <p:nvPr/>
        </p:nvSpPr>
        <p:spPr>
          <a:xfrm>
            <a:off x="3401568" y="2743200"/>
            <a:ext cx="457200" cy="0"/>
          </a:xfrm>
          <a:prstGeom prst="line">
            <a:avLst/>
          </a:prstGeom>
          <a:noFill/>
          <a:ln w="1905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7677328C-143F-41D9-BDE5-227A5017BA0C}"/>
              </a:ext>
            </a:extLst>
          </p:cNvPr>
          <p:cNvSpPr>
            <a:spLocks noGrp="1"/>
          </p:cNvSpPr>
          <p:nvPr/>
        </p:nvSpPr>
        <p:spPr>
          <a:xfrm>
            <a:off x="3931920" y="2295144"/>
            <a:ext cx="804672" cy="896112"/>
          </a:xfrm>
          <a:prstGeom prst="roundRect">
            <a:avLst/>
          </a:prstGeom>
          <a:solidFill>
            <a:srgbClr val="F58220"/>
          </a:solidFill>
          <a:ln w="127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8CFE7F61-BFB2-4EF2-921D-2A2E8419AB22}"/>
              </a:ext>
            </a:extLst>
          </p:cNvPr>
          <p:cNvSpPr>
            <a:spLocks noGrp="1"/>
          </p:cNvSpPr>
          <p:nvPr/>
        </p:nvSpPr>
        <p:spPr>
          <a:xfrm>
            <a:off x="3977640" y="2578608"/>
            <a:ext cx="713232" cy="32918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7803"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baseline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6EE5EDE5-E5A7-4454-9386-32FB5FE9B25A}"/>
              </a:ext>
            </a:extLst>
          </p:cNvPr>
          <p:cNvSpPr>
            <a:spLocks noGrp="1"/>
          </p:cNvSpPr>
          <p:nvPr/>
        </p:nvSpPr>
        <p:spPr>
          <a:xfrm>
            <a:off x="4846320" y="2743200"/>
            <a:ext cx="457200" cy="0"/>
          </a:xfrm>
          <a:prstGeom prst="line">
            <a:avLst/>
          </a:prstGeom>
          <a:noFill/>
          <a:ln w="1905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A11EBEC-DE5B-4B55-9F07-9F294E0EF6AF}"/>
              </a:ext>
            </a:extLst>
          </p:cNvPr>
          <p:cNvSpPr>
            <a:spLocks noGrp="1"/>
          </p:cNvSpPr>
          <p:nvPr/>
        </p:nvSpPr>
        <p:spPr>
          <a:xfrm>
            <a:off x="5376672" y="2386584"/>
            <a:ext cx="694944" cy="713232"/>
          </a:xfrm>
          <a:prstGeom prst="roundRect">
            <a:avLst/>
          </a:prstGeom>
          <a:solidFill>
            <a:srgbClr val="1B998B"/>
          </a:solidFill>
          <a:ln w="12700">
            <a:solidFill>
              <a:srgbClr val="1B99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575A75D0-43FB-4F87-9A86-75409B17D1FE}"/>
              </a:ext>
            </a:extLst>
          </p:cNvPr>
          <p:cNvSpPr>
            <a:spLocks noGrp="1"/>
          </p:cNvSpPr>
          <p:nvPr/>
        </p:nvSpPr>
        <p:spPr>
          <a:xfrm>
            <a:off x="5422392" y="2578608"/>
            <a:ext cx="603504" cy="32918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7803"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Model</a:t>
            </a:r>
          </a:p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lanjut</a:t>
            </a: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68ACC894-4F4C-48FF-8E5C-2104502D6CE1}"/>
              </a:ext>
            </a:extLst>
          </p:cNvPr>
          <p:cNvSpPr>
            <a:spLocks noGrp="1"/>
          </p:cNvSpPr>
          <p:nvPr/>
        </p:nvSpPr>
        <p:spPr>
          <a:xfrm>
            <a:off x="6181344" y="2743200"/>
            <a:ext cx="457200" cy="0"/>
          </a:xfrm>
          <a:prstGeom prst="line">
            <a:avLst/>
          </a:prstGeom>
          <a:noFill/>
          <a:ln w="1905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6C806FBF-92BC-4045-9DCE-AFD0663A0289}"/>
              </a:ext>
            </a:extLst>
          </p:cNvPr>
          <p:cNvSpPr>
            <a:spLocks noGrp="1"/>
          </p:cNvSpPr>
          <p:nvPr/>
        </p:nvSpPr>
        <p:spPr>
          <a:xfrm>
            <a:off x="6711696" y="2478024"/>
            <a:ext cx="566928" cy="530352"/>
          </a:xfrm>
          <a:prstGeom prst="roundRect">
            <a:avLst/>
          </a:prstGeom>
          <a:solidFill>
            <a:srgbClr val="F8C537"/>
          </a:solidFill>
          <a:ln w="12700">
            <a:solidFill>
              <a:srgbClr val="F8C537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057310C7-64C3-4017-AB39-CC075F825674}"/>
              </a:ext>
            </a:extLst>
          </p:cNvPr>
          <p:cNvSpPr>
            <a:spLocks noGrp="1"/>
          </p:cNvSpPr>
          <p:nvPr/>
        </p:nvSpPr>
        <p:spPr>
          <a:xfrm>
            <a:off x="6757416" y="2578608"/>
            <a:ext cx="475488" cy="32918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7803"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Validasi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CA3CE94-782C-4080-B4A9-6F63820339FF}"/>
              </a:ext>
            </a:extLst>
          </p:cNvPr>
          <p:cNvSpPr>
            <a:spLocks noGrp="1"/>
          </p:cNvSpPr>
          <p:nvPr/>
        </p:nvSpPr>
        <p:spPr>
          <a:xfrm>
            <a:off x="7388352" y="2743200"/>
            <a:ext cx="457200" cy="0"/>
          </a:xfrm>
          <a:prstGeom prst="line">
            <a:avLst/>
          </a:prstGeom>
          <a:noFill/>
          <a:ln w="19050">
            <a:solidFill>
              <a:srgbClr val="53657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C2A5BAB7-E01E-400A-9BA9-71997EB4BF63}"/>
              </a:ext>
            </a:extLst>
          </p:cNvPr>
          <p:cNvSpPr>
            <a:spLocks noGrp="1"/>
          </p:cNvSpPr>
          <p:nvPr/>
        </p:nvSpPr>
        <p:spPr>
          <a:xfrm>
            <a:off x="7918704" y="2560320"/>
            <a:ext cx="932688" cy="365760"/>
          </a:xfrm>
          <a:prstGeom prst="roundRect">
            <a:avLst/>
          </a:prstGeom>
          <a:solidFill>
            <a:srgbClr val="C8452D"/>
          </a:solidFill>
          <a:ln w="12700">
            <a:solidFill>
              <a:srgbClr val="C8452D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8F1F0658-F918-44BF-8742-92BD247D6706}"/>
              </a:ext>
            </a:extLst>
          </p:cNvPr>
          <p:cNvSpPr>
            <a:spLocks noGrp="1"/>
          </p:cNvSpPr>
          <p:nvPr/>
        </p:nvSpPr>
        <p:spPr>
          <a:xfrm>
            <a:off x="7964424" y="2578608"/>
            <a:ext cx="841248" cy="32918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1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Output</a:t>
            </a: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F0E0651B-D3EB-4410-AC1A-5BFCE40E6BC1}"/>
              </a:ext>
            </a:extLst>
          </p:cNvPr>
          <p:cNvSpPr>
            <a:spLocks noGrp="1"/>
          </p:cNvSpPr>
          <p:nvPr/>
        </p:nvSpPr>
        <p:spPr>
          <a:xfrm>
            <a:off x="841248" y="4370832"/>
            <a:ext cx="4754880" cy="10515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2E8B4F84-991D-43EB-9183-727BB89B9EC6}"/>
              </a:ext>
            </a:extLst>
          </p:cNvPr>
          <p:cNvSpPr>
            <a:spLocks noGrp="1"/>
          </p:cNvSpPr>
          <p:nvPr/>
        </p:nvSpPr>
        <p:spPr>
          <a:xfrm>
            <a:off x="1115568" y="4617720"/>
            <a:ext cx="164592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6236"/>
          </a:bodyPr>
          <a:lstStyle/>
          <a:p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Komponen utama</a:t>
            </a:r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3D7715D6-3387-4620-9BC6-8BC13E3274C1}"/>
              </a:ext>
            </a:extLst>
          </p:cNvPr>
          <p:cNvSpPr>
            <a:spLocks noGrp="1"/>
          </p:cNvSpPr>
          <p:nvPr/>
        </p:nvSpPr>
        <p:spPr>
          <a:xfrm>
            <a:off x="3063240" y="4544568"/>
            <a:ext cx="2194560" cy="64008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 fontScale="77593"/>
          </a:bodyPr>
          <a:lstStyle/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Kualitas data</a:t>
            </a:r>
          </a:p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Representasi</a:t>
            </a:r>
          </a:p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Model kandidat</a:t>
            </a:r>
          </a:p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</a:t>
            </a:r>
          </a:p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Interpretasi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6B0E5EA7-8FDB-4B36-956A-5E043548D66E}"/>
              </a:ext>
            </a:extLst>
          </p:cNvPr>
          <p:cNvSpPr>
            <a:spLocks noGrp="1"/>
          </p:cNvSpPr>
          <p:nvPr/>
        </p:nvSpPr>
        <p:spPr>
          <a:xfrm>
            <a:off x="6263640" y="4370832"/>
            <a:ext cx="4663440" cy="10515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36EBCA70-9C32-4C4E-BF62-A567EEA36A0B}"/>
              </a:ext>
            </a:extLst>
          </p:cNvPr>
          <p:cNvSpPr>
            <a:spLocks noGrp="1"/>
          </p:cNvSpPr>
          <p:nvPr/>
        </p:nvSpPr>
        <p:spPr>
          <a:xfrm>
            <a:off x="6537960" y="4617720"/>
            <a:ext cx="164592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6236"/>
          </a:bodyPr>
          <a:lstStyle/>
          <a:p>
            <a:pPr marL="0" indent="0" algn="l">
              <a:buNone/>
            </a:pPr>
            <a:r>
              <a:rPr sz="15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Risiko analisis</a:t>
            </a:r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AF5FBADA-DAFC-47FF-87D5-F66C7FEBD38C}"/>
              </a:ext>
            </a:extLst>
          </p:cNvPr>
          <p:cNvSpPr>
            <a:spLocks noGrp="1"/>
          </p:cNvSpPr>
          <p:nvPr/>
        </p:nvSpPr>
        <p:spPr>
          <a:xfrm>
            <a:off x="8458200" y="4544568"/>
            <a:ext cx="2148840" cy="640080"/>
          </a:xfrm>
          <a:prstGeom prst="rect">
            <a:avLst/>
          </a:prstGeom>
          <a:noFill/>
        </p:spPr>
        <p:txBody>
          <a:bodyPr wrap="square" lIns="762" tIns="762" rIns="762" bIns="762" anchor="ctr">
            <a:normAutofit fontScale="96991"/>
          </a:bodyPr>
          <a:lstStyle/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Data leakage</a:t>
            </a:r>
          </a:p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Bias sampel</a:t>
            </a:r>
          </a:p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keliru</a:t>
            </a:r>
          </a:p>
          <a:p>
            <a:pPr marL="190500" indent="-190500">
              <a:buChar char="•"/>
            </a:pPr>
            <a:r>
              <a:rPr sz="1080">
                <a:solidFill>
                  <a:srgbClr val="1B263B"/>
                </a:solidFill>
                <a:latin typeface="Aptos"/>
                <a:ea typeface="Aptos"/>
                <a:cs typeface="Aptos"/>
              </a:rPr>
              <a:t>Validasi lemah</a:t>
            </a:r>
          </a:p>
        </p:txBody>
      </p:sp>
    </p:spTree>
    <p:extLst>
      <p:ext uri="{BB962C8B-B14F-4D97-AF65-F5344CB8AC3E}">
        <p14:creationId xmlns:p14="http://schemas.microsoft.com/office/powerpoint/2010/main" val="19358734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6B219F9-0A70-48AF-9F49-C0E8B7175C9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94D14E98-DF55-4EEE-9F4A-AD4675A7CAC1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FA7A2D63-5414-45C5-9A87-E2EB8449D4D1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12EBD299-AD89-454B-BF6A-886CF6591EC5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Pemodelan Lanjut dan Formulasi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64EBC65B-E363-46E9-A520-649A81BD80ED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Manajemen Data, Cleaning, Algoritma, Sistem Peringatan, Desain Studi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2F516F8-524F-4568-808C-C38312AD684C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0DFEDD93-7DB4-4E49-BB65-C12C1B3D4D93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23B02C03-0544-48C1-8E16-F62C0334FBE6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2A7ACBC6-1D5C-4674-B0D9-7996FB234B5A}"/>
              </a:ext>
            </a:extLst>
          </p:cNvPr>
          <p:cNvSpPr>
            <a:spLocks noGrp="1"/>
          </p:cNvSpPr>
          <p:nvPr/>
        </p:nvSpPr>
        <p:spPr>
          <a:xfrm>
            <a:off x="777240" y="1965960"/>
            <a:ext cx="356616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767F8C15-DD4B-462A-B5CC-DB06AEAE5034}"/>
              </a:ext>
            </a:extLst>
          </p:cNvPr>
          <p:cNvSpPr>
            <a:spLocks noGrp="1"/>
          </p:cNvSpPr>
          <p:nvPr/>
        </p:nvSpPr>
        <p:spPr>
          <a:xfrm>
            <a:off x="914400" y="2084832"/>
            <a:ext cx="3291840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84540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Completeness= nilai tidak kosong nilai yang seharusnya…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67E19E63-567A-43B7-9FB9-02A1D7E04ACB}"/>
              </a:ext>
            </a:extLst>
          </p:cNvPr>
          <p:cNvSpPr>
            <a:spLocks noGrp="1"/>
          </p:cNvSpPr>
          <p:nvPr/>
        </p:nvSpPr>
        <p:spPr>
          <a:xfrm>
            <a:off x="777240" y="2770632"/>
            <a:ext cx="356616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11A7F865-D555-4155-8D5E-763A1479CDDD}"/>
              </a:ext>
            </a:extLst>
          </p:cNvPr>
          <p:cNvSpPr>
            <a:spLocks noGrp="1"/>
          </p:cNvSpPr>
          <p:nvPr/>
        </p:nvSpPr>
        <p:spPr>
          <a:xfrm>
            <a:off x="914400" y="2889504"/>
            <a:ext cx="3291840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84540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Z_t=_t-μ_baselineσ_baseline ; sinyal kuat muncul ketika…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444EA049-D1A3-4F87-9B4D-C6FFD7302A9F}"/>
              </a:ext>
            </a:extLst>
          </p:cNvPr>
          <p:cNvSpPr>
            <a:spLocks noGrp="1"/>
          </p:cNvSpPr>
          <p:nvPr/>
        </p:nvSpPr>
        <p:spPr>
          <a:xfrm>
            <a:off x="777240" y="3575304"/>
            <a:ext cx="356616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F90A92F8-3C7F-420E-80BD-78F0E1C8C478}"/>
              </a:ext>
            </a:extLst>
          </p:cNvPr>
          <p:cNvSpPr>
            <a:spLocks noGrp="1"/>
          </p:cNvSpPr>
          <p:nvPr/>
        </p:nvSpPr>
        <p:spPr>
          <a:xfrm>
            <a:off x="914400" y="3694176"/>
            <a:ext cx="3291840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84540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(E[Y_i])=(N_i)+β_0+β_1X_i untuk model Poisson dengan…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BA15D32D-1E9D-499F-B4B8-8E7EC2043B46}"/>
              </a:ext>
            </a:extLst>
          </p:cNvPr>
          <p:cNvSpPr>
            <a:spLocks noGrp="1"/>
          </p:cNvSpPr>
          <p:nvPr/>
        </p:nvSpPr>
        <p:spPr>
          <a:xfrm>
            <a:off x="4983480" y="1920240"/>
            <a:ext cx="2468880" cy="5943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AD6422ED-754C-4114-A3B8-0092E03DCF24}"/>
              </a:ext>
            </a:extLst>
          </p:cNvPr>
          <p:cNvSpPr>
            <a:spLocks noGrp="1"/>
          </p:cNvSpPr>
          <p:nvPr/>
        </p:nvSpPr>
        <p:spPr>
          <a:xfrm>
            <a:off x="5056632" y="2002536"/>
            <a:ext cx="232257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Manajemen Data Epidemiologi dengan R…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3B6F9FC2-3AA1-407E-907D-FB9F0E0C4E80}"/>
              </a:ext>
            </a:extLst>
          </p:cNvPr>
          <p:cNvSpPr>
            <a:spLocks noGrp="1"/>
          </p:cNvSpPr>
          <p:nvPr/>
        </p:nvSpPr>
        <p:spPr>
          <a:xfrm>
            <a:off x="7909560" y="1920240"/>
            <a:ext cx="246888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3CAC20B6-6FF4-47B9-8E53-AB93426AA6CE}"/>
              </a:ext>
            </a:extLst>
          </p:cNvPr>
          <p:cNvSpPr>
            <a:spLocks noGrp="1"/>
          </p:cNvSpPr>
          <p:nvPr/>
        </p:nvSpPr>
        <p:spPr>
          <a:xfrm>
            <a:off x="7982712" y="2002536"/>
            <a:ext cx="232257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Cleaning, Validasi, dan Transformasi…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F24A4213-3E71-4C46-9EC6-29BC804A9AE5}"/>
              </a:ext>
            </a:extLst>
          </p:cNvPr>
          <p:cNvSpPr>
            <a:spLocks noGrp="1"/>
          </p:cNvSpPr>
          <p:nvPr/>
        </p:nvSpPr>
        <p:spPr>
          <a:xfrm>
            <a:off x="4983480" y="2761488"/>
            <a:ext cx="2468880" cy="5943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027F58CD-4F96-4CFE-A9A6-ECB4B3391DDF}"/>
              </a:ext>
            </a:extLst>
          </p:cNvPr>
          <p:cNvSpPr>
            <a:spLocks noGrp="1"/>
          </p:cNvSpPr>
          <p:nvPr/>
        </p:nvSpPr>
        <p:spPr>
          <a:xfrm>
            <a:off x="5056632" y="2843784"/>
            <a:ext cx="232257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Algoritma Input-Output, Dokumentasi, dan…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B987FD20-E0DC-4810-9DFD-85E121A04354}"/>
              </a:ext>
            </a:extLst>
          </p:cNvPr>
          <p:cNvSpPr>
            <a:spLocks noGrp="1"/>
          </p:cNvSpPr>
          <p:nvPr/>
        </p:nvSpPr>
        <p:spPr>
          <a:xfrm>
            <a:off x="7909560" y="2761488"/>
            <a:ext cx="246888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CEC254D7-B69F-4453-93A7-695C516E93C6}"/>
              </a:ext>
            </a:extLst>
          </p:cNvPr>
          <p:cNvSpPr>
            <a:spLocks noGrp="1"/>
          </p:cNvSpPr>
          <p:nvPr/>
        </p:nvSpPr>
        <p:spPr>
          <a:xfrm>
            <a:off x="7982712" y="2843784"/>
            <a:ext cx="232257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Sistem Peringatan Dini: Tren, Ambang…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F7CC19F8-15A1-474E-B23F-B5FA0D0A88DA}"/>
              </a:ext>
            </a:extLst>
          </p:cNvPr>
          <p:cNvSpPr>
            <a:spLocks noGrp="1"/>
          </p:cNvSpPr>
          <p:nvPr/>
        </p:nvSpPr>
        <p:spPr>
          <a:xfrm>
            <a:off x="4983480" y="3602736"/>
            <a:ext cx="2468880" cy="5943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09AE5965-B3E7-4D44-9B7A-0D39AA0A70F7}"/>
              </a:ext>
            </a:extLst>
          </p:cNvPr>
          <p:cNvSpPr>
            <a:spLocks noGrp="1"/>
          </p:cNvSpPr>
          <p:nvPr/>
        </p:nvSpPr>
        <p:spPr>
          <a:xfrm>
            <a:off x="5056632" y="3685032"/>
            <a:ext cx="232257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Desain Studi Epidemiologi…</a:t>
            </a: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D8F91FBB-0E68-4370-B179-30A0E84A3303}"/>
              </a:ext>
            </a:extLst>
          </p:cNvPr>
          <p:cNvSpPr>
            <a:spLocks noGrp="1"/>
          </p:cNvSpPr>
          <p:nvPr/>
        </p:nvSpPr>
        <p:spPr>
          <a:xfrm>
            <a:off x="1005840" y="5166360"/>
            <a:ext cx="9966960" cy="658368"/>
          </a:xfrm>
          <a:prstGeom prst="roundRect">
            <a:avLst/>
          </a:prstGeom>
          <a:solidFill>
            <a:srgbClr val="0B1F36"/>
          </a:solidFill>
          <a:ln w="12700">
            <a:solidFill>
              <a:srgbClr val="0B1F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6A8AC469-480C-4352-A712-86754912D445}"/>
              </a:ext>
            </a:extLst>
          </p:cNvPr>
          <p:cNvSpPr>
            <a:spLocks noGrp="1"/>
          </p:cNvSpPr>
          <p:nvPr/>
        </p:nvSpPr>
        <p:spPr>
          <a:xfrm>
            <a:off x="1280160" y="5376672"/>
            <a:ext cx="9372600" cy="25603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5802"/>
          </a:bodyPr>
          <a:lstStyle/>
          <a:p>
            <a:pPr marL="0" indent="0" algn="ctr">
              <a:buNone/>
            </a:pPr>
            <a:r>
              <a:rPr sz="142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Praktikum diarahkan pada eksperimen reproducible: baseline → model lanjut → validasi → interpretasi kesalahan.</a:t>
            </a:r>
          </a:p>
        </p:txBody>
      </p:sp>
    </p:spTree>
    <p:extLst>
      <p:ext uri="{BB962C8B-B14F-4D97-AF65-F5344CB8AC3E}">
        <p14:creationId xmlns:p14="http://schemas.microsoft.com/office/powerpoint/2010/main" val="2723656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Validasi, Diagnostik, dan Evaluasi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Kualitas analisis dinilai dari data, asumsi, stabilitas, interpretasi, dan dampaknya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noGrp="1"/>
          </p:cNvSpPr>
          <p:nvPr/>
        </p:nvSpPr>
        <p:spPr>
          <a:xfrm>
            <a:off x="713232" y="1975104"/>
            <a:ext cx="3063240" cy="71323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noGrp="1"/>
          </p:cNvSpPr>
          <p:nvPr/>
        </p:nvSpPr>
        <p:spPr>
          <a:xfrm>
            <a:off x="786384" y="205740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Kualitas data</a:t>
            </a:r>
          </a:p>
          <a:p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kelengkapan &amp; konsistensi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noGrp="1"/>
          </p:cNvSpPr>
          <p:nvPr/>
        </p:nvSpPr>
        <p:spPr>
          <a:xfrm>
            <a:off x="4416552" y="1975104"/>
            <a:ext cx="3063240" cy="71323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noGrp="1"/>
          </p:cNvSpPr>
          <p:nvPr/>
        </p:nvSpPr>
        <p:spPr>
          <a:xfrm>
            <a:off x="4489704" y="205740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Asumsi model</a:t>
            </a:r>
          </a:p>
          <a:p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&amp; dependensi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noGrp="1"/>
          </p:cNvSpPr>
          <p:nvPr/>
        </p:nvSpPr>
        <p:spPr>
          <a:xfrm>
            <a:off x="8119872" y="1975104"/>
            <a:ext cx="3063240" cy="71323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noGrp="1"/>
          </p:cNvSpPr>
          <p:nvPr/>
        </p:nvSpPr>
        <p:spPr>
          <a:xfrm>
            <a:off x="8193024" y="205740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Validasi</a:t>
            </a:r>
          </a:p>
          <a:p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skema sesuai tujuan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noGrp="1"/>
          </p:cNvSpPr>
          <p:nvPr/>
        </p:nvSpPr>
        <p:spPr>
          <a:xfrm>
            <a:off x="713232" y="3026664"/>
            <a:ext cx="3063240" cy="71323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noGrp="1"/>
          </p:cNvSpPr>
          <p:nvPr/>
        </p:nvSpPr>
        <p:spPr>
          <a:xfrm>
            <a:off x="786384" y="310896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Diagnostik</a:t>
            </a:r>
          </a:p>
          <a:p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residual &amp; sensitivitas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noGrp="1"/>
          </p:cNvSpPr>
          <p:nvPr/>
        </p:nvSpPr>
        <p:spPr>
          <a:xfrm>
            <a:off x="4416552" y="3026664"/>
            <a:ext cx="3063240" cy="71323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noGrp="1"/>
          </p:cNvSpPr>
          <p:nvPr/>
        </p:nvSpPr>
        <p:spPr>
          <a:xfrm>
            <a:off x="4489704" y="310896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Perbandingan</a:t>
            </a:r>
          </a:p>
          <a:p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kinerja &amp; kompleksitas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noGrp="1"/>
          </p:cNvSpPr>
          <p:nvPr/>
        </p:nvSpPr>
        <p:spPr>
          <a:xfrm>
            <a:off x="8119872" y="3026664"/>
            <a:ext cx="3063240" cy="71323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noGrp="1"/>
          </p:cNvSpPr>
          <p:nvPr/>
        </p:nvSpPr>
        <p:spPr>
          <a:xfrm>
            <a:off x="8193024" y="310896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Interpretasi</a:t>
            </a:r>
          </a:p>
          <a:p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konteks &amp; keterbatasan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noGrp="1"/>
          </p:cNvSpPr>
          <p:nvPr/>
        </p:nvSpPr>
        <p:spPr>
          <a:xfrm>
            <a:off x="1005840" y="4572000"/>
            <a:ext cx="448056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noGrp="1"/>
          </p:cNvSpPr>
          <p:nvPr/>
        </p:nvSpPr>
        <p:spPr>
          <a:xfrm>
            <a:off x="1143000" y="4690872"/>
            <a:ext cx="4206240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Kinerja = akurasi + stabilitas + interpretabilitas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noGrp="1"/>
          </p:cNvSpPr>
          <p:nvPr/>
        </p:nvSpPr>
        <p:spPr>
          <a:xfrm>
            <a:off x="6492240" y="4572000"/>
            <a:ext cx="448056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noGrp="1"/>
          </p:cNvSpPr>
          <p:nvPr/>
        </p:nvSpPr>
        <p:spPr>
          <a:xfrm>
            <a:off x="6629400" y="4690872"/>
            <a:ext cx="4206240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9851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Bukti kuat = validasi + diagnostik + transparansi</a:t>
            </a: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noGrp="1"/>
          </p:cNvSpPr>
          <p:nvPr/>
        </p:nvSpPr>
        <p:spPr>
          <a:xfrm>
            <a:off x="1005840" y="5532120"/>
            <a:ext cx="1014984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Validasi yang baik memastikan hasil tetap masuk akal, dapat dijelaskan, dan dapat dipertanggungjawabkan pada data baru.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8A0993-4901-4A79-BD9D-F172E0289196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501DD22F-BDC8-4D7C-8431-9EBEA7D39824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4656B7DE-AA37-478B-A617-791EA8ED53B5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7B2E5F4B-8D7B-469B-BF4A-B110955F178F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Aplikasi Lanjut dan Studi Kasus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CA2B5E4-A045-4344-AC3B-B76AAE58CC48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Menerjemahkan teori, data, metode, dan evaluasi menjadi solusi terapan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EA13ED6D-153D-4074-8050-AAA232A2160E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3DA92211-D233-46A4-8CFA-3E0A914C8EEB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0F346CBF-C4DE-4D7A-931A-A65A6E9EAAA5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7E3638E3-8EC8-4B52-A6F4-84E543AEBEDA}"/>
              </a:ext>
            </a:extLst>
          </p:cNvPr>
          <p:cNvSpPr>
            <a:spLocks noGrp="1"/>
          </p:cNvSpPr>
          <p:nvPr/>
        </p:nvSpPr>
        <p:spPr>
          <a:xfrm>
            <a:off x="868680" y="1965960"/>
            <a:ext cx="4206240" cy="2834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9D1CDB36-4A42-4692-A5DE-F81EE76D60B6}"/>
              </a:ext>
            </a:extLst>
          </p:cNvPr>
          <p:cNvSpPr>
            <a:spLocks noGrp="1"/>
          </p:cNvSpPr>
          <p:nvPr/>
        </p:nvSpPr>
        <p:spPr>
          <a:xfrm>
            <a:off x="1234440" y="2331720"/>
            <a:ext cx="3337560" cy="2103120"/>
          </a:xfrm>
          <a:prstGeom prst="roundRect">
            <a:avLst/>
          </a:prstGeom>
          <a:solidFill>
            <a:srgbClr val="DDECF2"/>
          </a:solidFill>
          <a:ln w="12700">
            <a:solidFill>
              <a:srgbClr val="DDECF2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AE8CD180-FDC8-4BD2-A043-FD1C57ACC282}"/>
              </a:ext>
            </a:extLst>
          </p:cNvPr>
          <p:cNvSpPr>
            <a:spLocks noGrp="1"/>
          </p:cNvSpPr>
          <p:nvPr/>
        </p:nvSpPr>
        <p:spPr>
          <a:xfrm>
            <a:off x="1645920" y="2697480"/>
            <a:ext cx="1143000" cy="868680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3931987-3DA2-4363-8929-4B03323B06A2}"/>
              </a:ext>
            </a:extLst>
          </p:cNvPr>
          <p:cNvSpPr>
            <a:spLocks noGrp="1"/>
          </p:cNvSpPr>
          <p:nvPr/>
        </p:nvSpPr>
        <p:spPr>
          <a:xfrm>
            <a:off x="1700784" y="2505456"/>
            <a:ext cx="1005840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70098"/>
          </a:bodyPr>
          <a:lstStyle/>
          <a:p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Kasus A</a:t>
            </a:r>
          </a:p>
          <a:p>
            <a:pPr marL="0" indent="0" algn="ctr">
              <a:buNone/>
            </a:pPr>
            <a:r>
              <a:rPr sz="8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data nyata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8F893B32-A10D-4209-84BD-5D37A13AB2C7}"/>
              </a:ext>
            </a:extLst>
          </p:cNvPr>
          <p:cNvSpPr>
            <a:spLocks noGrp="1"/>
          </p:cNvSpPr>
          <p:nvPr/>
        </p:nvSpPr>
        <p:spPr>
          <a:xfrm>
            <a:off x="2971800" y="2999232"/>
            <a:ext cx="960120" cy="658368"/>
          </a:xfrm>
          <a:prstGeom prst="rect">
            <a:avLst/>
          </a:prstGeom>
          <a:solidFill>
            <a:srgbClr val="FFFFFF">
              <a:alpha val="0"/>
            </a:srgbClr>
          </a:solidFill>
          <a:ln w="38100">
            <a:solidFill>
              <a:srgbClr val="1B998B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A43612FC-71A5-4D46-8936-4991B80A6D0B}"/>
              </a:ext>
            </a:extLst>
          </p:cNvPr>
          <p:cNvSpPr>
            <a:spLocks noGrp="1"/>
          </p:cNvSpPr>
          <p:nvPr/>
        </p:nvSpPr>
        <p:spPr>
          <a:xfrm>
            <a:off x="2980944" y="2798064"/>
            <a:ext cx="914400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70098"/>
          </a:bodyPr>
          <a:lstStyle/>
          <a:p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Kasus B</a:t>
            </a:r>
          </a:p>
          <a:p>
            <a:pPr marL="0" indent="0" algn="ctr">
              <a:buNone/>
            </a:pPr>
            <a:r>
              <a:rPr sz="8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hasil model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FD0D113F-826E-46D8-B90D-0721627E135E}"/>
              </a:ext>
            </a:extLst>
          </p:cNvPr>
          <p:cNvSpPr>
            <a:spLocks noGrp="1"/>
          </p:cNvSpPr>
          <p:nvPr/>
        </p:nvSpPr>
        <p:spPr>
          <a:xfrm>
            <a:off x="5715000" y="1993392"/>
            <a:ext cx="2148840" cy="5943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669260DF-8CB6-497A-958E-333960A4A75C}"/>
              </a:ext>
            </a:extLst>
          </p:cNvPr>
          <p:cNvSpPr>
            <a:spLocks noGrp="1"/>
          </p:cNvSpPr>
          <p:nvPr/>
        </p:nvSpPr>
        <p:spPr>
          <a:xfrm>
            <a:off x="5788152" y="2075688"/>
            <a:ext cx="200253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Cleaning, Validasi, dan Transformasi…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214DDC3C-7443-4100-B06A-C3BBBCEDDF3B}"/>
              </a:ext>
            </a:extLst>
          </p:cNvPr>
          <p:cNvSpPr>
            <a:spLocks noGrp="1"/>
          </p:cNvSpPr>
          <p:nvPr/>
        </p:nvSpPr>
        <p:spPr>
          <a:xfrm>
            <a:off x="8275320" y="1993392"/>
            <a:ext cx="214884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668474F0-A088-4BFA-8646-13B6794443A7}"/>
              </a:ext>
            </a:extLst>
          </p:cNvPr>
          <p:cNvSpPr>
            <a:spLocks noGrp="1"/>
          </p:cNvSpPr>
          <p:nvPr/>
        </p:nvSpPr>
        <p:spPr>
          <a:xfrm>
            <a:off x="8348472" y="2075688"/>
            <a:ext cx="200253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Algoritma Input-Output, Dokumentasi…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C2DD6A80-5191-4D05-85BF-BC3E4326E29F}"/>
              </a:ext>
            </a:extLst>
          </p:cNvPr>
          <p:cNvSpPr>
            <a:spLocks noGrp="1"/>
          </p:cNvSpPr>
          <p:nvPr/>
        </p:nvSpPr>
        <p:spPr>
          <a:xfrm>
            <a:off x="5715000" y="2834640"/>
            <a:ext cx="2148840" cy="5943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A430460D-9B59-468A-A2B9-93BF09EA18F9}"/>
              </a:ext>
            </a:extLst>
          </p:cNvPr>
          <p:cNvSpPr>
            <a:spLocks noGrp="1"/>
          </p:cNvSpPr>
          <p:nvPr/>
        </p:nvSpPr>
        <p:spPr>
          <a:xfrm>
            <a:off x="5788152" y="2916936"/>
            <a:ext cx="200253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Sistem Peringatan Dini: Tren, Ambang…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2D53D36E-E609-4065-BB56-E99FF8B49BE7}"/>
              </a:ext>
            </a:extLst>
          </p:cNvPr>
          <p:cNvSpPr>
            <a:spLocks noGrp="1"/>
          </p:cNvSpPr>
          <p:nvPr/>
        </p:nvSpPr>
        <p:spPr>
          <a:xfrm>
            <a:off x="8275320" y="2834640"/>
            <a:ext cx="214884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A232815C-8EF7-4319-8FD2-505755B51682}"/>
              </a:ext>
            </a:extLst>
          </p:cNvPr>
          <p:cNvSpPr>
            <a:spLocks noGrp="1"/>
          </p:cNvSpPr>
          <p:nvPr/>
        </p:nvSpPr>
        <p:spPr>
          <a:xfrm>
            <a:off x="8348472" y="2916936"/>
            <a:ext cx="200253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Desain Studi Epidemiologi…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574E3235-C649-4CC0-8918-B7D568933350}"/>
              </a:ext>
            </a:extLst>
          </p:cNvPr>
          <p:cNvSpPr>
            <a:spLocks noGrp="1"/>
          </p:cNvSpPr>
          <p:nvPr/>
        </p:nvSpPr>
        <p:spPr>
          <a:xfrm>
            <a:off x="5715000" y="3675888"/>
            <a:ext cx="2148840" cy="594360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B15BF345-B831-40EA-861A-3DD93BD8FD26}"/>
              </a:ext>
            </a:extLst>
          </p:cNvPr>
          <p:cNvSpPr>
            <a:spLocks noGrp="1"/>
          </p:cNvSpPr>
          <p:nvPr/>
        </p:nvSpPr>
        <p:spPr>
          <a:xfrm>
            <a:off x="5788152" y="3758184"/>
            <a:ext cx="200253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Analisis Statistik Lanjut: Regresi…</a:t>
            </a:r>
          </a:p>
        </p:txBody>
      </p:sp>
      <p:sp>
        <p:nvSpPr>
          <p:cNvPr id="27" name="Shape 24">
            <a:extLst>
              <a:ext uri="{FF2B5EF4-FFF2-40B4-BE49-F238E27FC236}">
                <a16:creationId xmlns:a16="http://schemas.microsoft.com/office/drawing/2014/main" id="{56506593-8087-4056-9BD5-A6E7F8A2363C}"/>
              </a:ext>
            </a:extLst>
          </p:cNvPr>
          <p:cNvSpPr>
            <a:spLocks noGrp="1"/>
          </p:cNvSpPr>
          <p:nvPr/>
        </p:nvSpPr>
        <p:spPr>
          <a:xfrm>
            <a:off x="8275320" y="3675888"/>
            <a:ext cx="214884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B2629C1C-24AB-46C5-BF79-A690166C0122}"/>
              </a:ext>
            </a:extLst>
          </p:cNvPr>
          <p:cNvSpPr>
            <a:spLocks noGrp="1"/>
          </p:cNvSpPr>
          <p:nvPr/>
        </p:nvSpPr>
        <p:spPr>
          <a:xfrm>
            <a:off x="8348472" y="3758184"/>
            <a:ext cx="2002536" cy="429768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Epidemiologi Digital, Machine…</a:t>
            </a: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09B38C01-C1F7-4EC2-903A-026201840DC2}"/>
              </a:ext>
            </a:extLst>
          </p:cNvPr>
          <p:cNvSpPr>
            <a:spLocks noGrp="1"/>
          </p:cNvSpPr>
          <p:nvPr/>
        </p:nvSpPr>
        <p:spPr>
          <a:xfrm>
            <a:off x="932688" y="5440680"/>
            <a:ext cx="10332720" cy="36576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Aplikasi lanjut menuntut definisi masalah yang jelas, data yang layak, metode yang tepat, validasi yang kuat, dan komunikasi yang…</a:t>
            </a:r>
          </a:p>
        </p:txBody>
      </p:sp>
    </p:spTree>
    <p:extLst>
      <p:ext uri="{BB962C8B-B14F-4D97-AF65-F5344CB8AC3E}">
        <p14:creationId xmlns:p14="http://schemas.microsoft.com/office/powerpoint/2010/main" val="7119018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D316800-1217-4870-B87E-DB0A883C797F}"/>
              </a:ext>
            </a:extLst>
          </p:cNvPr>
          <p:cNvSpPr>
            <a:spLocks noGrp="1"/>
          </p:cNvSpPr>
          <p:nvPr/>
        </p:nvSpPr>
        <p:spPr>
          <a:xfrm>
            <a:off x="0" y="6309360"/>
            <a:ext cx="12191695" cy="548640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9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530352"/>
            <a:ext cx="566928" cy="566928"/>
          </a:xfrm>
          <a:prstGeom prst="rect">
            <a:avLst/>
          </a:prstGeom>
        </p:spPr>
      </p:pic>
      <p:sp>
        <p:nvSpPr>
          <p:cNvPr id="4" name="Text 1">
            <a:extLst>
              <a:ext uri="{FF2B5EF4-FFF2-40B4-BE49-F238E27FC236}">
                <a16:creationId xmlns:a16="http://schemas.microsoft.com/office/drawing/2014/main" id="{EB010563-C701-4760-A308-EB1D6B2A75B5}"/>
              </a:ext>
            </a:extLst>
          </p:cNvPr>
          <p:cNvSpPr>
            <a:spLocks noGrp="1"/>
          </p:cNvSpPr>
          <p:nvPr/>
        </p:nvSpPr>
        <p:spPr>
          <a:xfrm>
            <a:off x="1261872" y="621792"/>
            <a:ext cx="6766560" cy="2286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100" b="1">
                <a:solidFill>
                  <a:srgbClr val="E8F1F2"/>
                </a:solidFill>
                <a:latin typeface="Aptos"/>
                <a:ea typeface="Aptos"/>
                <a:cs typeface="Aptos"/>
              </a:rPr>
              <a:t>Pertemuan 13–16 | Integrasi, riset, reproducibility, presentasi, dan proyek akhir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D6BFF51-F364-4AF3-8950-A80341674423}"/>
              </a:ext>
            </a:extLst>
          </p:cNvPr>
          <p:cNvSpPr>
            <a:spLocks noGrp="1"/>
          </p:cNvSpPr>
          <p:nvPr/>
        </p:nvSpPr>
        <p:spPr>
          <a:xfrm>
            <a:off x="658368" y="2267712"/>
            <a:ext cx="8961120" cy="12344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6329"/>
          </a:bodyPr>
          <a:lstStyle/>
          <a:p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Bagian III</a:t>
            </a:r>
          </a:p>
          <a:p>
            <a:pPr marL="0" indent="0" algn="l">
              <a:buNone/>
            </a:pPr>
            <a:r>
              <a:rPr sz="42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Riset, Reproducibility &amp; Project</a:t>
            </a:r>
          </a:p>
        </p:txBody>
      </p:sp>
      <p:sp>
        <p:nvSpPr>
          <p:cNvPr id="6" name="Shape 3">
            <a:extLst>
              <a:ext uri="{FF2B5EF4-FFF2-40B4-BE49-F238E27FC236}">
                <a16:creationId xmlns:a16="http://schemas.microsoft.com/office/drawing/2014/main" id="{E5F92641-CD3F-44E2-A69D-9D20B1698DB9}"/>
              </a:ext>
            </a:extLst>
          </p:cNvPr>
          <p:cNvSpPr>
            <a:spLocks noGrp="1"/>
          </p:cNvSpPr>
          <p:nvPr/>
        </p:nvSpPr>
        <p:spPr>
          <a:xfrm>
            <a:off x="658368" y="3703320"/>
            <a:ext cx="3182112" cy="0"/>
          </a:xfrm>
          <a:prstGeom prst="line">
            <a:avLst/>
          </a:prstGeom>
          <a:noFill/>
          <a:ln w="635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7937984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0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Riset, Reproducibility, dan Proposal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Kontribusi ilmiah tumbuh dari masalah, bukti, metode, validasi, dan dampak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noGrp="1"/>
          </p:cNvSpPr>
          <p:nvPr/>
        </p:nvSpPr>
        <p:spPr>
          <a:xfrm>
            <a:off x="640080" y="1920240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noGrp="1"/>
          </p:cNvSpPr>
          <p:nvPr/>
        </p:nvSpPr>
        <p:spPr>
          <a:xfrm>
            <a:off x="777240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Rumusan masalah</a:t>
            </a: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noGrp="1"/>
          </p:cNvSpPr>
          <p:nvPr/>
        </p:nvSpPr>
        <p:spPr>
          <a:xfrm>
            <a:off x="777240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pertanyaan yang jelas</a:t>
            </a: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noGrp="1"/>
          </p:cNvSpPr>
          <p:nvPr/>
        </p:nvSpPr>
        <p:spPr>
          <a:xfrm>
            <a:off x="3456432" y="1920240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noGrp="1"/>
          </p:cNvSpPr>
          <p:nvPr/>
        </p:nvSpPr>
        <p:spPr>
          <a:xfrm>
            <a:off x="3593592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Peta literatur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noGrp="1"/>
          </p:cNvSpPr>
          <p:nvPr/>
        </p:nvSpPr>
        <p:spPr>
          <a:xfrm>
            <a:off x="3593592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metode dan kelemahan studi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noGrp="1"/>
          </p:cNvSpPr>
          <p:nvPr/>
        </p:nvSpPr>
        <p:spPr>
          <a:xfrm>
            <a:off x="6272784" y="1920240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noGrp="1"/>
          </p:cNvSpPr>
          <p:nvPr/>
        </p:nvSpPr>
        <p:spPr>
          <a:xfrm>
            <a:off x="6409944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Kontribusi</a:t>
            </a: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noGrp="1"/>
          </p:cNvSpPr>
          <p:nvPr/>
        </p:nvSpPr>
        <p:spPr>
          <a:xfrm>
            <a:off x="6409944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nilai tambah yang dapat diuji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noGrp="1"/>
          </p:cNvSpPr>
          <p:nvPr/>
        </p:nvSpPr>
        <p:spPr>
          <a:xfrm>
            <a:off x="9089136" y="1920240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noGrp="1"/>
          </p:cNvSpPr>
          <p:nvPr/>
        </p:nvSpPr>
        <p:spPr>
          <a:xfrm>
            <a:off x="9226296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Data &amp; desain</a:t>
            </a: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noGrp="1"/>
          </p:cNvSpPr>
          <p:nvPr/>
        </p:nvSpPr>
        <p:spPr>
          <a:xfrm>
            <a:off x="9226296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sumber, unit, dan kualitas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noGrp="1"/>
          </p:cNvSpPr>
          <p:nvPr/>
        </p:nvSpPr>
        <p:spPr>
          <a:xfrm>
            <a:off x="640080" y="2944368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noGrp="1"/>
          </p:cNvSpPr>
          <p:nvPr/>
        </p:nvSpPr>
        <p:spPr>
          <a:xfrm>
            <a:off x="777240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Validasi eksternal</a:t>
            </a: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noGrp="1"/>
          </p:cNvSpPr>
          <p:nvPr/>
        </p:nvSpPr>
        <p:spPr>
          <a:xfrm>
            <a:off x="777240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uji generalisasi hasil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noGrp="1"/>
          </p:cNvSpPr>
          <p:nvPr/>
        </p:nvSpPr>
        <p:spPr>
          <a:xfrm>
            <a:off x="3456432" y="2944368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noGrp="1"/>
          </p:cNvSpPr>
          <p:nvPr/>
        </p:nvSpPr>
        <p:spPr>
          <a:xfrm>
            <a:off x="3593592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Explainability</a:t>
            </a: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noGrp="1"/>
          </p:cNvSpPr>
          <p:nvPr/>
        </p:nvSpPr>
        <p:spPr>
          <a:xfrm>
            <a:off x="3593592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mengapa hasil bekerja/gagal</a:t>
            </a: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noGrp="1"/>
          </p:cNvSpPr>
          <p:nvPr/>
        </p:nvSpPr>
        <p:spPr>
          <a:xfrm>
            <a:off x="6272784" y="2944368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noGrp="1"/>
          </p:cNvSpPr>
          <p:nvPr/>
        </p:nvSpPr>
        <p:spPr>
          <a:xfrm>
            <a:off x="6409944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Reproducibility</a:t>
            </a: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noGrp="1"/>
          </p:cNvSpPr>
          <p:nvPr/>
        </p:nvSpPr>
        <p:spPr>
          <a:xfrm>
            <a:off x="6409944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kode, seed, dan environment</a:t>
            </a: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noGrp="1"/>
          </p:cNvSpPr>
          <p:nvPr/>
        </p:nvSpPr>
        <p:spPr>
          <a:xfrm>
            <a:off x="9089136" y="2944368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noGrp="1"/>
          </p:cNvSpPr>
          <p:nvPr/>
        </p:nvSpPr>
        <p:spPr>
          <a:xfrm>
            <a:off x="9226296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Etika &amp; governance</a:t>
            </a: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noGrp="1"/>
          </p:cNvSpPr>
          <p:nvPr/>
        </p:nvSpPr>
        <p:spPr>
          <a:xfrm>
            <a:off x="9226296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privasi, akses, dan dampak</a:t>
            </a: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noGrp="1"/>
          </p:cNvSpPr>
          <p:nvPr/>
        </p:nvSpPr>
        <p:spPr>
          <a:xfrm>
            <a:off x="1051560" y="4754880"/>
            <a:ext cx="9921240" cy="786384"/>
          </a:xfrm>
          <a:prstGeom prst="roundRect">
            <a:avLst/>
          </a:prstGeom>
          <a:solidFill>
            <a:srgbClr val="0B1F36"/>
          </a:solidFill>
          <a:ln w="12700">
            <a:solidFill>
              <a:srgbClr val="0B1F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noGrp="1"/>
          </p:cNvSpPr>
          <p:nvPr/>
        </p:nvSpPr>
        <p:spPr>
          <a:xfrm>
            <a:off x="1371600" y="5029200"/>
            <a:ext cx="9281160" cy="29260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57"/>
          </a:bodyPr>
          <a:lstStyle/>
          <a:p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Struktur proyek: masalah → data → metode → asumsi → validasi → hasil → keterbatasan → rekomendasi → dampak.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6B9EFED-611A-44E7-A3E3-2A5F2AB8B46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62870BBB-C9D7-4DB6-99AC-0146D311821D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1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406CF4F2-4357-497B-A90A-A7244F353241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4D4DB348-7FF5-4457-9081-4AD13618523B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Penilaian dan Ide Proyek Akhir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A40EE87-0094-4EA5-B899-96B62570C325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Bobot penilaian menggabungkan konsep, implementasi, validasi, komunikasi, dan riset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1754EFCF-5AE7-4128-9699-393BF9BCE780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23D9CA6C-2CC3-466B-A2B6-B7F42D53F6AF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C9E90992-DC11-44DB-AABB-3D10F82A7714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61793C0C-1112-44F7-8F9D-DDB506313352}"/>
              </a:ext>
            </a:extLst>
          </p:cNvPr>
          <p:cNvSpPr>
            <a:spLocks noGrp="1"/>
          </p:cNvSpPr>
          <p:nvPr/>
        </p:nvSpPr>
        <p:spPr>
          <a:xfrm>
            <a:off x="731520" y="1938528"/>
            <a:ext cx="5486400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D709FFDA-0499-4E90-854D-3D58C2DE95CF}"/>
              </a:ext>
            </a:extLst>
          </p:cNvPr>
          <p:cNvSpPr>
            <a:spLocks noGrp="1"/>
          </p:cNvSpPr>
          <p:nvPr/>
        </p:nvSpPr>
        <p:spPr>
          <a:xfrm>
            <a:off x="932688" y="2020824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Partisipasi, diskusi, kehadiran</a:t>
            </a: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CA26CE89-D4B3-447B-81A3-101F3BE66CF5}"/>
              </a:ext>
            </a:extLst>
          </p:cNvPr>
          <p:cNvSpPr>
            <a:spLocks noGrp="1"/>
          </p:cNvSpPr>
          <p:nvPr/>
        </p:nvSpPr>
        <p:spPr>
          <a:xfrm>
            <a:off x="5413248" y="2020824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5DB9CA46-D6A4-45B6-AD39-04B165D46F67}"/>
              </a:ext>
            </a:extLst>
          </p:cNvPr>
          <p:cNvSpPr>
            <a:spLocks noGrp="1"/>
          </p:cNvSpPr>
          <p:nvPr/>
        </p:nvSpPr>
        <p:spPr>
          <a:xfrm>
            <a:off x="731520" y="2377440"/>
            <a:ext cx="5486400" cy="310896"/>
          </a:xfrm>
          <a:prstGeom prst="roundRect">
            <a:avLst/>
          </a:prstGeom>
          <a:solidFill>
            <a:srgbClr val="EEF5F6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BED2EABB-5F6B-4922-B9E6-17CE153401CF}"/>
              </a:ext>
            </a:extLst>
          </p:cNvPr>
          <p:cNvSpPr>
            <a:spLocks noGrp="1"/>
          </p:cNvSpPr>
          <p:nvPr/>
        </p:nvSpPr>
        <p:spPr>
          <a:xfrm>
            <a:off x="932688" y="2459736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Kuis reflektif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C1A5187F-129E-43DB-97EE-F31057E6A4BF}"/>
              </a:ext>
            </a:extLst>
          </p:cNvPr>
          <p:cNvSpPr>
            <a:spLocks noGrp="1"/>
          </p:cNvSpPr>
          <p:nvPr/>
        </p:nvSpPr>
        <p:spPr>
          <a:xfrm>
            <a:off x="5413248" y="2459736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E7F65E2B-E66D-49F0-B8EE-4906A15ED322}"/>
              </a:ext>
            </a:extLst>
          </p:cNvPr>
          <p:cNvSpPr>
            <a:spLocks noGrp="1"/>
          </p:cNvSpPr>
          <p:nvPr/>
        </p:nvSpPr>
        <p:spPr>
          <a:xfrm>
            <a:off x="731520" y="2816352"/>
            <a:ext cx="5486400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F5EFBEDD-A609-470B-9FE2-D051FDEC1FEA}"/>
              </a:ext>
            </a:extLst>
          </p:cNvPr>
          <p:cNvSpPr>
            <a:spLocks noGrp="1"/>
          </p:cNvSpPr>
          <p:nvPr/>
        </p:nvSpPr>
        <p:spPr>
          <a:xfrm>
            <a:off x="932688" y="2898648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Tugas konsep dan praktikum</a:t>
            </a: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0D055EF2-5A1C-4CC5-A4FD-71A01DFE1131}"/>
              </a:ext>
            </a:extLst>
          </p:cNvPr>
          <p:cNvSpPr>
            <a:spLocks noGrp="1"/>
          </p:cNvSpPr>
          <p:nvPr/>
        </p:nvSpPr>
        <p:spPr>
          <a:xfrm>
            <a:off x="5413248" y="2898648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1A47932-68BE-4714-A077-E286B26CC645}"/>
              </a:ext>
            </a:extLst>
          </p:cNvPr>
          <p:cNvSpPr>
            <a:spLocks noGrp="1"/>
          </p:cNvSpPr>
          <p:nvPr/>
        </p:nvSpPr>
        <p:spPr>
          <a:xfrm>
            <a:off x="731520" y="3255264"/>
            <a:ext cx="5486400" cy="310896"/>
          </a:xfrm>
          <a:prstGeom prst="roundRect">
            <a:avLst/>
          </a:prstGeom>
          <a:solidFill>
            <a:srgbClr val="EEF5F6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7ECC41BF-F55D-4C43-89E7-8969EFA03D9F}"/>
              </a:ext>
            </a:extLst>
          </p:cNvPr>
          <p:cNvSpPr>
            <a:spLocks noGrp="1"/>
          </p:cNvSpPr>
          <p:nvPr/>
        </p:nvSpPr>
        <p:spPr>
          <a:xfrm>
            <a:off x="932688" y="3337560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Presentasi hasil analisis</a:t>
            </a: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04A271E-2BA0-43BF-AA28-8EB8C37BF88E}"/>
              </a:ext>
            </a:extLst>
          </p:cNvPr>
          <p:cNvSpPr>
            <a:spLocks noGrp="1"/>
          </p:cNvSpPr>
          <p:nvPr/>
        </p:nvSpPr>
        <p:spPr>
          <a:xfrm>
            <a:off x="5413248" y="3337560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E8E07469-9DD6-41E1-AE0E-AEC5F9036468}"/>
              </a:ext>
            </a:extLst>
          </p:cNvPr>
          <p:cNvSpPr>
            <a:spLocks noGrp="1"/>
          </p:cNvSpPr>
          <p:nvPr/>
        </p:nvSpPr>
        <p:spPr>
          <a:xfrm>
            <a:off x="731520" y="3694176"/>
            <a:ext cx="5486400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8C60E042-F716-4B7F-8B9F-DD837CE70CE4}"/>
              </a:ext>
            </a:extLst>
          </p:cNvPr>
          <p:cNvSpPr>
            <a:spLocks noGrp="1"/>
          </p:cNvSpPr>
          <p:nvPr/>
        </p:nvSpPr>
        <p:spPr>
          <a:xfrm>
            <a:off x="932688" y="3776472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>
                <a:solidFill>
                  <a:srgbClr val="1B263B"/>
                </a:solidFill>
                <a:latin typeface="Aptos"/>
                <a:ea typeface="Aptos"/>
                <a:cs typeface="Aptos"/>
              </a:rPr>
              <a:t>UTS berbasis kasus</a:t>
            </a: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4D159A37-0956-455C-8881-6721CB2F51E7}"/>
              </a:ext>
            </a:extLst>
          </p:cNvPr>
          <p:cNvSpPr>
            <a:spLocks noGrp="1"/>
          </p:cNvSpPr>
          <p:nvPr/>
        </p:nvSpPr>
        <p:spPr>
          <a:xfrm>
            <a:off x="5413248" y="3776472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42BE7D48-ADCB-4CE4-AD8B-35C405E25F27}"/>
              </a:ext>
            </a:extLst>
          </p:cNvPr>
          <p:cNvSpPr>
            <a:spLocks noGrp="1"/>
          </p:cNvSpPr>
          <p:nvPr/>
        </p:nvSpPr>
        <p:spPr>
          <a:xfrm>
            <a:off x="731520" y="4133088"/>
            <a:ext cx="5486400" cy="310896"/>
          </a:xfrm>
          <a:prstGeom prst="roundRect">
            <a:avLst/>
          </a:prstGeom>
          <a:solidFill>
            <a:srgbClr val="EEF5F6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BA0968BA-8AF8-474A-9275-FC2C00B38715}"/>
              </a:ext>
            </a:extLst>
          </p:cNvPr>
          <p:cNvSpPr>
            <a:spLocks noGrp="1"/>
          </p:cNvSpPr>
          <p:nvPr/>
        </p:nvSpPr>
        <p:spPr>
          <a:xfrm>
            <a:off x="932688" y="4215384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Laporan/proyek analisis</a:t>
            </a: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446309E4-BB92-4E47-B568-1D199EF0DBE4}"/>
              </a:ext>
            </a:extLst>
          </p:cNvPr>
          <p:cNvSpPr>
            <a:spLocks noGrp="1"/>
          </p:cNvSpPr>
          <p:nvPr/>
        </p:nvSpPr>
        <p:spPr>
          <a:xfrm>
            <a:off x="5413248" y="4215384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98270D5C-92CC-4908-8C17-2BAF66F97740}"/>
              </a:ext>
            </a:extLst>
          </p:cNvPr>
          <p:cNvSpPr>
            <a:spLocks noGrp="1"/>
          </p:cNvSpPr>
          <p:nvPr/>
        </p:nvSpPr>
        <p:spPr>
          <a:xfrm>
            <a:off x="731520" y="4572000"/>
            <a:ext cx="5486400" cy="310896"/>
          </a:xfrm>
          <a:prstGeom prst="roundRect">
            <a:avLst/>
          </a:prstGeom>
          <a:solidFill>
            <a:srgbClr val="FFFFFF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CDEF6F74-CBB5-45DE-8442-3BE63BADE0B7}"/>
              </a:ext>
            </a:extLst>
          </p:cNvPr>
          <p:cNvSpPr>
            <a:spLocks noGrp="1"/>
          </p:cNvSpPr>
          <p:nvPr/>
        </p:nvSpPr>
        <p:spPr>
          <a:xfrm>
            <a:off x="932688" y="4654296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Proposal riset dan presentasi</a:t>
            </a: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1BEC9ACA-EDC2-4E04-AE51-59C129645ADC}"/>
              </a:ext>
            </a:extLst>
          </p:cNvPr>
          <p:cNvSpPr>
            <a:spLocks noGrp="1"/>
          </p:cNvSpPr>
          <p:nvPr/>
        </p:nvSpPr>
        <p:spPr>
          <a:xfrm>
            <a:off x="5413248" y="4654296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20%</a:t>
            </a: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5020008F-63B9-4EF6-81BE-D02B2263C260}"/>
              </a:ext>
            </a:extLst>
          </p:cNvPr>
          <p:cNvSpPr>
            <a:spLocks noGrp="1"/>
          </p:cNvSpPr>
          <p:nvPr/>
        </p:nvSpPr>
        <p:spPr>
          <a:xfrm>
            <a:off x="731520" y="5010912"/>
            <a:ext cx="5486400" cy="310896"/>
          </a:xfrm>
          <a:prstGeom prst="roundRect">
            <a:avLst/>
          </a:prstGeom>
          <a:solidFill>
            <a:srgbClr val="EEF5F6"/>
          </a:solidFill>
          <a:ln w="635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BBF85BD2-B55A-424E-B0B6-FB6890E3D16F}"/>
              </a:ext>
            </a:extLst>
          </p:cNvPr>
          <p:cNvSpPr>
            <a:spLocks noGrp="1"/>
          </p:cNvSpPr>
          <p:nvPr/>
        </p:nvSpPr>
        <p:spPr>
          <a:xfrm>
            <a:off x="932688" y="5093208"/>
            <a:ext cx="4297680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l">
              <a:buNone/>
            </a:pPr>
            <a:r>
              <a:rPr sz="880" b="1">
                <a:solidFill>
                  <a:srgbClr val="1B263B"/>
                </a:solidFill>
                <a:latin typeface="Aptos"/>
                <a:ea typeface="Aptos"/>
                <a:cs typeface="Aptos"/>
              </a:rPr>
              <a:t>UAS proyek akhir</a:t>
            </a: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95C2AE80-C129-4A8A-8D9A-2D938B3E12A5}"/>
              </a:ext>
            </a:extLst>
          </p:cNvPr>
          <p:cNvSpPr>
            <a:spLocks noGrp="1"/>
          </p:cNvSpPr>
          <p:nvPr/>
        </p:nvSpPr>
        <p:spPr>
          <a:xfrm>
            <a:off x="5413248" y="5093208"/>
            <a:ext cx="512064" cy="128016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4508"/>
          </a:bodyPr>
          <a:lstStyle/>
          <a:p>
            <a:pPr marL="0" indent="0" algn="r">
              <a:buNone/>
            </a:pPr>
            <a:r>
              <a:rPr sz="8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10%</a:t>
            </a: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C7D28216-92C9-4C57-BED3-31D62A9A656F}"/>
              </a:ext>
            </a:extLst>
          </p:cNvPr>
          <p:cNvSpPr>
            <a:spLocks noGrp="1"/>
          </p:cNvSpPr>
          <p:nvPr/>
        </p:nvSpPr>
        <p:spPr>
          <a:xfrm>
            <a:off x="6720840" y="1993392"/>
            <a:ext cx="1783080" cy="53035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F1FC3704-F8AF-4B5A-BD79-0E402AD2B971}"/>
              </a:ext>
            </a:extLst>
          </p:cNvPr>
          <p:cNvSpPr>
            <a:spLocks noGrp="1"/>
          </p:cNvSpPr>
          <p:nvPr/>
        </p:nvSpPr>
        <p:spPr>
          <a:xfrm>
            <a:off x="6793992" y="2075688"/>
            <a:ext cx="1636776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Algoritma Input-Output…</a:t>
            </a:r>
          </a:p>
        </p:txBody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2E648738-0414-404D-AA88-C4933B2ECD38}"/>
              </a:ext>
            </a:extLst>
          </p:cNvPr>
          <p:cNvSpPr>
            <a:spLocks noGrp="1"/>
          </p:cNvSpPr>
          <p:nvPr/>
        </p:nvSpPr>
        <p:spPr>
          <a:xfrm>
            <a:off x="8869680" y="1993392"/>
            <a:ext cx="1783080" cy="53035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274DB9B7-AF65-4D18-8398-47CE6BFA1D47}"/>
              </a:ext>
            </a:extLst>
          </p:cNvPr>
          <p:cNvSpPr>
            <a:spLocks noGrp="1"/>
          </p:cNvSpPr>
          <p:nvPr/>
        </p:nvSpPr>
        <p:spPr>
          <a:xfrm>
            <a:off x="8942832" y="2075688"/>
            <a:ext cx="1636776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Sistem Peringatan Dini: Tren…</a:t>
            </a: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FDDD4247-EF11-40CC-A301-3C8701B7A87D}"/>
              </a:ext>
            </a:extLst>
          </p:cNvPr>
          <p:cNvSpPr>
            <a:spLocks noGrp="1"/>
          </p:cNvSpPr>
          <p:nvPr/>
        </p:nvSpPr>
        <p:spPr>
          <a:xfrm>
            <a:off x="6720840" y="2752344"/>
            <a:ext cx="1783080" cy="53035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0" name="Text 37">
            <a:extLst>
              <a:ext uri="{FF2B5EF4-FFF2-40B4-BE49-F238E27FC236}">
                <a16:creationId xmlns:a16="http://schemas.microsoft.com/office/drawing/2014/main" id="{661DD391-B789-484D-8331-8060B1923DBD}"/>
              </a:ext>
            </a:extLst>
          </p:cNvPr>
          <p:cNvSpPr>
            <a:spLocks noGrp="1"/>
          </p:cNvSpPr>
          <p:nvPr/>
        </p:nvSpPr>
        <p:spPr>
          <a:xfrm>
            <a:off x="6793992" y="2834640"/>
            <a:ext cx="1636776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Desain Studi Epidemiologi…</a:t>
            </a:r>
          </a:p>
        </p:txBody>
      </p:sp>
      <p:sp>
        <p:nvSpPr>
          <p:cNvPr id="41" name="Shape 38">
            <a:extLst>
              <a:ext uri="{FF2B5EF4-FFF2-40B4-BE49-F238E27FC236}">
                <a16:creationId xmlns:a16="http://schemas.microsoft.com/office/drawing/2014/main" id="{E9F5C8AA-FD58-495B-97DB-89A1941C84CC}"/>
              </a:ext>
            </a:extLst>
          </p:cNvPr>
          <p:cNvSpPr>
            <a:spLocks noGrp="1"/>
          </p:cNvSpPr>
          <p:nvPr/>
        </p:nvSpPr>
        <p:spPr>
          <a:xfrm>
            <a:off x="8869680" y="2752344"/>
            <a:ext cx="1783080" cy="53035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2" name="Text 39">
            <a:extLst>
              <a:ext uri="{FF2B5EF4-FFF2-40B4-BE49-F238E27FC236}">
                <a16:creationId xmlns:a16="http://schemas.microsoft.com/office/drawing/2014/main" id="{1C626B5C-9759-4298-9CAE-6849625A7C6F}"/>
              </a:ext>
            </a:extLst>
          </p:cNvPr>
          <p:cNvSpPr>
            <a:spLocks noGrp="1"/>
          </p:cNvSpPr>
          <p:nvPr/>
        </p:nvSpPr>
        <p:spPr>
          <a:xfrm>
            <a:off x="8942832" y="2834640"/>
            <a:ext cx="1636776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Analisis Statistik Lanjut…</a:t>
            </a:r>
          </a:p>
        </p:txBody>
      </p:sp>
      <p:sp>
        <p:nvSpPr>
          <p:cNvPr id="43" name="Shape 40">
            <a:extLst>
              <a:ext uri="{FF2B5EF4-FFF2-40B4-BE49-F238E27FC236}">
                <a16:creationId xmlns:a16="http://schemas.microsoft.com/office/drawing/2014/main" id="{FD33845F-F8D8-427A-A3B4-11503FE5F382}"/>
              </a:ext>
            </a:extLst>
          </p:cNvPr>
          <p:cNvSpPr>
            <a:spLocks noGrp="1"/>
          </p:cNvSpPr>
          <p:nvPr/>
        </p:nvSpPr>
        <p:spPr>
          <a:xfrm>
            <a:off x="6720840" y="3511296"/>
            <a:ext cx="1783080" cy="53035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FD92DE7F-D5AA-4B6D-A34A-2B28C72ECBCE}"/>
              </a:ext>
            </a:extLst>
          </p:cNvPr>
          <p:cNvSpPr>
            <a:spLocks noGrp="1"/>
          </p:cNvSpPr>
          <p:nvPr/>
        </p:nvSpPr>
        <p:spPr>
          <a:xfrm>
            <a:off x="6793992" y="3593592"/>
            <a:ext cx="1636776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Epidemiologi Digital, Machine…</a:t>
            </a: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AE5FD935-AAE1-4895-B820-A040201E17D3}"/>
              </a:ext>
            </a:extLst>
          </p:cNvPr>
          <p:cNvSpPr>
            <a:spLocks noGrp="1"/>
          </p:cNvSpPr>
          <p:nvPr/>
        </p:nvSpPr>
        <p:spPr>
          <a:xfrm>
            <a:off x="8869680" y="3511296"/>
            <a:ext cx="1783080" cy="53035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22093043-65B6-4AB8-A856-A4D8E6FD883D}"/>
              </a:ext>
            </a:extLst>
          </p:cNvPr>
          <p:cNvSpPr>
            <a:spLocks noGrp="1"/>
          </p:cNvSpPr>
          <p:nvPr/>
        </p:nvSpPr>
        <p:spPr>
          <a:xfrm>
            <a:off x="8942832" y="3593592"/>
            <a:ext cx="1636776" cy="36576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95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UAS, Proposal Penelitian, Etika…</a:t>
            </a:r>
          </a:p>
        </p:txBody>
      </p:sp>
      <p:sp>
        <p:nvSpPr>
          <p:cNvPr id="47" name="Text 44">
            <a:extLst>
              <a:ext uri="{FF2B5EF4-FFF2-40B4-BE49-F238E27FC236}">
                <a16:creationId xmlns:a16="http://schemas.microsoft.com/office/drawing/2014/main" id="{09440E2F-DEAC-49B4-B441-9F302FF923A8}"/>
              </a:ext>
            </a:extLst>
          </p:cNvPr>
          <p:cNvSpPr>
            <a:spLocks noGrp="1"/>
          </p:cNvSpPr>
          <p:nvPr/>
        </p:nvSpPr>
        <p:spPr>
          <a:xfrm>
            <a:off x="1005840" y="5897880"/>
            <a:ext cx="10241280" cy="3200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280">
                <a:solidFill>
                  <a:srgbClr val="53657D"/>
                </a:solidFill>
                <a:latin typeface="Aptos"/>
                <a:ea typeface="Aptos"/>
                <a:cs typeface="Aptos"/>
              </a:rPr>
              <a:t>Rubrik proyek: relevansi 20%, metodologi 25%, evaluasi 20%, interpretasi 15%, reproducibility 10%, komunikasi 10%.</a:t>
            </a:r>
          </a:p>
        </p:txBody>
      </p:sp>
    </p:spTree>
    <p:extLst>
      <p:ext uri="{BB962C8B-B14F-4D97-AF65-F5344CB8AC3E}">
        <p14:creationId xmlns:p14="http://schemas.microsoft.com/office/powerpoint/2010/main" val="121907586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B36B88D1-0B26-4021-963F-A1E8C6105B3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7BD2B46C-C789-41FD-8087-6D977BD0829F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31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12CDB11B-9226-43AC-A584-B65F8E13F1B8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B74DF8AF-ECA6-466B-AB79-D194D78BA7D2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Matriks Pemilihan Metode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882E57B5-B8F6-4CB2-A4C0-6D6448BBDA07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Menautkan karakteristik masalah dengan pendekatan dan strategi evaluasi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B93F6A4A-9FC3-4C21-9496-767FCC16EB4F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68ABC00A-88A7-4835-A94E-D613E41D8361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7F2CD053-1A03-44BB-B1F4-B6D41B63FAF2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6B629536-3BB8-4FD2-A953-BCE3F4BABFA0}"/>
              </a:ext>
            </a:extLst>
          </p:cNvPr>
          <p:cNvSpPr>
            <a:spLocks noGrp="1"/>
          </p:cNvSpPr>
          <p:nvPr/>
        </p:nvSpPr>
        <p:spPr>
          <a:xfrm>
            <a:off x="713232" y="1975104"/>
            <a:ext cx="3063240" cy="71323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43E5DFFC-AA38-4B2F-8653-164EFD849F38}"/>
              </a:ext>
            </a:extLst>
          </p:cNvPr>
          <p:cNvSpPr>
            <a:spLocks noGrp="1"/>
          </p:cNvSpPr>
          <p:nvPr/>
        </p:nvSpPr>
        <p:spPr>
          <a:xfrm>
            <a:off x="786384" y="205740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Fondasi masalah</a:t>
            </a:r>
          </a:p>
          <a:p>
            <a:pPr marL="0" indent="0" algn="ctr">
              <a:buNone/>
            </a:pPr>
            <a:r>
              <a:rPr sz="104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Pendahuluan Epidemiologi…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3C8D03F3-E327-413F-9FDB-2D06BDB56899}"/>
              </a:ext>
            </a:extLst>
          </p:cNvPr>
          <p:cNvSpPr>
            <a:spLocks noGrp="1"/>
          </p:cNvSpPr>
          <p:nvPr/>
        </p:nvSpPr>
        <p:spPr>
          <a:xfrm>
            <a:off x="4416552" y="1975104"/>
            <a:ext cx="3063240" cy="71323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89B19B87-F8F9-4E0C-9B1B-C35C567032B6}"/>
              </a:ext>
            </a:extLst>
          </p:cNvPr>
          <p:cNvSpPr>
            <a:spLocks noGrp="1"/>
          </p:cNvSpPr>
          <p:nvPr/>
        </p:nvSpPr>
        <p:spPr>
          <a:xfrm>
            <a:off x="4489704" y="205740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Struktur data</a:t>
            </a:r>
          </a:p>
          <a:p>
            <a:pPr marL="0" indent="0" algn="ctr">
              <a:buNone/>
            </a:pPr>
            <a:r>
              <a:rPr sz="104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Proses Terjadinya…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21D7BC76-A84A-43C3-99EF-F26A46756465}"/>
              </a:ext>
            </a:extLst>
          </p:cNvPr>
          <p:cNvSpPr>
            <a:spLocks noGrp="1"/>
          </p:cNvSpPr>
          <p:nvPr/>
        </p:nvSpPr>
        <p:spPr>
          <a:xfrm>
            <a:off x="8119872" y="1975104"/>
            <a:ext cx="3063240" cy="71323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58D02B2-9F3D-4CF2-AD4E-B615EBEDDB6C}"/>
              </a:ext>
            </a:extLst>
          </p:cNvPr>
          <p:cNvSpPr>
            <a:spLocks noGrp="1"/>
          </p:cNvSpPr>
          <p:nvPr/>
        </p:nvSpPr>
        <p:spPr>
          <a:xfrm>
            <a:off x="8193024" y="205740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inti</a:t>
            </a:r>
          </a:p>
          <a:p>
            <a:pPr marL="0" indent="0" algn="ctr">
              <a:buNone/>
            </a:pPr>
            <a:r>
              <a:rPr sz="104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Metode Pengumpulan Data…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41102A6A-5BC5-4769-AFF9-28FC2C5D4D9A}"/>
              </a:ext>
            </a:extLst>
          </p:cNvPr>
          <p:cNvSpPr>
            <a:spLocks noGrp="1"/>
          </p:cNvSpPr>
          <p:nvPr/>
        </p:nvSpPr>
        <p:spPr>
          <a:xfrm>
            <a:off x="713232" y="3026664"/>
            <a:ext cx="3063240" cy="71323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784E6AC7-A1F9-4617-A100-8480A7EB7D29}"/>
              </a:ext>
            </a:extLst>
          </p:cNvPr>
          <p:cNvSpPr>
            <a:spLocks noGrp="1"/>
          </p:cNvSpPr>
          <p:nvPr/>
        </p:nvSpPr>
        <p:spPr>
          <a:xfrm>
            <a:off x="786384" y="310896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Evaluasi tengah</a:t>
            </a:r>
          </a:p>
          <a:p>
            <a:pPr marL="0" indent="0" algn="ctr">
              <a:buNone/>
            </a:pPr>
            <a:r>
              <a:rPr sz="104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UTS Berbasis Proyek…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EF118AB3-FAAA-4614-B4AC-703D6E6591B4}"/>
              </a:ext>
            </a:extLst>
          </p:cNvPr>
          <p:cNvSpPr>
            <a:spLocks noGrp="1"/>
          </p:cNvSpPr>
          <p:nvPr/>
        </p:nvSpPr>
        <p:spPr>
          <a:xfrm>
            <a:off x="4416552" y="3026664"/>
            <a:ext cx="3063240" cy="713232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0" name="Text 17">
            <a:extLst>
              <a:ext uri="{FF2B5EF4-FFF2-40B4-BE49-F238E27FC236}">
                <a16:creationId xmlns:a16="http://schemas.microsoft.com/office/drawing/2014/main" id="{ADDD9BE5-D9AE-4CB3-96C8-DBE901FAA4E3}"/>
              </a:ext>
            </a:extLst>
          </p:cNvPr>
          <p:cNvSpPr>
            <a:spLocks noGrp="1"/>
          </p:cNvSpPr>
          <p:nvPr/>
        </p:nvSpPr>
        <p:spPr>
          <a:xfrm>
            <a:off x="4489704" y="310896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Pemodelan lanjut</a:t>
            </a:r>
          </a:p>
          <a:p>
            <a:pPr marL="0" indent="0" algn="ctr">
              <a:buNone/>
            </a:pPr>
            <a:r>
              <a:rPr sz="104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Cleaning, Validasi, dan…</a:t>
            </a:r>
          </a:p>
        </p:txBody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61756880-82D0-45C5-91EE-0D562DC89817}"/>
              </a:ext>
            </a:extLst>
          </p:cNvPr>
          <p:cNvSpPr>
            <a:spLocks noGrp="1"/>
          </p:cNvSpPr>
          <p:nvPr/>
        </p:nvSpPr>
        <p:spPr>
          <a:xfrm>
            <a:off x="8119872" y="3026664"/>
            <a:ext cx="3063240" cy="713232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9AB16C6E-1472-46D7-94BD-C0940B94090B}"/>
              </a:ext>
            </a:extLst>
          </p:cNvPr>
          <p:cNvSpPr>
            <a:spLocks noGrp="1"/>
          </p:cNvSpPr>
          <p:nvPr/>
        </p:nvSpPr>
        <p:spPr>
          <a:xfrm>
            <a:off x="8193024" y="3108960"/>
            <a:ext cx="2916936" cy="548640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/>
          </a:bodyPr>
          <a:lstStyle/>
          <a:p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Integrasi &amp; proyek</a:t>
            </a:r>
          </a:p>
          <a:p>
            <a:pPr marL="0" indent="0" algn="ctr">
              <a:buNone/>
            </a:pPr>
            <a:r>
              <a:rPr sz="104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Epidemiologi Digital…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8E2FBA39-24AB-45FD-8B74-6BFDDAA6E475}"/>
              </a:ext>
            </a:extLst>
          </p:cNvPr>
          <p:cNvSpPr>
            <a:spLocks noGrp="1"/>
          </p:cNvSpPr>
          <p:nvPr/>
        </p:nvSpPr>
        <p:spPr>
          <a:xfrm>
            <a:off x="1005840" y="4572000"/>
            <a:ext cx="448056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21B3BF64-4CFE-4F09-9BCC-0560F0D8AC3D}"/>
              </a:ext>
            </a:extLst>
          </p:cNvPr>
          <p:cNvSpPr>
            <a:spLocks noGrp="1"/>
          </p:cNvSpPr>
          <p:nvPr/>
        </p:nvSpPr>
        <p:spPr>
          <a:xfrm>
            <a:off x="1143000" y="4690872"/>
            <a:ext cx="4206240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8708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Pilihan metode = tujuan + struktur data + asumsi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D9CD2F70-53F3-4E13-9355-4185E6654BBD}"/>
              </a:ext>
            </a:extLst>
          </p:cNvPr>
          <p:cNvSpPr>
            <a:spLocks noGrp="1"/>
          </p:cNvSpPr>
          <p:nvPr/>
        </p:nvSpPr>
        <p:spPr>
          <a:xfrm>
            <a:off x="6492240" y="4572000"/>
            <a:ext cx="4480560" cy="594360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B9CBD2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6" name="Text 23">
            <a:extLst>
              <a:ext uri="{FF2B5EF4-FFF2-40B4-BE49-F238E27FC236}">
                <a16:creationId xmlns:a16="http://schemas.microsoft.com/office/drawing/2014/main" id="{C75D38D1-1469-4455-8CCA-5D23EDEC8D02}"/>
              </a:ext>
            </a:extLst>
          </p:cNvPr>
          <p:cNvSpPr>
            <a:spLocks noGrp="1"/>
          </p:cNvSpPr>
          <p:nvPr/>
        </p:nvSpPr>
        <p:spPr>
          <a:xfrm>
            <a:off x="6629400" y="4690872"/>
            <a:ext cx="4206240" cy="374904"/>
          </a:xfrm>
          <a:prstGeom prst="rect">
            <a:avLst/>
          </a:prstGeom>
          <a:noFill/>
        </p:spPr>
        <p:txBody>
          <a:bodyPr wrap="square" lIns="635" tIns="635" rIns="635" bIns="635" anchor="ctr">
            <a:normAutofit fontScale="92294"/>
          </a:bodyPr>
          <a:lstStyle/>
          <a:p>
            <a:pPr marL="0" indent="0" algn="ctr">
              <a:buNone/>
            </a:pPr>
            <a:r>
              <a:rPr sz="145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Keputusan model = validasi + interpretasi + dampak</a:t>
            </a:r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5B699F67-F68D-47A1-BDB2-DCB0BC0AF174}"/>
              </a:ext>
            </a:extLst>
          </p:cNvPr>
          <p:cNvSpPr>
            <a:spLocks noGrp="1"/>
          </p:cNvSpPr>
          <p:nvPr/>
        </p:nvSpPr>
        <p:spPr>
          <a:xfrm>
            <a:off x="1005840" y="5532120"/>
            <a:ext cx="10149840" cy="34747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13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Metode terbaik adalah metode yang menjawab masalah secara sahih, transparan, stabil, dan proporsional.</a:t>
            </a:r>
          </a:p>
        </p:txBody>
      </p:sp>
    </p:spTree>
    <p:extLst>
      <p:ext uri="{BB962C8B-B14F-4D97-AF65-F5344CB8AC3E}">
        <p14:creationId xmlns:p14="http://schemas.microsoft.com/office/powerpoint/2010/main" val="13640429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95542E7-867C-4213-BEBB-5BA086F3D7A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1BA8F0C9-3A49-4006-8BF2-B1084E3DBB23}"/>
              </a:ext>
            </a:extLst>
          </p:cNvPr>
          <p:cNvSpPr>
            <a:spLocks noGrp="1"/>
          </p:cNvSpPr>
          <p:nvPr/>
        </p:nvSpPr>
        <p:spPr>
          <a:xfrm>
            <a:off x="0" y="201168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40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93192"/>
            <a:ext cx="438912" cy="438912"/>
          </a:xfrm>
          <a:prstGeom prst="rect">
            <a:avLst/>
          </a:prstGeom>
        </p:spPr>
      </p:pic>
      <p:sp>
        <p:nvSpPr>
          <p:cNvPr id="5" name="Text 2">
            <a:extLst>
              <a:ext uri="{FF2B5EF4-FFF2-40B4-BE49-F238E27FC236}">
                <a16:creationId xmlns:a16="http://schemas.microsoft.com/office/drawing/2014/main" id="{484CCED3-DC0D-49C7-A728-39D3840493DC}"/>
              </a:ext>
            </a:extLst>
          </p:cNvPr>
          <p:cNvSpPr>
            <a:spLocks noGrp="1"/>
          </p:cNvSpPr>
          <p:nvPr/>
        </p:nvSpPr>
        <p:spPr>
          <a:xfrm>
            <a:off x="914400" y="429768"/>
            <a:ext cx="6949440" cy="2286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850" b="1">
                <a:solidFill>
                  <a:srgbClr val="53657D"/>
                </a:solidFill>
                <a:latin typeface="Aptos"/>
                <a:ea typeface="Aptos"/>
                <a:cs typeface="Aptos"/>
              </a:rPr>
              <a:t>S2 Statistika Terapan | FMIPA Universitas Padjadjaran</a:t>
            </a:r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5DAD03D7-B987-46DB-858A-D8F3A5D6CABA}"/>
              </a:ext>
            </a:extLst>
          </p:cNvPr>
          <p:cNvSpPr>
            <a:spLocks noGrp="1"/>
          </p:cNvSpPr>
          <p:nvPr/>
        </p:nvSpPr>
        <p:spPr>
          <a:xfrm>
            <a:off x="502920" y="868680"/>
            <a:ext cx="9372600" cy="457200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2500" b="1">
                <a:solidFill>
                  <a:srgbClr val="12355B"/>
                </a:solidFill>
                <a:latin typeface="Aptos Display"/>
                <a:ea typeface="Aptos Display"/>
                <a:cs typeface="Aptos Display"/>
              </a:rPr>
              <a:t>Pertanyaan Diskusi Kelas</a:t>
            </a:r>
          </a:p>
        </p:txBody>
      </p:sp>
      <p:sp>
        <p:nvSpPr>
          <p:cNvPr id="7" name="Text 4">
            <a:extLst>
              <a:ext uri="{FF2B5EF4-FFF2-40B4-BE49-F238E27FC236}">
                <a16:creationId xmlns:a16="http://schemas.microsoft.com/office/drawing/2014/main" id="{799AB669-9438-4142-8723-74A94DF59335}"/>
              </a:ext>
            </a:extLst>
          </p:cNvPr>
          <p:cNvSpPr>
            <a:spLocks noGrp="1"/>
          </p:cNvSpPr>
          <p:nvPr/>
        </p:nvSpPr>
        <p:spPr>
          <a:xfrm>
            <a:off x="512064" y="1325880"/>
            <a:ext cx="8961120" cy="25603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1050">
                <a:solidFill>
                  <a:srgbClr val="53657D"/>
                </a:solidFill>
                <a:latin typeface="Aptos"/>
                <a:ea typeface="Aptos"/>
                <a:cs typeface="Aptos"/>
              </a:rPr>
              <a:t>Menguji penalaran mahasiswa terhadap asumsi, data, model, validasi, dan dampak</a:t>
            </a:r>
          </a:p>
        </p:txBody>
      </p:sp>
      <p:sp>
        <p:nvSpPr>
          <p:cNvPr id="8" name="Shape 5">
            <a:extLst>
              <a:ext uri="{FF2B5EF4-FFF2-40B4-BE49-F238E27FC236}">
                <a16:creationId xmlns:a16="http://schemas.microsoft.com/office/drawing/2014/main" id="{3AAB5AAF-3882-4A61-AC6A-7FC8D013DA19}"/>
              </a:ext>
            </a:extLst>
          </p:cNvPr>
          <p:cNvSpPr>
            <a:spLocks noGrp="1"/>
          </p:cNvSpPr>
          <p:nvPr/>
        </p:nvSpPr>
        <p:spPr>
          <a:xfrm>
            <a:off x="502920" y="1682496"/>
            <a:ext cx="11183112" cy="0"/>
          </a:xfrm>
          <a:prstGeom prst="line">
            <a:avLst/>
          </a:prstGeom>
          <a:noFill/>
          <a:ln w="12700">
            <a:solidFill>
              <a:srgbClr val="D6E4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4B489B14-C9C3-4956-9D3C-CF08794684D2}"/>
              </a:ext>
            </a:extLst>
          </p:cNvPr>
          <p:cNvSpPr>
            <a:spLocks noGrp="1"/>
          </p:cNvSpPr>
          <p:nvPr/>
        </p:nvSpPr>
        <p:spPr>
          <a:xfrm>
            <a:off x="11027664" y="6327648"/>
            <a:ext cx="548640" cy="219456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53657D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1F3C5FC4-220C-4F11-BF71-4FAAC36D9351}"/>
              </a:ext>
            </a:extLst>
          </p:cNvPr>
          <p:cNvSpPr>
            <a:spLocks noGrp="1"/>
          </p:cNvSpPr>
          <p:nvPr/>
        </p:nvSpPr>
        <p:spPr>
          <a:xfrm>
            <a:off x="512064" y="6419088"/>
            <a:ext cx="6217920" cy="210312"/>
          </a:xfrm>
          <a:prstGeom prst="rect">
            <a:avLst/>
          </a:prstGeom>
          <a:noFill/>
        </p:spPr>
        <p:txBody>
          <a:bodyPr wrap="square" lIns="0" tIns="0" rIns="0" bIns="0" anchor="t">
            <a:normAutofit/>
          </a:bodyPr>
          <a:lstStyle/>
          <a:p>
            <a:pPr marL="0" indent="0" algn="l">
              <a:buNone/>
            </a:pPr>
            <a:r>
              <a:rPr sz="720">
                <a:solidFill>
                  <a:srgbClr val="7B8794"/>
                </a:solidFill>
                <a:latin typeface="Aptos"/>
                <a:ea typeface="Aptos"/>
                <a:cs typeface="Aptos"/>
              </a:rPr>
              <a:t>Materi Epidemiologi | Sumber HTML</a:t>
            </a:r>
          </a:p>
        </p:txBody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BB5418D1-58F1-4D54-85CC-9222A7B043AC}"/>
              </a:ext>
            </a:extLst>
          </p:cNvPr>
          <p:cNvSpPr>
            <a:spLocks noGrp="1"/>
          </p:cNvSpPr>
          <p:nvPr/>
        </p:nvSpPr>
        <p:spPr>
          <a:xfrm>
            <a:off x="640080" y="1920240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16221C98-B116-49A2-A9F0-5B9251571C2C}"/>
              </a:ext>
            </a:extLst>
          </p:cNvPr>
          <p:cNvSpPr>
            <a:spLocks noGrp="1"/>
          </p:cNvSpPr>
          <p:nvPr/>
        </p:nvSpPr>
        <p:spPr>
          <a:xfrm>
            <a:off x="777240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2364AA"/>
                </a:solidFill>
                <a:latin typeface="Aptos"/>
                <a:ea typeface="Aptos"/>
                <a:cs typeface="Aptos"/>
              </a:rPr>
              <a:t>Q1 · Asumsi apa yang</a:t>
            </a:r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5C5CA4C6-2E09-47DA-A244-29071FEFC66C}"/>
              </a:ext>
            </a:extLst>
          </p:cNvPr>
          <p:cNvSpPr>
            <a:spLocks noGrp="1"/>
          </p:cNvSpPr>
          <p:nvPr/>
        </p:nvSpPr>
        <p:spPr>
          <a:xfrm>
            <a:off x="777240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 krusial…</a:t>
            </a:r>
          </a:p>
        </p:txBody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DC1EA41D-4122-47A8-A7D7-CE29037B3452}"/>
              </a:ext>
            </a:extLst>
          </p:cNvPr>
          <p:cNvSpPr>
            <a:spLocks noGrp="1"/>
          </p:cNvSpPr>
          <p:nvPr/>
        </p:nvSpPr>
        <p:spPr>
          <a:xfrm>
            <a:off x="3456432" y="1920240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649AFCF-18F6-4319-970F-18D497AEE39B}"/>
              </a:ext>
            </a:extLst>
          </p:cNvPr>
          <p:cNvSpPr>
            <a:spLocks noGrp="1"/>
          </p:cNvSpPr>
          <p:nvPr/>
        </p:nvSpPr>
        <p:spPr>
          <a:xfrm>
            <a:off x="3593592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1B998B"/>
                </a:solidFill>
                <a:latin typeface="Aptos"/>
                <a:ea typeface="Aptos"/>
                <a:cs typeface="Aptos"/>
              </a:rPr>
              <a:t>Q2 · Bagaimana…</a:t>
            </a:r>
          </a:p>
        </p:txBody>
      </p:sp>
      <p:sp>
        <p:nvSpPr>
          <p:cNvPr id="16" name="Text 13">
            <a:extLst>
              <a:ext uri="{FF2B5EF4-FFF2-40B4-BE49-F238E27FC236}">
                <a16:creationId xmlns:a16="http://schemas.microsoft.com/office/drawing/2014/main" id="{0EEF2788-C5CE-446A-AEA8-929E2B07A34B}"/>
              </a:ext>
            </a:extLst>
          </p:cNvPr>
          <p:cNvSpPr>
            <a:spLocks noGrp="1"/>
          </p:cNvSpPr>
          <p:nvPr/>
        </p:nvSpPr>
        <p:spPr>
          <a:xfrm>
            <a:off x="3593592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memilih antara jenis…</a:t>
            </a:r>
          </a:p>
        </p:txBody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F2629AC7-F592-4A74-8221-FD9A1E452AF2}"/>
              </a:ext>
            </a:extLst>
          </p:cNvPr>
          <p:cNvSpPr>
            <a:spLocks noGrp="1"/>
          </p:cNvSpPr>
          <p:nvPr/>
        </p:nvSpPr>
        <p:spPr>
          <a:xfrm>
            <a:off x="6272784" y="1920240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484535E1-E3C8-4D17-A4F7-1014D2747CF3}"/>
              </a:ext>
            </a:extLst>
          </p:cNvPr>
          <p:cNvSpPr>
            <a:spLocks noGrp="1"/>
          </p:cNvSpPr>
          <p:nvPr/>
        </p:nvSpPr>
        <p:spPr>
          <a:xfrm>
            <a:off x="6409944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F58220"/>
                </a:solidFill>
                <a:latin typeface="Aptos"/>
                <a:ea typeface="Aptos"/>
                <a:cs typeface="Aptos"/>
              </a:rPr>
              <a:t>Q3 · Kapan hasil…</a:t>
            </a:r>
          </a:p>
        </p:txBody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C962EAA8-B632-4318-A7A8-15C8D402450E}"/>
              </a:ext>
            </a:extLst>
          </p:cNvPr>
          <p:cNvSpPr>
            <a:spLocks noGrp="1"/>
          </p:cNvSpPr>
          <p:nvPr/>
        </p:nvSpPr>
        <p:spPr>
          <a:xfrm>
            <a:off x="6409944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Kapan hasil model dianggap…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CEAC735A-782C-4404-B269-D07C3C958951}"/>
              </a:ext>
            </a:extLst>
          </p:cNvPr>
          <p:cNvSpPr>
            <a:spLocks noGrp="1"/>
          </p:cNvSpPr>
          <p:nvPr/>
        </p:nvSpPr>
        <p:spPr>
          <a:xfrm>
            <a:off x="9089136" y="1920240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CBD23621-07FF-4B5B-B95A-D11099CCD02C}"/>
              </a:ext>
            </a:extLst>
          </p:cNvPr>
          <p:cNvSpPr>
            <a:spLocks noGrp="1"/>
          </p:cNvSpPr>
          <p:nvPr/>
        </p:nvSpPr>
        <p:spPr>
          <a:xfrm>
            <a:off x="9226296" y="2066544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006B3F"/>
                </a:solidFill>
                <a:latin typeface="Aptos"/>
                <a:ea typeface="Aptos"/>
                <a:cs typeface="Aptos"/>
              </a:rPr>
              <a:t>Q4 · Bagaimana…</a:t>
            </a:r>
          </a:p>
        </p:txBody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0F7FA5B1-4F35-4683-AE9B-C33A41FA4576}"/>
              </a:ext>
            </a:extLst>
          </p:cNvPr>
          <p:cNvSpPr>
            <a:spLocks noGrp="1"/>
          </p:cNvSpPr>
          <p:nvPr/>
        </p:nvSpPr>
        <p:spPr>
          <a:xfrm>
            <a:off x="9226296" y="2313432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mendeteksi bias…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8C22BF7-B1A2-4CDB-8DCD-9057D0E3DCFA}"/>
              </a:ext>
            </a:extLst>
          </p:cNvPr>
          <p:cNvSpPr>
            <a:spLocks noGrp="1"/>
          </p:cNvSpPr>
          <p:nvPr/>
        </p:nvSpPr>
        <p:spPr>
          <a:xfrm>
            <a:off x="640080" y="2944368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5A1B5D56-487E-45DC-BC86-A476CEC3D0BE}"/>
              </a:ext>
            </a:extLst>
          </p:cNvPr>
          <p:cNvSpPr>
            <a:spLocks noGrp="1"/>
          </p:cNvSpPr>
          <p:nvPr/>
        </p:nvSpPr>
        <p:spPr>
          <a:xfrm>
            <a:off x="777240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C8452D"/>
                </a:solidFill>
                <a:latin typeface="Aptos"/>
                <a:ea typeface="Aptos"/>
                <a:cs typeface="Aptos"/>
              </a:rPr>
              <a:t>Q5 · Bagaimana…</a:t>
            </a:r>
          </a:p>
        </p:txBody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81BCCE8F-40D6-4260-B0E7-D74AB2632050}"/>
              </a:ext>
            </a:extLst>
          </p:cNvPr>
          <p:cNvSpPr>
            <a:spLocks noGrp="1"/>
          </p:cNvSpPr>
          <p:nvPr/>
        </p:nvSpPr>
        <p:spPr>
          <a:xfrm>
            <a:off x="777240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menyampaikan…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233A8E5D-6B1E-476B-8E2E-A303D6AEFB1A}"/>
              </a:ext>
            </a:extLst>
          </p:cNvPr>
          <p:cNvSpPr>
            <a:spLocks noGrp="1"/>
          </p:cNvSpPr>
          <p:nvPr/>
        </p:nvSpPr>
        <p:spPr>
          <a:xfrm>
            <a:off x="3456432" y="2944368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7D7EC37B-F76D-4715-889D-07BD90C95BAD}"/>
              </a:ext>
            </a:extLst>
          </p:cNvPr>
          <p:cNvSpPr>
            <a:spLocks noGrp="1"/>
          </p:cNvSpPr>
          <p:nvPr/>
        </p:nvSpPr>
        <p:spPr>
          <a:xfrm>
            <a:off x="3593592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5B5FC7"/>
                </a:solidFill>
                <a:latin typeface="Aptos"/>
                <a:ea typeface="Aptos"/>
                <a:cs typeface="Aptos"/>
              </a:rPr>
              <a:t>Q6 · Apa risiko bias</a:t>
            </a: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92D28222-7980-497C-B0DB-5FE19DCA79B9}"/>
              </a:ext>
            </a:extLst>
          </p:cNvPr>
          <p:cNvSpPr>
            <a:spLocks noGrp="1"/>
          </p:cNvSpPr>
          <p:nvPr/>
        </p:nvSpPr>
        <p:spPr>
          <a:xfrm>
            <a:off x="3593592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Apa risiko bias dan kegagalan…</a:t>
            </a:r>
          </a:p>
        </p:txBody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AEB32176-E709-4193-A0FA-3B07B15AD5E9}"/>
              </a:ext>
            </a:extLst>
          </p:cNvPr>
          <p:cNvSpPr>
            <a:spLocks noGrp="1"/>
          </p:cNvSpPr>
          <p:nvPr/>
        </p:nvSpPr>
        <p:spPr>
          <a:xfrm>
            <a:off x="6272784" y="2944368"/>
            <a:ext cx="2423160" cy="749808"/>
          </a:xfrm>
          <a:prstGeom prst="roundRect">
            <a:avLst/>
          </a:prstGeom>
          <a:solidFill>
            <a:srgbClr val="FFF4E8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EC37051-DA01-448C-8D2E-9B7185E3EF9A}"/>
              </a:ext>
            </a:extLst>
          </p:cNvPr>
          <p:cNvSpPr>
            <a:spLocks noGrp="1"/>
          </p:cNvSpPr>
          <p:nvPr/>
        </p:nvSpPr>
        <p:spPr>
          <a:xfrm>
            <a:off x="6409944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12355B"/>
                </a:solidFill>
                <a:latin typeface="Aptos"/>
                <a:ea typeface="Aptos"/>
                <a:cs typeface="Aptos"/>
              </a:rPr>
              <a:t>Q7 · Asumsi apa yang</a:t>
            </a:r>
          </a:p>
        </p:txBody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985BA261-B353-4137-B60B-EDDBC4B19C06}"/>
              </a:ext>
            </a:extLst>
          </p:cNvPr>
          <p:cNvSpPr>
            <a:spLocks noGrp="1"/>
          </p:cNvSpPr>
          <p:nvPr/>
        </p:nvSpPr>
        <p:spPr>
          <a:xfrm>
            <a:off x="6409944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Asumsi apa yang paling…</a:t>
            </a: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E03FEF1B-86CA-44E7-9574-B731AC80C90D}"/>
              </a:ext>
            </a:extLst>
          </p:cNvPr>
          <p:cNvSpPr>
            <a:spLocks noGrp="1"/>
          </p:cNvSpPr>
          <p:nvPr/>
        </p:nvSpPr>
        <p:spPr>
          <a:xfrm>
            <a:off x="9089136" y="2944368"/>
            <a:ext cx="2423160" cy="749808"/>
          </a:xfrm>
          <a:prstGeom prst="roundRect">
            <a:avLst/>
          </a:prstGeom>
          <a:solidFill>
            <a:srgbClr val="EEF5F6"/>
          </a:solidFill>
          <a:ln w="12700">
            <a:solidFill>
              <a:srgbClr val="D7E2EA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6646FD66-397F-443D-856C-DB32A6BA804B}"/>
              </a:ext>
            </a:extLst>
          </p:cNvPr>
          <p:cNvSpPr>
            <a:spLocks noGrp="1"/>
          </p:cNvSpPr>
          <p:nvPr/>
        </p:nvSpPr>
        <p:spPr>
          <a:xfrm>
            <a:off x="9226296" y="3090672"/>
            <a:ext cx="2148840" cy="16459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0819"/>
          </a:bodyPr>
          <a:lstStyle/>
          <a:p>
            <a:pPr marL="0" indent="0" algn="ctr">
              <a:buNone/>
            </a:pPr>
            <a:r>
              <a:rPr sz="1180" b="1">
                <a:solidFill>
                  <a:srgbClr val="F8C537"/>
                </a:solidFill>
                <a:latin typeface="Aptos"/>
                <a:ea typeface="Aptos"/>
                <a:cs typeface="Aptos"/>
              </a:rPr>
              <a:t>Q8 · Bagaimana…</a:t>
            </a:r>
          </a:p>
        </p:txBody>
      </p:sp>
      <p:sp>
        <p:nvSpPr>
          <p:cNvPr id="34" name="Text 31">
            <a:extLst>
              <a:ext uri="{FF2B5EF4-FFF2-40B4-BE49-F238E27FC236}">
                <a16:creationId xmlns:a16="http://schemas.microsoft.com/office/drawing/2014/main" id="{AB678D02-16D9-4C76-803C-CD18C77DAD83}"/>
              </a:ext>
            </a:extLst>
          </p:cNvPr>
          <p:cNvSpPr>
            <a:spLocks noGrp="1"/>
          </p:cNvSpPr>
          <p:nvPr/>
        </p:nvSpPr>
        <p:spPr>
          <a:xfrm>
            <a:off x="9226296" y="3337560"/>
            <a:ext cx="2148840" cy="15544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ctr">
              <a:buNone/>
            </a:pPr>
            <a:r>
              <a:rPr sz="890">
                <a:solidFill>
                  <a:srgbClr val="1B263B"/>
                </a:solidFill>
                <a:latin typeface="Aptos"/>
                <a:ea typeface="Aptos"/>
                <a:cs typeface="Aptos"/>
              </a:rPr>
              <a:t>Bagaimana membandingkan dua…</a:t>
            </a:r>
          </a:p>
        </p:txBody>
      </p:sp>
      <p:sp>
        <p:nvSpPr>
          <p:cNvPr id="35" name="Shape 32">
            <a:extLst>
              <a:ext uri="{FF2B5EF4-FFF2-40B4-BE49-F238E27FC236}">
                <a16:creationId xmlns:a16="http://schemas.microsoft.com/office/drawing/2014/main" id="{480577D5-1941-4CE0-B4D3-361415E3DF99}"/>
              </a:ext>
            </a:extLst>
          </p:cNvPr>
          <p:cNvSpPr>
            <a:spLocks noGrp="1"/>
          </p:cNvSpPr>
          <p:nvPr/>
        </p:nvSpPr>
        <p:spPr>
          <a:xfrm>
            <a:off x="1051560" y="4754880"/>
            <a:ext cx="9921240" cy="786384"/>
          </a:xfrm>
          <a:prstGeom prst="roundRect">
            <a:avLst/>
          </a:prstGeom>
          <a:solidFill>
            <a:srgbClr val="0B1F36"/>
          </a:solidFill>
          <a:ln w="12700">
            <a:solidFill>
              <a:srgbClr val="0B1F36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36" name="Text 33">
            <a:extLst>
              <a:ext uri="{FF2B5EF4-FFF2-40B4-BE49-F238E27FC236}">
                <a16:creationId xmlns:a16="http://schemas.microsoft.com/office/drawing/2014/main" id="{3A9DEDA7-AC66-45EF-AE44-66FBF313DDEB}"/>
              </a:ext>
            </a:extLst>
          </p:cNvPr>
          <p:cNvSpPr>
            <a:spLocks noGrp="1"/>
          </p:cNvSpPr>
          <p:nvPr/>
        </p:nvSpPr>
        <p:spPr>
          <a:xfrm>
            <a:off x="1371600" y="5029200"/>
            <a:ext cx="9281160" cy="292608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 fontScale="92802"/>
          </a:bodyPr>
          <a:lstStyle/>
          <a:p>
            <a:pPr marL="0" indent="0" algn="ctr">
              <a:buNone/>
            </a:pPr>
            <a:r>
              <a:rPr sz="138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Diskusi kuat = asumsi eksplisit → bukti relevan → perbandingan adil → keterbatasan jujur → rekomendasi proporsional.</a:t>
            </a:r>
          </a:p>
        </p:txBody>
      </p:sp>
    </p:spTree>
    <p:extLst>
      <p:ext uri="{BB962C8B-B14F-4D97-AF65-F5344CB8AC3E}">
        <p14:creationId xmlns:p14="http://schemas.microsoft.com/office/powerpoint/2010/main" val="80065788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7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6FC45BF7-19EF-4C6A-B5F8-5CE4FF206E3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>
              <a:alpha val="36000"/>
            </a:srgbClr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4" name="Shape 1">
            <a:extLst>
              <a:ext uri="{FF2B5EF4-FFF2-40B4-BE49-F238E27FC236}">
                <a16:creationId xmlns:a16="http://schemas.microsoft.com/office/drawing/2014/main" id="{790578D3-3870-442C-9FE1-5C0301CD855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5822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5" name="Shape 2">
            <a:extLst>
              <a:ext uri="{FF2B5EF4-FFF2-40B4-BE49-F238E27FC236}">
                <a16:creationId xmlns:a16="http://schemas.microsoft.com/office/drawing/2014/main" id="{9E676937-F275-4418-A394-523D8069D832}"/>
              </a:ext>
            </a:extLst>
          </p:cNvPr>
          <p:cNvSpPr>
            <a:spLocks noGrp="1"/>
          </p:cNvSpPr>
          <p:nvPr/>
        </p:nvSpPr>
        <p:spPr>
          <a:xfrm>
            <a:off x="0" y="256032"/>
            <a:ext cx="12191695" cy="73152"/>
          </a:xfrm>
          <a:prstGeom prst="rect">
            <a:avLst/>
          </a:prstGeom>
          <a:solidFill>
            <a:srgbClr val="1B998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1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658368"/>
            <a:ext cx="694944" cy="694944"/>
          </a:xfrm>
          <a:prstGeom prst="rect">
            <a:avLst/>
          </a:prstGeom>
        </p:spPr>
      </p:pic>
      <p:sp>
        <p:nvSpPr>
          <p:cNvPr id="7" name="Text 3">
            <a:extLst>
              <a:ext uri="{FF2B5EF4-FFF2-40B4-BE49-F238E27FC236}">
                <a16:creationId xmlns:a16="http://schemas.microsoft.com/office/drawing/2014/main" id="{48DBB001-47A9-4DA0-95C1-E4ABA958D144}"/>
              </a:ext>
            </a:extLst>
          </p:cNvPr>
          <p:cNvSpPr>
            <a:spLocks noGrp="1"/>
          </p:cNvSpPr>
          <p:nvPr/>
        </p:nvSpPr>
        <p:spPr>
          <a:xfrm>
            <a:off x="1463040" y="850392"/>
            <a:ext cx="4389120" cy="256032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200" b="1">
                <a:solidFill>
                  <a:srgbClr val="DCECF3"/>
                </a:solidFill>
                <a:latin typeface="Aptos"/>
                <a:ea typeface="Aptos"/>
                <a:cs typeface="Aptos"/>
              </a:rPr>
              <a:t>Epidemiologi</a:t>
            </a:r>
          </a:p>
        </p:txBody>
      </p:sp>
      <p:sp>
        <p:nvSpPr>
          <p:cNvPr id="8" name="Text 4">
            <a:extLst>
              <a:ext uri="{FF2B5EF4-FFF2-40B4-BE49-F238E27FC236}">
                <a16:creationId xmlns:a16="http://schemas.microsoft.com/office/drawing/2014/main" id="{ABC4EEE9-D41F-4061-879D-9838FB37468C}"/>
              </a:ext>
            </a:extLst>
          </p:cNvPr>
          <p:cNvSpPr>
            <a:spLocks noGrp="1"/>
          </p:cNvSpPr>
          <p:nvPr/>
        </p:nvSpPr>
        <p:spPr>
          <a:xfrm>
            <a:off x="713232" y="2057400"/>
            <a:ext cx="6766560" cy="123444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Dari data menuju</a:t>
            </a:r>
          </a:p>
          <a:p>
            <a:pPr marL="0" indent="0" algn="l">
              <a:buNone/>
            </a:pPr>
            <a:r>
              <a:rPr sz="3800" b="1">
                <a:solidFill>
                  <a:srgbClr val="FFFFFF"/>
                </a:solidFill>
                <a:latin typeface="Aptos Display"/>
                <a:ea typeface="Aptos Display"/>
                <a:cs typeface="Aptos Display"/>
              </a:rPr>
              <a:t>keputusan yang dapat diuji</a:t>
            </a:r>
          </a:p>
        </p:txBody>
      </p:sp>
      <p:sp>
        <p:nvSpPr>
          <p:cNvPr id="9" name="Shape 5">
            <a:extLst>
              <a:ext uri="{FF2B5EF4-FFF2-40B4-BE49-F238E27FC236}">
                <a16:creationId xmlns:a16="http://schemas.microsoft.com/office/drawing/2014/main" id="{72FB0791-7395-4489-9311-6079AA343853}"/>
              </a:ext>
            </a:extLst>
          </p:cNvPr>
          <p:cNvSpPr>
            <a:spLocks noGrp="1"/>
          </p:cNvSpPr>
          <p:nvPr/>
        </p:nvSpPr>
        <p:spPr>
          <a:xfrm>
            <a:off x="749808" y="3547872"/>
            <a:ext cx="3044952" cy="0"/>
          </a:xfrm>
          <a:prstGeom prst="line">
            <a:avLst/>
          </a:prstGeom>
          <a:noFill/>
          <a:ln w="63500">
            <a:solidFill>
              <a:srgbClr val="F58220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0" name="Text 6">
            <a:extLst>
              <a:ext uri="{FF2B5EF4-FFF2-40B4-BE49-F238E27FC236}">
                <a16:creationId xmlns:a16="http://schemas.microsoft.com/office/drawing/2014/main" id="{46FFFF1D-C58B-464C-9FCC-3692327480EE}"/>
              </a:ext>
            </a:extLst>
          </p:cNvPr>
          <p:cNvSpPr>
            <a:spLocks noGrp="1"/>
          </p:cNvSpPr>
          <p:nvPr/>
        </p:nvSpPr>
        <p:spPr>
          <a:xfrm>
            <a:off x="758952" y="4069080"/>
            <a:ext cx="6492240" cy="91440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l">
              <a:buNone/>
            </a:pPr>
            <a:r>
              <a:rPr sz="1600">
                <a:solidFill>
                  <a:srgbClr val="E8F1F2"/>
                </a:solidFill>
                <a:latin typeface="Aptos"/>
                <a:ea typeface="Aptos"/>
                <a:cs typeface="Aptos"/>
              </a:rPr>
              <a:t>Epidemiologi menghubungkan teori, data, metode, validasi, dan komunikasi untuk menghasilkan keputusan yang sahih, dapat direplikasi, dan bertanggung jawab.</a:t>
            </a:r>
          </a:p>
        </p:txBody>
      </p:sp>
      <p:sp>
        <p:nvSpPr>
          <p:cNvPr id="11" name="Text 7">
            <a:extLst>
              <a:ext uri="{FF2B5EF4-FFF2-40B4-BE49-F238E27FC236}">
                <a16:creationId xmlns:a16="http://schemas.microsoft.com/office/drawing/2014/main" id="{80DB6A87-009C-4BA2-92BC-343082525B99}"/>
              </a:ext>
            </a:extLst>
          </p:cNvPr>
          <p:cNvSpPr>
            <a:spLocks noGrp="1"/>
          </p:cNvSpPr>
          <p:nvPr/>
        </p:nvSpPr>
        <p:spPr>
          <a:xfrm>
            <a:off x="11064240" y="6355080"/>
            <a:ext cx="548640" cy="182880"/>
          </a:xfrm>
          <a:prstGeom prst="rect">
            <a:avLst/>
          </a:prstGeom>
          <a:noFill/>
        </p:spPr>
        <p:txBody>
          <a:bodyPr wrap="square" lIns="635" tIns="635" rIns="635" bIns="635" anchor="t">
            <a:normAutofit/>
          </a:bodyPr>
          <a:lstStyle/>
          <a:p>
            <a:pPr marL="0" indent="0" algn="r">
              <a:buNone/>
            </a:pPr>
            <a:r>
              <a:rPr sz="800">
                <a:solidFill>
                  <a:srgbClr val="D6E4EA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1804101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1680</Words>
  <Application>Microsoft Macintosh PowerPoint</Application>
  <DocSecurity>0</DocSecurity>
  <PresentationFormat>Widescreen</PresentationFormat>
  <Paragraphs>341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Aptos</vt:lpstr>
      <vt:lpstr>Aptos Display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Mindra</cp:lastModifiedBy>
  <cp:revision>1</cp:revision>
  <dcterms:created xsi:type="dcterms:W3CDTF">2026-06-22T07:44:59Z</dcterms:created>
  <dcterms:modified xsi:type="dcterms:W3CDTF">2026-06-22T12:35:12Z</dcterms:modified>
</cp:coreProperties>
</file>